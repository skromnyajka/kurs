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7" r:id="rId20"/>
    <p:sldId id="278" r:id="rId21"/>
    <p:sldId id="279" r:id="rId22"/>
    <p:sldId id="280" r:id="rId23"/>
  </p:sldIdLst>
  <p:sldSz cx="16256000" cy="9144000"/>
  <p:notesSz cx="9144000" cy="16256000"/>
  <p:embeddedFontLst>
    <p:embeddedFont>
      <p:font typeface="微软雅黑" panose="020B0503020204020204" pitchFamily="34" charset="-122"/>
      <p:regular r:id="rId25"/>
      <p:bold r:id="rId26"/>
    </p:embeddedFont>
    <p:embeddedFont>
      <p:font typeface="Hedvig Letters Sans" panose="020B0604020202020204" charset="0"/>
      <p:regular r:id="rId27"/>
    </p:embeddedFont>
    <p:embeddedFont>
      <p:font typeface="Liter" panose="020B0604020202020204" charset="0"/>
      <p:regular r:id="rId28"/>
    </p:embeddedFont>
    <p:embeddedFont>
      <p:font typeface="Quattrocento Sans" panose="020B0502050000020003" pitchFamily="34" charset="0"/>
      <p:regular r:id="rId29"/>
      <p:bold r:id="rId3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506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6955941" y="8664335"/>
            <a:ext cx="234411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ru-RU" sz="18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Долгопрудный, </a:t>
            </a:r>
            <a:r>
              <a:rPr lang="en-US" sz="18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09269" y="1159292"/>
            <a:ext cx="12437462" cy="4296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0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Проектирование и реализация веб-приложения для организации внутреннего документооборота компании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6264516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9" name="Shape 6"/>
          <p:cNvSpPr/>
          <p:nvPr/>
        </p:nvSpPr>
        <p:spPr>
          <a:xfrm>
            <a:off x="513080" y="6862028"/>
            <a:ext cx="7401560" cy="1432560"/>
          </a:xfrm>
          <a:custGeom>
            <a:avLst/>
            <a:gdLst/>
            <a:ahLst/>
            <a:cxnLst/>
            <a:rect l="l" t="t" r="r" b="b"/>
            <a:pathLst>
              <a:path w="7401560" h="1432560">
                <a:moveTo>
                  <a:pt x="101597" y="0"/>
                </a:moveTo>
                <a:lnTo>
                  <a:pt x="7299963" y="0"/>
                </a:lnTo>
                <a:cubicBezTo>
                  <a:pt x="7356073" y="0"/>
                  <a:pt x="7401560" y="45487"/>
                  <a:pt x="7401560" y="101597"/>
                </a:cubicBezTo>
                <a:lnTo>
                  <a:pt x="7401560" y="1330963"/>
                </a:lnTo>
                <a:cubicBezTo>
                  <a:pt x="7401560" y="1387073"/>
                  <a:pt x="7356073" y="1432560"/>
                  <a:pt x="7299963" y="1432560"/>
                </a:cubicBezTo>
                <a:lnTo>
                  <a:pt x="101597" y="1432560"/>
                </a:lnTo>
                <a:cubicBezTo>
                  <a:pt x="45487" y="1432560"/>
                  <a:pt x="0" y="1387073"/>
                  <a:pt x="0" y="133096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 w="10160">
            <a:solidFill>
              <a:srgbClr val="EAEAEA">
                <a:alpha val="1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7171908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Студент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7578308"/>
            <a:ext cx="693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Кузнецов </a:t>
            </a:r>
            <a:r>
              <a:rPr lang="en-US" sz="2400" b="1" dirty="0" err="1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Илья</a:t>
            </a: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2400" b="1" dirty="0" err="1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Игоревич</a:t>
            </a:r>
            <a:r>
              <a:rPr lang="ru-RU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(ИСП-21)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36280" y="6862028"/>
            <a:ext cx="7401560" cy="1432560"/>
          </a:xfrm>
          <a:custGeom>
            <a:avLst/>
            <a:gdLst/>
            <a:ahLst/>
            <a:cxnLst/>
            <a:rect l="l" t="t" r="r" b="b"/>
            <a:pathLst>
              <a:path w="7401560" h="1432560">
                <a:moveTo>
                  <a:pt x="101597" y="0"/>
                </a:moveTo>
                <a:lnTo>
                  <a:pt x="7299963" y="0"/>
                </a:lnTo>
                <a:cubicBezTo>
                  <a:pt x="7356073" y="0"/>
                  <a:pt x="7401560" y="45487"/>
                  <a:pt x="7401560" y="101597"/>
                </a:cubicBezTo>
                <a:lnTo>
                  <a:pt x="7401560" y="1330963"/>
                </a:lnTo>
                <a:cubicBezTo>
                  <a:pt x="7401560" y="1387073"/>
                  <a:pt x="7356073" y="1432560"/>
                  <a:pt x="7299963" y="1432560"/>
                </a:cubicBezTo>
                <a:lnTo>
                  <a:pt x="101597" y="1432560"/>
                </a:lnTo>
                <a:cubicBezTo>
                  <a:pt x="45487" y="1432560"/>
                  <a:pt x="0" y="1387073"/>
                  <a:pt x="0" y="133096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 w="10160">
            <a:solidFill>
              <a:srgbClr val="EAEAEA">
                <a:alpha val="1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6160" y="7171908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Руководитель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46160" y="7578308"/>
            <a:ext cx="693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Базяк Галина Владимировна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443230"/>
            <a:ext cx="1535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0043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Структура работы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71323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2272030"/>
            <a:ext cx="7391400" cy="1854200"/>
          </a:xfrm>
          <a:custGeom>
            <a:avLst/>
            <a:gdLst/>
            <a:ahLst/>
            <a:cxnLst/>
            <a:rect l="l" t="t" r="r" b="b"/>
            <a:pathLst>
              <a:path w="7391400" h="1854200">
                <a:moveTo>
                  <a:pt x="50800" y="0"/>
                </a:moveTo>
                <a:lnTo>
                  <a:pt x="7289808" y="0"/>
                </a:lnTo>
                <a:cubicBezTo>
                  <a:pt x="7345916" y="0"/>
                  <a:pt x="7391400" y="45484"/>
                  <a:pt x="7391400" y="101592"/>
                </a:cubicBezTo>
                <a:lnTo>
                  <a:pt x="7391400" y="1752608"/>
                </a:lnTo>
                <a:cubicBezTo>
                  <a:pt x="7391400" y="1808716"/>
                  <a:pt x="7345916" y="1854200"/>
                  <a:pt x="7289808" y="1854200"/>
                </a:cubicBezTo>
                <a:lnTo>
                  <a:pt x="50800" y="1854200"/>
                </a:lnTo>
                <a:cubicBezTo>
                  <a:pt x="22763" y="1854200"/>
                  <a:pt x="0" y="1831437"/>
                  <a:pt x="0" y="1803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27203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5080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50800" y="1854200"/>
                </a:lnTo>
                <a:cubicBezTo>
                  <a:pt x="22763" y="1854200"/>
                  <a:pt x="0" y="1831437"/>
                  <a:pt x="0" y="1803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863600" y="257683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Text 6"/>
          <p:cNvSpPr/>
          <p:nvPr/>
        </p:nvSpPr>
        <p:spPr>
          <a:xfrm>
            <a:off x="768350" y="257683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30400" y="2576830"/>
            <a:ext cx="584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Введение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0400" y="3084672"/>
            <a:ext cx="5803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Актуальность, цель и задачи исследования, объект и предмет изучения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56600" y="2272030"/>
            <a:ext cx="7391400" cy="1854200"/>
          </a:xfrm>
          <a:custGeom>
            <a:avLst/>
            <a:gdLst/>
            <a:ahLst/>
            <a:cxnLst/>
            <a:rect l="l" t="t" r="r" b="b"/>
            <a:pathLst>
              <a:path w="7391400" h="1854200">
                <a:moveTo>
                  <a:pt x="50800" y="0"/>
                </a:moveTo>
                <a:lnTo>
                  <a:pt x="7289808" y="0"/>
                </a:lnTo>
                <a:cubicBezTo>
                  <a:pt x="7345916" y="0"/>
                  <a:pt x="7391400" y="45484"/>
                  <a:pt x="7391400" y="101592"/>
                </a:cubicBezTo>
                <a:lnTo>
                  <a:pt x="7391400" y="1752608"/>
                </a:lnTo>
                <a:cubicBezTo>
                  <a:pt x="7391400" y="1808716"/>
                  <a:pt x="7345916" y="1854200"/>
                  <a:pt x="7289808" y="1854200"/>
                </a:cubicBezTo>
                <a:lnTo>
                  <a:pt x="50800" y="1854200"/>
                </a:lnTo>
                <a:cubicBezTo>
                  <a:pt x="22763" y="1854200"/>
                  <a:pt x="0" y="1831437"/>
                  <a:pt x="0" y="1803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56600" y="227203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5080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50800" y="1854200"/>
                </a:lnTo>
                <a:cubicBezTo>
                  <a:pt x="22763" y="1854200"/>
                  <a:pt x="0" y="1831437"/>
                  <a:pt x="0" y="1803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257683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8591550" y="257683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53600" y="2576830"/>
            <a:ext cx="584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Теоретико-аналитическая часть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53600" y="3084672"/>
            <a:ext cx="5803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Анализ предметной области, обзор решений, обоснование технологий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538822"/>
            <a:ext cx="7391400" cy="2260600"/>
          </a:xfrm>
          <a:custGeom>
            <a:avLst/>
            <a:gdLst/>
            <a:ahLst/>
            <a:cxnLst/>
            <a:rect l="l" t="t" r="r" b="b"/>
            <a:pathLst>
              <a:path w="7391400" h="2260600">
                <a:moveTo>
                  <a:pt x="50800" y="0"/>
                </a:moveTo>
                <a:lnTo>
                  <a:pt x="7289809" y="0"/>
                </a:lnTo>
                <a:cubicBezTo>
                  <a:pt x="7345916" y="0"/>
                  <a:pt x="7391400" y="45484"/>
                  <a:pt x="7391400" y="101591"/>
                </a:cubicBezTo>
                <a:lnTo>
                  <a:pt x="7391400" y="2159009"/>
                </a:lnTo>
                <a:cubicBezTo>
                  <a:pt x="7391400" y="2215116"/>
                  <a:pt x="7345916" y="2260600"/>
                  <a:pt x="7289809" y="2260600"/>
                </a:cubicBezTo>
                <a:lnTo>
                  <a:pt x="50800" y="2260600"/>
                </a:lnTo>
                <a:cubicBezTo>
                  <a:pt x="22763" y="2260600"/>
                  <a:pt x="0" y="2237837"/>
                  <a:pt x="0" y="2209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4538822"/>
            <a:ext cx="50800" cy="2260600"/>
          </a:xfrm>
          <a:custGeom>
            <a:avLst/>
            <a:gdLst/>
            <a:ahLst/>
            <a:cxnLst/>
            <a:rect l="l" t="t" r="r" b="b"/>
            <a:pathLst>
              <a:path w="50800" h="2260600">
                <a:moveTo>
                  <a:pt x="50800" y="0"/>
                </a:moveTo>
                <a:lnTo>
                  <a:pt x="50800" y="0"/>
                </a:lnTo>
                <a:lnTo>
                  <a:pt x="50800" y="2260600"/>
                </a:lnTo>
                <a:lnTo>
                  <a:pt x="50800" y="2260600"/>
                </a:lnTo>
                <a:cubicBezTo>
                  <a:pt x="22763" y="2260600"/>
                  <a:pt x="0" y="2237837"/>
                  <a:pt x="0" y="2209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600" y="484362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350" y="4843622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30400" y="4843622"/>
            <a:ext cx="584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Проектирование веб-приложения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30400" y="5351463"/>
            <a:ext cx="5803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Функциональные требования, модель данных, архитектура MVT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56600" y="4538822"/>
            <a:ext cx="7391400" cy="2260600"/>
          </a:xfrm>
          <a:custGeom>
            <a:avLst/>
            <a:gdLst/>
            <a:ahLst/>
            <a:cxnLst/>
            <a:rect l="l" t="t" r="r" b="b"/>
            <a:pathLst>
              <a:path w="7391400" h="2260600">
                <a:moveTo>
                  <a:pt x="50800" y="0"/>
                </a:moveTo>
                <a:lnTo>
                  <a:pt x="7289809" y="0"/>
                </a:lnTo>
                <a:cubicBezTo>
                  <a:pt x="7345916" y="0"/>
                  <a:pt x="7391400" y="45484"/>
                  <a:pt x="7391400" y="101591"/>
                </a:cubicBezTo>
                <a:lnTo>
                  <a:pt x="7391400" y="2159009"/>
                </a:lnTo>
                <a:cubicBezTo>
                  <a:pt x="7391400" y="2215116"/>
                  <a:pt x="7345916" y="2260600"/>
                  <a:pt x="7289809" y="2260600"/>
                </a:cubicBezTo>
                <a:lnTo>
                  <a:pt x="50800" y="2260600"/>
                </a:lnTo>
                <a:cubicBezTo>
                  <a:pt x="22763" y="2260600"/>
                  <a:pt x="0" y="2237837"/>
                  <a:pt x="0" y="2209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356600" y="4538822"/>
            <a:ext cx="50800" cy="2260600"/>
          </a:xfrm>
          <a:custGeom>
            <a:avLst/>
            <a:gdLst/>
            <a:ahLst/>
            <a:cxnLst/>
            <a:rect l="l" t="t" r="r" b="b"/>
            <a:pathLst>
              <a:path w="50800" h="2260600">
                <a:moveTo>
                  <a:pt x="50800" y="0"/>
                </a:moveTo>
                <a:lnTo>
                  <a:pt x="50800" y="0"/>
                </a:lnTo>
                <a:lnTo>
                  <a:pt x="50800" y="2260600"/>
                </a:lnTo>
                <a:lnTo>
                  <a:pt x="50800" y="2260600"/>
                </a:lnTo>
                <a:cubicBezTo>
                  <a:pt x="22763" y="2260600"/>
                  <a:pt x="0" y="2237837"/>
                  <a:pt x="0" y="2209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0" y="484362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8591550" y="4843622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53600" y="4843622"/>
            <a:ext cx="584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Программная реализация и тестирование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53600" y="5757704"/>
            <a:ext cx="5803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Серверная часть, пользовательский интерфейс, тестирование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7211854"/>
            <a:ext cx="15214600" cy="1591736"/>
          </a:xfrm>
          <a:custGeom>
            <a:avLst/>
            <a:gdLst/>
            <a:ahLst/>
            <a:cxnLst/>
            <a:rect l="l" t="t" r="r" b="b"/>
            <a:pathLst>
              <a:path w="15214600" h="1591736">
                <a:moveTo>
                  <a:pt x="50800" y="0"/>
                </a:moveTo>
                <a:lnTo>
                  <a:pt x="15112994" y="0"/>
                </a:lnTo>
                <a:cubicBezTo>
                  <a:pt x="15169110" y="0"/>
                  <a:pt x="15214600" y="48731"/>
                  <a:pt x="15214600" y="108843"/>
                </a:cubicBezTo>
                <a:lnTo>
                  <a:pt x="15214600" y="1482893"/>
                </a:lnTo>
                <a:cubicBezTo>
                  <a:pt x="15214600" y="1543005"/>
                  <a:pt x="15169110" y="1591736"/>
                  <a:pt x="15112994" y="1591736"/>
                </a:cubicBezTo>
                <a:lnTo>
                  <a:pt x="50800" y="1591736"/>
                </a:lnTo>
                <a:cubicBezTo>
                  <a:pt x="22763" y="1591736"/>
                  <a:pt x="0" y="1567352"/>
                  <a:pt x="0" y="1537317"/>
                </a:cubicBezTo>
                <a:lnTo>
                  <a:pt x="0" y="54418"/>
                </a:lnTo>
                <a:cubicBezTo>
                  <a:pt x="0" y="24384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3400" y="7211853"/>
            <a:ext cx="50800" cy="1591735"/>
          </a:xfrm>
          <a:custGeom>
            <a:avLst/>
            <a:gdLst/>
            <a:ahLst/>
            <a:cxnLst/>
            <a:rect l="l" t="t" r="r" b="b"/>
            <a:pathLst>
              <a:path w="50800" h="1485900">
                <a:moveTo>
                  <a:pt x="50800" y="0"/>
                </a:moveTo>
                <a:lnTo>
                  <a:pt x="50800" y="0"/>
                </a:lnTo>
                <a:lnTo>
                  <a:pt x="50800" y="1485900"/>
                </a:lnTo>
                <a:lnTo>
                  <a:pt x="50800" y="1485900"/>
                </a:lnTo>
                <a:cubicBezTo>
                  <a:pt x="22763" y="1485900"/>
                  <a:pt x="0" y="1463137"/>
                  <a:pt x="0" y="1435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1" name="Shape 29"/>
          <p:cNvSpPr/>
          <p:nvPr/>
        </p:nvSpPr>
        <p:spPr>
          <a:xfrm>
            <a:off x="863600" y="7516654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2" name="Text 30"/>
          <p:cNvSpPr/>
          <p:nvPr/>
        </p:nvSpPr>
        <p:spPr>
          <a:xfrm>
            <a:off x="768350" y="7516654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930400" y="7516654"/>
            <a:ext cx="8445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930400" y="8145304"/>
            <a:ext cx="8407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Результаты работы, практическая значимость, перспективы развития проекта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2751138"/>
            <a:ext cx="2032000" cy="711200"/>
          </a:xfrm>
          <a:custGeom>
            <a:avLst/>
            <a:gdLst/>
            <a:ahLst/>
            <a:cxnLst/>
            <a:rect l="l" t="t" r="r" b="b"/>
            <a:pathLst>
              <a:path w="2032000" h="711200">
                <a:moveTo>
                  <a:pt x="50801" y="0"/>
                </a:moveTo>
                <a:lnTo>
                  <a:pt x="1981199" y="0"/>
                </a:lnTo>
                <a:cubicBezTo>
                  <a:pt x="2009256" y="0"/>
                  <a:pt x="2032000" y="22744"/>
                  <a:pt x="2032000" y="50801"/>
                </a:cubicBezTo>
                <a:lnTo>
                  <a:pt x="2032000" y="660399"/>
                </a:lnTo>
                <a:cubicBezTo>
                  <a:pt x="2032000" y="688456"/>
                  <a:pt x="2009256" y="711200"/>
                  <a:pt x="19811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2751138"/>
            <a:ext cx="2184400" cy="711200"/>
          </a:xfrm>
          <a:prstGeom prst="rect">
            <a:avLst/>
          </a:prstGeom>
          <a:noFill/>
          <a:ln/>
        </p:spPr>
        <p:txBody>
          <a:bodyPr wrap="square" lIns="406400" tIns="152400" rIns="406400" bIns="15240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ГЛАВА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3766979"/>
            <a:ext cx="81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Введение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5316379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6" name="Text 4"/>
          <p:cNvSpPr/>
          <p:nvPr/>
        </p:nvSpPr>
        <p:spPr>
          <a:xfrm>
            <a:off x="508000" y="5773579"/>
            <a:ext cx="78613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Актуальность, цель и задачи исследования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71" y="457271"/>
            <a:ext cx="15432911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kern="0" spc="72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ВВЕДЕНИЕ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71" y="823089"/>
            <a:ext cx="15547229" cy="457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41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Актуальность проблемы документооборота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71" y="1417541"/>
            <a:ext cx="1097451" cy="45727"/>
          </a:xfrm>
          <a:custGeom>
            <a:avLst/>
            <a:gdLst/>
            <a:ahLst/>
            <a:cxnLst/>
            <a:rect l="l" t="t" r="r" b="b"/>
            <a:pathLst>
              <a:path w="1097451" h="45727">
                <a:moveTo>
                  <a:pt x="0" y="0"/>
                </a:moveTo>
                <a:lnTo>
                  <a:pt x="1097451" y="0"/>
                </a:lnTo>
                <a:lnTo>
                  <a:pt x="1097451" y="45727"/>
                </a:lnTo>
                <a:lnTo>
                  <a:pt x="0" y="45727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80135" y="1737632"/>
            <a:ext cx="7464956" cy="3978262"/>
          </a:xfrm>
          <a:custGeom>
            <a:avLst/>
            <a:gdLst/>
            <a:ahLst/>
            <a:cxnLst/>
            <a:rect l="l" t="t" r="r" b="b"/>
            <a:pathLst>
              <a:path w="7464956" h="3978262">
                <a:moveTo>
                  <a:pt x="45727" y="0"/>
                </a:moveTo>
                <a:lnTo>
                  <a:pt x="7373496" y="0"/>
                </a:lnTo>
                <a:cubicBezTo>
                  <a:pt x="7424008" y="0"/>
                  <a:pt x="7464956" y="40948"/>
                  <a:pt x="7464956" y="91460"/>
                </a:cubicBezTo>
                <a:lnTo>
                  <a:pt x="7464956" y="3886801"/>
                </a:lnTo>
                <a:cubicBezTo>
                  <a:pt x="7464956" y="3937313"/>
                  <a:pt x="7424008" y="3978262"/>
                  <a:pt x="7373496" y="3978262"/>
                </a:cubicBezTo>
                <a:lnTo>
                  <a:pt x="45727" y="3978262"/>
                </a:lnTo>
                <a:cubicBezTo>
                  <a:pt x="20473" y="3978262"/>
                  <a:pt x="0" y="3957789"/>
                  <a:pt x="0" y="3932534"/>
                </a:cubicBezTo>
                <a:lnTo>
                  <a:pt x="0" y="45727"/>
                </a:lnTo>
                <a:cubicBezTo>
                  <a:pt x="0" y="20473"/>
                  <a:pt x="20473" y="0"/>
                  <a:pt x="45727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80135" y="1737632"/>
            <a:ext cx="45727" cy="3978262"/>
          </a:xfrm>
          <a:custGeom>
            <a:avLst/>
            <a:gdLst/>
            <a:ahLst/>
            <a:cxnLst/>
            <a:rect l="l" t="t" r="r" b="b"/>
            <a:pathLst>
              <a:path w="45727" h="3978262">
                <a:moveTo>
                  <a:pt x="45727" y="0"/>
                </a:moveTo>
                <a:lnTo>
                  <a:pt x="45727" y="0"/>
                </a:lnTo>
                <a:lnTo>
                  <a:pt x="45727" y="3978262"/>
                </a:lnTo>
                <a:lnTo>
                  <a:pt x="45727" y="3978262"/>
                </a:lnTo>
                <a:cubicBezTo>
                  <a:pt x="20473" y="3978262"/>
                  <a:pt x="0" y="3957789"/>
                  <a:pt x="0" y="3932534"/>
                </a:cubicBezTo>
                <a:lnTo>
                  <a:pt x="0" y="45727"/>
                </a:lnTo>
                <a:cubicBezTo>
                  <a:pt x="0" y="20473"/>
                  <a:pt x="20473" y="0"/>
                  <a:pt x="45727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811657" y="2057579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0"/>
                </a:moveTo>
                <a:cubicBezTo>
                  <a:pt x="145059" y="0"/>
                  <a:pt x="152293" y="4341"/>
                  <a:pt x="156044" y="11253"/>
                </a:cubicBezTo>
                <a:lnTo>
                  <a:pt x="271791" y="225599"/>
                </a:lnTo>
                <a:cubicBezTo>
                  <a:pt x="275381" y="232244"/>
                  <a:pt x="275220" y="240282"/>
                  <a:pt x="271362" y="246766"/>
                </a:cubicBezTo>
                <a:cubicBezTo>
                  <a:pt x="267504" y="253250"/>
                  <a:pt x="260484" y="257215"/>
                  <a:pt x="252928" y="257215"/>
                </a:cubicBezTo>
                <a:lnTo>
                  <a:pt x="21435" y="257215"/>
                </a:lnTo>
                <a:cubicBezTo>
                  <a:pt x="13879" y="257215"/>
                  <a:pt x="6913" y="253250"/>
                  <a:pt x="3001" y="246766"/>
                </a:cubicBezTo>
                <a:cubicBezTo>
                  <a:pt x="-911" y="240282"/>
                  <a:pt x="-1018" y="232244"/>
                  <a:pt x="2572" y="225599"/>
                </a:cubicBezTo>
                <a:lnTo>
                  <a:pt x="118319" y="11253"/>
                </a:lnTo>
                <a:cubicBezTo>
                  <a:pt x="122070" y="4341"/>
                  <a:pt x="129304" y="0"/>
                  <a:pt x="137181" y="0"/>
                </a:cubicBezTo>
                <a:close/>
                <a:moveTo>
                  <a:pt x="137181" y="90025"/>
                </a:moveTo>
                <a:cubicBezTo>
                  <a:pt x="130054" y="90025"/>
                  <a:pt x="124321" y="95759"/>
                  <a:pt x="124321" y="102886"/>
                </a:cubicBezTo>
                <a:lnTo>
                  <a:pt x="124321" y="162903"/>
                </a:lnTo>
                <a:cubicBezTo>
                  <a:pt x="124321" y="170030"/>
                  <a:pt x="130054" y="175764"/>
                  <a:pt x="137181" y="175764"/>
                </a:cubicBezTo>
                <a:cubicBezTo>
                  <a:pt x="144308" y="175764"/>
                  <a:pt x="150042" y="170030"/>
                  <a:pt x="150042" y="162903"/>
                </a:cubicBezTo>
                <a:lnTo>
                  <a:pt x="150042" y="102886"/>
                </a:lnTo>
                <a:cubicBezTo>
                  <a:pt x="150042" y="95759"/>
                  <a:pt x="144308" y="90025"/>
                  <a:pt x="137181" y="90025"/>
                </a:cubicBezTo>
                <a:close/>
                <a:moveTo>
                  <a:pt x="151489" y="205772"/>
                </a:moveTo>
                <a:cubicBezTo>
                  <a:pt x="151815" y="200461"/>
                  <a:pt x="149166" y="195409"/>
                  <a:pt x="144613" y="192655"/>
                </a:cubicBezTo>
                <a:cubicBezTo>
                  <a:pt x="140061" y="189901"/>
                  <a:pt x="134356" y="189901"/>
                  <a:pt x="129803" y="192655"/>
                </a:cubicBezTo>
                <a:cubicBezTo>
                  <a:pt x="125250" y="195409"/>
                  <a:pt x="122602" y="200461"/>
                  <a:pt x="122927" y="205772"/>
                </a:cubicBezTo>
                <a:cubicBezTo>
                  <a:pt x="122602" y="211083"/>
                  <a:pt x="125250" y="216136"/>
                  <a:pt x="129803" y="218890"/>
                </a:cubicBezTo>
                <a:cubicBezTo>
                  <a:pt x="134356" y="221643"/>
                  <a:pt x="140061" y="221643"/>
                  <a:pt x="144613" y="218890"/>
                </a:cubicBezTo>
                <a:cubicBezTo>
                  <a:pt x="149166" y="216136"/>
                  <a:pt x="151815" y="211083"/>
                  <a:pt x="151489" y="205772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Text 6"/>
          <p:cNvSpPr/>
          <p:nvPr/>
        </p:nvSpPr>
        <p:spPr>
          <a:xfrm>
            <a:off x="1120315" y="2011994"/>
            <a:ext cx="6687595" cy="365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Проблемы традиционного документооборота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361" y="2606305"/>
            <a:ext cx="25149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1015" y="2560578"/>
            <a:ext cx="6687595" cy="823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Высокие временные затраты:</a:t>
            </a: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до 30% рабочего времени офисных сотрудников тратится на физическое перемещение документов между кабинетами для согласования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361" y="3566575"/>
            <a:ext cx="25149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1015" y="3520848"/>
            <a:ext cx="6687595" cy="54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Риски потери информации:</a:t>
            </a: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бумажные носители могут быть утеряны, повреждены или попасть к несанкционированным лицам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361" y="4252482"/>
            <a:ext cx="25149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1015" y="4206755"/>
            <a:ext cx="6687595" cy="54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Отсутствие прозрачности:</a:t>
            </a: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невозможно в реальном времени отследить статус документа и контролировать исполнительскую дисциплину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361" y="4938389"/>
            <a:ext cx="25149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1015" y="4892662"/>
            <a:ext cx="6687595" cy="54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Сложность поиска:</a:t>
            </a: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поиск информации в бумажном архиве занимает часы и требует ручного перебора номенклатуры дел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1844" y="5994686"/>
            <a:ext cx="7485534" cy="2553278"/>
          </a:xfrm>
          <a:custGeom>
            <a:avLst/>
            <a:gdLst/>
            <a:ahLst/>
            <a:cxnLst/>
            <a:rect l="l" t="t" r="r" b="b"/>
            <a:pathLst>
              <a:path w="7485534" h="2553278">
                <a:moveTo>
                  <a:pt x="91446" y="0"/>
                </a:moveTo>
                <a:lnTo>
                  <a:pt x="7394088" y="0"/>
                </a:lnTo>
                <a:cubicBezTo>
                  <a:pt x="7444592" y="0"/>
                  <a:pt x="7485534" y="47429"/>
                  <a:pt x="7485534" y="105936"/>
                </a:cubicBezTo>
                <a:lnTo>
                  <a:pt x="7485534" y="2447343"/>
                </a:lnTo>
                <a:cubicBezTo>
                  <a:pt x="7485534" y="2505849"/>
                  <a:pt x="7444592" y="2553278"/>
                  <a:pt x="7394088" y="2553278"/>
                </a:cubicBezTo>
                <a:lnTo>
                  <a:pt x="91446" y="2553278"/>
                </a:lnTo>
                <a:cubicBezTo>
                  <a:pt x="40942" y="2553278"/>
                  <a:pt x="0" y="2505849"/>
                  <a:pt x="0" y="2447343"/>
                </a:cubicBezTo>
                <a:lnTo>
                  <a:pt x="0" y="105936"/>
                </a:lnTo>
                <a:cubicBezTo>
                  <a:pt x="0" y="47429"/>
                  <a:pt x="40942" y="0"/>
                  <a:pt x="91446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780" y="6273622"/>
            <a:ext cx="7041980" cy="3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Переход к цифровой экономике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780" y="6730894"/>
            <a:ext cx="7019117" cy="118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современных условиях эффективное управление информационными потоками является ключевым фактором конкурентоспособности. Переход к цифровой экономике диктует необходимость отказа от традиционного бумажного делопроизводства в пользу автоматизированных систем.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34916" y="1737632"/>
            <a:ext cx="7464956" cy="6810333"/>
          </a:xfrm>
          <a:custGeom>
            <a:avLst/>
            <a:gdLst/>
            <a:ahLst/>
            <a:cxnLst/>
            <a:rect l="l" t="t" r="r" b="b"/>
            <a:pathLst>
              <a:path w="7464956" h="6810333">
                <a:moveTo>
                  <a:pt x="45727" y="0"/>
                </a:moveTo>
                <a:lnTo>
                  <a:pt x="7373494" y="0"/>
                </a:lnTo>
                <a:cubicBezTo>
                  <a:pt x="7424007" y="0"/>
                  <a:pt x="7464956" y="38297"/>
                  <a:pt x="7464956" y="85538"/>
                </a:cubicBezTo>
                <a:lnTo>
                  <a:pt x="7464956" y="6724795"/>
                </a:lnTo>
                <a:cubicBezTo>
                  <a:pt x="7464956" y="6772036"/>
                  <a:pt x="7424007" y="6810333"/>
                  <a:pt x="7373494" y="6810333"/>
                </a:cubicBezTo>
                <a:lnTo>
                  <a:pt x="45727" y="6810333"/>
                </a:lnTo>
                <a:cubicBezTo>
                  <a:pt x="20473" y="6810333"/>
                  <a:pt x="0" y="6791187"/>
                  <a:pt x="0" y="6767568"/>
                </a:cubicBezTo>
                <a:lnTo>
                  <a:pt x="0" y="42765"/>
                </a:lnTo>
                <a:cubicBezTo>
                  <a:pt x="0" y="19162"/>
                  <a:pt x="20490" y="0"/>
                  <a:pt x="45727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334916" y="1737632"/>
            <a:ext cx="45727" cy="6810333"/>
          </a:xfrm>
          <a:custGeom>
            <a:avLst/>
            <a:gdLst/>
            <a:ahLst/>
            <a:cxnLst/>
            <a:rect l="l" t="t" r="r" b="b"/>
            <a:pathLst>
              <a:path w="45727" h="6810333">
                <a:moveTo>
                  <a:pt x="45727" y="0"/>
                </a:moveTo>
                <a:lnTo>
                  <a:pt x="45727" y="0"/>
                </a:lnTo>
                <a:lnTo>
                  <a:pt x="45727" y="6810333"/>
                </a:lnTo>
                <a:lnTo>
                  <a:pt x="45727" y="6810333"/>
                </a:lnTo>
                <a:cubicBezTo>
                  <a:pt x="20473" y="6810333"/>
                  <a:pt x="0" y="6791187"/>
                  <a:pt x="0" y="6767568"/>
                </a:cubicBezTo>
                <a:lnTo>
                  <a:pt x="0" y="42765"/>
                </a:lnTo>
                <a:cubicBezTo>
                  <a:pt x="0" y="19147"/>
                  <a:pt x="20473" y="0"/>
                  <a:pt x="45727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8666438" y="2057579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37181" y="274363"/>
                </a:moveTo>
                <a:cubicBezTo>
                  <a:pt x="212894" y="274363"/>
                  <a:pt x="274363" y="212894"/>
                  <a:pt x="274363" y="137181"/>
                </a:cubicBezTo>
                <a:cubicBezTo>
                  <a:pt x="274363" y="61469"/>
                  <a:pt x="212894" y="0"/>
                  <a:pt x="137181" y="0"/>
                </a:cubicBezTo>
                <a:cubicBezTo>
                  <a:pt x="61469" y="0"/>
                  <a:pt x="0" y="61469"/>
                  <a:pt x="0" y="137181"/>
                </a:cubicBezTo>
                <a:cubicBezTo>
                  <a:pt x="0" y="212894"/>
                  <a:pt x="61469" y="274363"/>
                  <a:pt x="137181" y="274363"/>
                </a:cubicBezTo>
                <a:close/>
                <a:moveTo>
                  <a:pt x="182408" y="113978"/>
                </a:moveTo>
                <a:lnTo>
                  <a:pt x="139539" y="182569"/>
                </a:lnTo>
                <a:cubicBezTo>
                  <a:pt x="137289" y="186159"/>
                  <a:pt x="133430" y="188410"/>
                  <a:pt x="129197" y="188624"/>
                </a:cubicBezTo>
                <a:cubicBezTo>
                  <a:pt x="124964" y="188839"/>
                  <a:pt x="120891" y="186910"/>
                  <a:pt x="118373" y="183480"/>
                </a:cubicBezTo>
                <a:lnTo>
                  <a:pt x="92651" y="149185"/>
                </a:lnTo>
                <a:cubicBezTo>
                  <a:pt x="88364" y="143505"/>
                  <a:pt x="89543" y="135467"/>
                  <a:pt x="95223" y="131180"/>
                </a:cubicBezTo>
                <a:cubicBezTo>
                  <a:pt x="100903" y="126893"/>
                  <a:pt x="108941" y="128072"/>
                  <a:pt x="113228" y="133752"/>
                </a:cubicBezTo>
                <a:lnTo>
                  <a:pt x="127697" y="153043"/>
                </a:lnTo>
                <a:lnTo>
                  <a:pt x="160599" y="100368"/>
                </a:lnTo>
                <a:cubicBezTo>
                  <a:pt x="164350" y="94366"/>
                  <a:pt x="172281" y="92490"/>
                  <a:pt x="178336" y="96295"/>
                </a:cubicBezTo>
                <a:cubicBezTo>
                  <a:pt x="184391" y="100100"/>
                  <a:pt x="186213" y="107977"/>
                  <a:pt x="182408" y="114032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3" name="Text 21"/>
          <p:cNvSpPr/>
          <p:nvPr/>
        </p:nvSpPr>
        <p:spPr>
          <a:xfrm>
            <a:off x="8975096" y="2011994"/>
            <a:ext cx="6687595" cy="365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Преимущества веб-ориентированных СЭД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32142" y="2560578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solidFill>
            <a:srgbClr val="EAEAEA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06477" y="2720623"/>
            <a:ext cx="200056" cy="228636"/>
          </a:xfrm>
          <a:custGeom>
            <a:avLst/>
            <a:gdLst/>
            <a:ahLst/>
            <a:cxnLst/>
            <a:rect l="l" t="t" r="r" b="b"/>
            <a:pathLst>
              <a:path w="200056" h="228636">
                <a:moveTo>
                  <a:pt x="200056" y="91901"/>
                </a:moveTo>
                <a:cubicBezTo>
                  <a:pt x="193447" y="96277"/>
                  <a:pt x="185856" y="99805"/>
                  <a:pt x="177952" y="102618"/>
                </a:cubicBezTo>
                <a:cubicBezTo>
                  <a:pt x="156964" y="110120"/>
                  <a:pt x="129411" y="114318"/>
                  <a:pt x="100028" y="114318"/>
                </a:cubicBezTo>
                <a:cubicBezTo>
                  <a:pt x="70645" y="114318"/>
                  <a:pt x="43048" y="110076"/>
                  <a:pt x="22104" y="102618"/>
                </a:cubicBezTo>
                <a:cubicBezTo>
                  <a:pt x="14245" y="99805"/>
                  <a:pt x="6609" y="96277"/>
                  <a:pt x="0" y="91901"/>
                </a:cubicBezTo>
                <a:lnTo>
                  <a:pt x="0" y="128608"/>
                </a:lnTo>
                <a:cubicBezTo>
                  <a:pt x="0" y="148345"/>
                  <a:pt x="44789" y="164332"/>
                  <a:pt x="100028" y="164332"/>
                </a:cubicBezTo>
                <a:cubicBezTo>
                  <a:pt x="155267" y="164332"/>
                  <a:pt x="200056" y="148345"/>
                  <a:pt x="200056" y="128608"/>
                </a:cubicBezTo>
                <a:lnTo>
                  <a:pt x="200056" y="91901"/>
                </a:lnTo>
                <a:close/>
                <a:moveTo>
                  <a:pt x="200056" y="57159"/>
                </a:moveTo>
                <a:lnTo>
                  <a:pt x="200056" y="35724"/>
                </a:lnTo>
                <a:cubicBezTo>
                  <a:pt x="200056" y="15987"/>
                  <a:pt x="155267" y="0"/>
                  <a:pt x="100028" y="0"/>
                </a:cubicBezTo>
                <a:cubicBezTo>
                  <a:pt x="44789" y="0"/>
                  <a:pt x="0" y="15987"/>
                  <a:pt x="0" y="35724"/>
                </a:cubicBezTo>
                <a:lnTo>
                  <a:pt x="0" y="57159"/>
                </a:lnTo>
                <a:cubicBezTo>
                  <a:pt x="0" y="76897"/>
                  <a:pt x="44789" y="92883"/>
                  <a:pt x="100028" y="92883"/>
                </a:cubicBezTo>
                <a:cubicBezTo>
                  <a:pt x="155267" y="92883"/>
                  <a:pt x="200056" y="76897"/>
                  <a:pt x="200056" y="57159"/>
                </a:cubicBezTo>
                <a:close/>
                <a:moveTo>
                  <a:pt x="177952" y="174067"/>
                </a:moveTo>
                <a:cubicBezTo>
                  <a:pt x="157008" y="181524"/>
                  <a:pt x="129456" y="185767"/>
                  <a:pt x="100028" y="185767"/>
                </a:cubicBezTo>
                <a:cubicBezTo>
                  <a:pt x="70600" y="185767"/>
                  <a:pt x="43048" y="181524"/>
                  <a:pt x="22104" y="174067"/>
                </a:cubicBezTo>
                <a:cubicBezTo>
                  <a:pt x="14245" y="171254"/>
                  <a:pt x="6609" y="167726"/>
                  <a:pt x="0" y="163350"/>
                </a:cubicBezTo>
                <a:lnTo>
                  <a:pt x="0" y="192911"/>
                </a:lnTo>
                <a:cubicBezTo>
                  <a:pt x="0" y="212649"/>
                  <a:pt x="44789" y="228636"/>
                  <a:pt x="100028" y="228636"/>
                </a:cubicBezTo>
                <a:cubicBezTo>
                  <a:pt x="155267" y="228636"/>
                  <a:pt x="200056" y="212649"/>
                  <a:pt x="200056" y="192911"/>
                </a:cubicBezTo>
                <a:lnTo>
                  <a:pt x="200056" y="163350"/>
                </a:lnTo>
                <a:cubicBezTo>
                  <a:pt x="193447" y="167726"/>
                  <a:pt x="185856" y="171254"/>
                  <a:pt x="177952" y="174067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9363777" y="2560578"/>
            <a:ext cx="6264619" cy="3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Централизованное хранение данных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63777" y="2926395"/>
            <a:ext cx="6253187" cy="54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документы хранятся в защищённой базе данных с резервным копированием и контролем доступа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2142" y="3658029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solidFill>
            <a:srgbClr val="EAEAEA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792187" y="3818074"/>
            <a:ext cx="228636" cy="228636"/>
          </a:xfrm>
          <a:custGeom>
            <a:avLst/>
            <a:gdLst/>
            <a:ahLst/>
            <a:cxnLst/>
            <a:rect l="l" t="t" r="r" b="b"/>
            <a:pathLst>
              <a:path w="228636" h="228636">
                <a:moveTo>
                  <a:pt x="0" y="114318"/>
                </a:moveTo>
                <a:cubicBezTo>
                  <a:pt x="0" y="51224"/>
                  <a:pt x="51224" y="0"/>
                  <a:pt x="114318" y="0"/>
                </a:cubicBezTo>
                <a:cubicBezTo>
                  <a:pt x="177412" y="0"/>
                  <a:pt x="228636" y="51224"/>
                  <a:pt x="228636" y="114318"/>
                </a:cubicBezTo>
                <a:cubicBezTo>
                  <a:pt x="228636" y="177412"/>
                  <a:pt x="177412" y="228636"/>
                  <a:pt x="114318" y="228636"/>
                </a:cubicBezTo>
                <a:cubicBezTo>
                  <a:pt x="51224" y="228636"/>
                  <a:pt x="0" y="177412"/>
                  <a:pt x="0" y="114318"/>
                </a:cubicBezTo>
                <a:close/>
                <a:moveTo>
                  <a:pt x="128608" y="42869"/>
                </a:moveTo>
                <a:cubicBezTo>
                  <a:pt x="128608" y="34982"/>
                  <a:pt x="122205" y="28579"/>
                  <a:pt x="114318" y="28579"/>
                </a:cubicBezTo>
                <a:cubicBezTo>
                  <a:pt x="106431" y="28579"/>
                  <a:pt x="100028" y="34982"/>
                  <a:pt x="100028" y="42869"/>
                </a:cubicBezTo>
                <a:cubicBezTo>
                  <a:pt x="100028" y="50756"/>
                  <a:pt x="106431" y="57159"/>
                  <a:pt x="114318" y="57159"/>
                </a:cubicBezTo>
                <a:cubicBezTo>
                  <a:pt x="122205" y="57159"/>
                  <a:pt x="128608" y="50756"/>
                  <a:pt x="128608" y="42869"/>
                </a:cubicBezTo>
                <a:close/>
                <a:moveTo>
                  <a:pt x="114318" y="185767"/>
                </a:moveTo>
                <a:cubicBezTo>
                  <a:pt x="130081" y="185767"/>
                  <a:pt x="142897" y="172950"/>
                  <a:pt x="142897" y="157187"/>
                </a:cubicBezTo>
                <a:cubicBezTo>
                  <a:pt x="142897" y="149953"/>
                  <a:pt x="140218" y="143299"/>
                  <a:pt x="135752" y="138298"/>
                </a:cubicBezTo>
                <a:lnTo>
                  <a:pt x="166788" y="76271"/>
                </a:lnTo>
                <a:cubicBezTo>
                  <a:pt x="169423" y="70957"/>
                  <a:pt x="167279" y="64527"/>
                  <a:pt x="162010" y="61892"/>
                </a:cubicBezTo>
                <a:cubicBezTo>
                  <a:pt x="156741" y="59258"/>
                  <a:pt x="150265" y="61401"/>
                  <a:pt x="147631" y="66671"/>
                </a:cubicBezTo>
                <a:lnTo>
                  <a:pt x="116595" y="128697"/>
                </a:lnTo>
                <a:cubicBezTo>
                  <a:pt x="115836" y="128652"/>
                  <a:pt x="115077" y="128608"/>
                  <a:pt x="114318" y="128608"/>
                </a:cubicBezTo>
                <a:cubicBezTo>
                  <a:pt x="98555" y="128608"/>
                  <a:pt x="85738" y="141424"/>
                  <a:pt x="85738" y="157187"/>
                </a:cubicBezTo>
                <a:cubicBezTo>
                  <a:pt x="85738" y="172950"/>
                  <a:pt x="98555" y="185767"/>
                  <a:pt x="114318" y="185767"/>
                </a:cubicBezTo>
                <a:close/>
                <a:moveTo>
                  <a:pt x="78594" y="64304"/>
                </a:moveTo>
                <a:cubicBezTo>
                  <a:pt x="78594" y="56417"/>
                  <a:pt x="72191" y="50014"/>
                  <a:pt x="64304" y="50014"/>
                </a:cubicBezTo>
                <a:cubicBezTo>
                  <a:pt x="56417" y="50014"/>
                  <a:pt x="50014" y="56417"/>
                  <a:pt x="50014" y="64304"/>
                </a:cubicBezTo>
                <a:cubicBezTo>
                  <a:pt x="50014" y="72191"/>
                  <a:pt x="56417" y="78594"/>
                  <a:pt x="64304" y="78594"/>
                </a:cubicBezTo>
                <a:cubicBezTo>
                  <a:pt x="72191" y="78594"/>
                  <a:pt x="78594" y="72191"/>
                  <a:pt x="78594" y="64304"/>
                </a:cubicBezTo>
                <a:close/>
                <a:moveTo>
                  <a:pt x="42869" y="128608"/>
                </a:moveTo>
                <a:cubicBezTo>
                  <a:pt x="50756" y="128608"/>
                  <a:pt x="57159" y="122205"/>
                  <a:pt x="57159" y="114318"/>
                </a:cubicBezTo>
                <a:cubicBezTo>
                  <a:pt x="57159" y="106431"/>
                  <a:pt x="50756" y="100028"/>
                  <a:pt x="42869" y="100028"/>
                </a:cubicBezTo>
                <a:cubicBezTo>
                  <a:pt x="34982" y="100028"/>
                  <a:pt x="28579" y="106431"/>
                  <a:pt x="28579" y="114318"/>
                </a:cubicBezTo>
                <a:cubicBezTo>
                  <a:pt x="28579" y="122205"/>
                  <a:pt x="34982" y="128608"/>
                  <a:pt x="42869" y="128608"/>
                </a:cubicBezTo>
                <a:close/>
                <a:moveTo>
                  <a:pt x="200056" y="114318"/>
                </a:moveTo>
                <a:cubicBezTo>
                  <a:pt x="200056" y="106431"/>
                  <a:pt x="193653" y="100028"/>
                  <a:pt x="185767" y="100028"/>
                </a:cubicBezTo>
                <a:cubicBezTo>
                  <a:pt x="177880" y="100028"/>
                  <a:pt x="171477" y="106431"/>
                  <a:pt x="171477" y="114318"/>
                </a:cubicBezTo>
                <a:cubicBezTo>
                  <a:pt x="171477" y="122205"/>
                  <a:pt x="177880" y="128608"/>
                  <a:pt x="185767" y="128608"/>
                </a:cubicBezTo>
                <a:cubicBezTo>
                  <a:pt x="193653" y="128608"/>
                  <a:pt x="200056" y="122205"/>
                  <a:pt x="200056" y="114318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0" name="Text 28"/>
          <p:cNvSpPr/>
          <p:nvPr/>
        </p:nvSpPr>
        <p:spPr>
          <a:xfrm>
            <a:off x="9363777" y="3658029"/>
            <a:ext cx="6264619" cy="3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Быстрый доступ к информации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63777" y="4023846"/>
            <a:ext cx="6253187" cy="54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Поиск любого документа за секунды по номеру, дате, автору или ключевым словам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32142" y="4755481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solidFill>
            <a:srgbClr val="EAEAEA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777897" y="4915526"/>
            <a:ext cx="257215" cy="228636"/>
          </a:xfrm>
          <a:custGeom>
            <a:avLst/>
            <a:gdLst/>
            <a:ahLst/>
            <a:cxnLst/>
            <a:rect l="l" t="t" r="r" b="b"/>
            <a:pathLst>
              <a:path w="257215" h="228636">
                <a:moveTo>
                  <a:pt x="128608" y="14290"/>
                </a:moveTo>
                <a:cubicBezTo>
                  <a:pt x="92526" y="14290"/>
                  <a:pt x="63634" y="30723"/>
                  <a:pt x="42601" y="50282"/>
                </a:cubicBezTo>
                <a:cubicBezTo>
                  <a:pt x="21703" y="69707"/>
                  <a:pt x="7725" y="92883"/>
                  <a:pt x="1072" y="108825"/>
                </a:cubicBezTo>
                <a:cubicBezTo>
                  <a:pt x="-402" y="112353"/>
                  <a:pt x="-402" y="116283"/>
                  <a:pt x="1072" y="119810"/>
                </a:cubicBezTo>
                <a:cubicBezTo>
                  <a:pt x="7725" y="135752"/>
                  <a:pt x="21703" y="158973"/>
                  <a:pt x="42601" y="178354"/>
                </a:cubicBezTo>
                <a:cubicBezTo>
                  <a:pt x="63634" y="197868"/>
                  <a:pt x="92526" y="214346"/>
                  <a:pt x="128608" y="214346"/>
                </a:cubicBezTo>
                <a:cubicBezTo>
                  <a:pt x="164689" y="214346"/>
                  <a:pt x="193581" y="197913"/>
                  <a:pt x="214614" y="178354"/>
                </a:cubicBezTo>
                <a:cubicBezTo>
                  <a:pt x="235513" y="158929"/>
                  <a:pt x="249490" y="135752"/>
                  <a:pt x="256143" y="119810"/>
                </a:cubicBezTo>
                <a:cubicBezTo>
                  <a:pt x="257617" y="116283"/>
                  <a:pt x="257617" y="112353"/>
                  <a:pt x="256143" y="108825"/>
                </a:cubicBezTo>
                <a:cubicBezTo>
                  <a:pt x="249490" y="92883"/>
                  <a:pt x="235513" y="69662"/>
                  <a:pt x="214614" y="50282"/>
                </a:cubicBezTo>
                <a:cubicBezTo>
                  <a:pt x="193581" y="30768"/>
                  <a:pt x="164689" y="14290"/>
                  <a:pt x="128608" y="14290"/>
                </a:cubicBezTo>
                <a:close/>
                <a:moveTo>
                  <a:pt x="64304" y="114318"/>
                </a:moveTo>
                <a:cubicBezTo>
                  <a:pt x="64304" y="78828"/>
                  <a:pt x="93117" y="50014"/>
                  <a:pt x="128608" y="50014"/>
                </a:cubicBezTo>
                <a:cubicBezTo>
                  <a:pt x="164098" y="50014"/>
                  <a:pt x="192911" y="78828"/>
                  <a:pt x="192911" y="114318"/>
                </a:cubicBezTo>
                <a:cubicBezTo>
                  <a:pt x="192911" y="149808"/>
                  <a:pt x="164098" y="178622"/>
                  <a:pt x="128608" y="178622"/>
                </a:cubicBezTo>
                <a:cubicBezTo>
                  <a:pt x="93117" y="178622"/>
                  <a:pt x="64304" y="149808"/>
                  <a:pt x="64304" y="114318"/>
                </a:cubicBezTo>
                <a:close/>
                <a:moveTo>
                  <a:pt x="128608" y="85738"/>
                </a:moveTo>
                <a:cubicBezTo>
                  <a:pt x="128608" y="101502"/>
                  <a:pt x="115791" y="114318"/>
                  <a:pt x="100028" y="114318"/>
                </a:cubicBezTo>
                <a:cubicBezTo>
                  <a:pt x="94893" y="114318"/>
                  <a:pt x="90070" y="112978"/>
                  <a:pt x="85872" y="110567"/>
                </a:cubicBezTo>
                <a:cubicBezTo>
                  <a:pt x="85426" y="115434"/>
                  <a:pt x="85828" y="120436"/>
                  <a:pt x="87167" y="125392"/>
                </a:cubicBezTo>
                <a:cubicBezTo>
                  <a:pt x="93285" y="148256"/>
                  <a:pt x="116819" y="161831"/>
                  <a:pt x="139682" y="155713"/>
                </a:cubicBezTo>
                <a:cubicBezTo>
                  <a:pt x="162546" y="149596"/>
                  <a:pt x="176121" y="126062"/>
                  <a:pt x="170003" y="103199"/>
                </a:cubicBezTo>
                <a:cubicBezTo>
                  <a:pt x="164555" y="82791"/>
                  <a:pt x="145219" y="69796"/>
                  <a:pt x="124857" y="71583"/>
                </a:cubicBezTo>
                <a:cubicBezTo>
                  <a:pt x="127223" y="75736"/>
                  <a:pt x="128608" y="80558"/>
                  <a:pt x="128608" y="85738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9363777" y="4755481"/>
            <a:ext cx="6264619" cy="3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Прозрачность бизнес-процессов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63777" y="5121298"/>
            <a:ext cx="6253187" cy="54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Возможность в реальном времени отслеживать статус документа и видеть историю всех действий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32142" y="5852932"/>
            <a:ext cx="548726" cy="548726"/>
          </a:xfrm>
          <a:custGeom>
            <a:avLst/>
            <a:gdLst/>
            <a:ahLst/>
            <a:cxnLst/>
            <a:rect l="l" t="t" r="r" b="b"/>
            <a:pathLst>
              <a:path w="548726" h="548726">
                <a:moveTo>
                  <a:pt x="274363" y="0"/>
                </a:moveTo>
                <a:lnTo>
                  <a:pt x="274363" y="0"/>
                </a:lnTo>
                <a:cubicBezTo>
                  <a:pt x="425889" y="0"/>
                  <a:pt x="548726" y="122836"/>
                  <a:pt x="548726" y="274363"/>
                </a:cubicBezTo>
                <a:lnTo>
                  <a:pt x="548726" y="274363"/>
                </a:lnTo>
                <a:cubicBezTo>
                  <a:pt x="548726" y="425889"/>
                  <a:pt x="425889" y="548726"/>
                  <a:pt x="274363" y="548726"/>
                </a:cubicBezTo>
                <a:lnTo>
                  <a:pt x="274363" y="548726"/>
                </a:lnTo>
                <a:cubicBezTo>
                  <a:pt x="122836" y="548726"/>
                  <a:pt x="0" y="425889"/>
                  <a:pt x="0" y="274363"/>
                </a:cubicBezTo>
                <a:lnTo>
                  <a:pt x="0" y="274363"/>
                </a:lnTo>
                <a:cubicBezTo>
                  <a:pt x="0" y="122836"/>
                  <a:pt x="122836" y="0"/>
                  <a:pt x="274363" y="0"/>
                </a:cubicBezTo>
                <a:close/>
              </a:path>
            </a:pathLst>
          </a:custGeom>
          <a:solidFill>
            <a:srgbClr val="EAEAEA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77897" y="6012977"/>
            <a:ext cx="257215" cy="228636"/>
          </a:xfrm>
          <a:custGeom>
            <a:avLst/>
            <a:gdLst/>
            <a:ahLst/>
            <a:cxnLst/>
            <a:rect l="l" t="t" r="r" b="b"/>
            <a:pathLst>
              <a:path w="257215" h="228636">
                <a:moveTo>
                  <a:pt x="128608" y="42869"/>
                </a:moveTo>
                <a:cubicBezTo>
                  <a:pt x="88016" y="42869"/>
                  <a:pt x="51264" y="58945"/>
                  <a:pt x="24248" y="85113"/>
                </a:cubicBezTo>
                <a:cubicBezTo>
                  <a:pt x="18577" y="90606"/>
                  <a:pt x="9512" y="90472"/>
                  <a:pt x="4064" y="84801"/>
                </a:cubicBezTo>
                <a:cubicBezTo>
                  <a:pt x="-1384" y="79129"/>
                  <a:pt x="-1295" y="70064"/>
                  <a:pt x="4376" y="64616"/>
                </a:cubicBezTo>
                <a:cubicBezTo>
                  <a:pt x="36483" y="33447"/>
                  <a:pt x="80335" y="14290"/>
                  <a:pt x="128608" y="14290"/>
                </a:cubicBezTo>
                <a:cubicBezTo>
                  <a:pt x="176880" y="14290"/>
                  <a:pt x="220732" y="33447"/>
                  <a:pt x="252884" y="64616"/>
                </a:cubicBezTo>
                <a:cubicBezTo>
                  <a:pt x="258555" y="70109"/>
                  <a:pt x="258689" y="79174"/>
                  <a:pt x="253196" y="84801"/>
                </a:cubicBezTo>
                <a:cubicBezTo>
                  <a:pt x="247704" y="90427"/>
                  <a:pt x="238639" y="90606"/>
                  <a:pt x="233012" y="85113"/>
                </a:cubicBezTo>
                <a:cubicBezTo>
                  <a:pt x="205951" y="58945"/>
                  <a:pt x="169199" y="42869"/>
                  <a:pt x="128608" y="42869"/>
                </a:cubicBezTo>
                <a:close/>
                <a:moveTo>
                  <a:pt x="107173" y="192911"/>
                </a:moveTo>
                <a:cubicBezTo>
                  <a:pt x="107173" y="181081"/>
                  <a:pt x="116778" y="171477"/>
                  <a:pt x="128608" y="171477"/>
                </a:cubicBezTo>
                <a:cubicBezTo>
                  <a:pt x="140438" y="171477"/>
                  <a:pt x="150042" y="181081"/>
                  <a:pt x="150042" y="192911"/>
                </a:cubicBezTo>
                <a:cubicBezTo>
                  <a:pt x="150042" y="204741"/>
                  <a:pt x="140438" y="214346"/>
                  <a:pt x="128608" y="214346"/>
                </a:cubicBezTo>
                <a:cubicBezTo>
                  <a:pt x="116778" y="214346"/>
                  <a:pt x="107173" y="204741"/>
                  <a:pt x="107173" y="192911"/>
                </a:cubicBezTo>
                <a:close/>
                <a:moveTo>
                  <a:pt x="75021" y="145666"/>
                </a:moveTo>
                <a:cubicBezTo>
                  <a:pt x="69796" y="151605"/>
                  <a:pt x="60776" y="152141"/>
                  <a:pt x="54837" y="146916"/>
                </a:cubicBezTo>
                <a:cubicBezTo>
                  <a:pt x="48898" y="141692"/>
                  <a:pt x="48362" y="132671"/>
                  <a:pt x="53586" y="126732"/>
                </a:cubicBezTo>
                <a:cubicBezTo>
                  <a:pt x="71895" y="106012"/>
                  <a:pt x="98733" y="92883"/>
                  <a:pt x="128608" y="92883"/>
                </a:cubicBezTo>
                <a:cubicBezTo>
                  <a:pt x="158482" y="92883"/>
                  <a:pt x="185320" y="106012"/>
                  <a:pt x="203629" y="126732"/>
                </a:cubicBezTo>
                <a:cubicBezTo>
                  <a:pt x="208853" y="132671"/>
                  <a:pt x="208273" y="141692"/>
                  <a:pt x="202378" y="146916"/>
                </a:cubicBezTo>
                <a:cubicBezTo>
                  <a:pt x="196484" y="152141"/>
                  <a:pt x="187419" y="151560"/>
                  <a:pt x="182194" y="145666"/>
                </a:cubicBezTo>
                <a:cubicBezTo>
                  <a:pt x="169065" y="130796"/>
                  <a:pt x="149953" y="121463"/>
                  <a:pt x="128608" y="121463"/>
                </a:cubicBezTo>
                <a:cubicBezTo>
                  <a:pt x="107262" y="121463"/>
                  <a:pt x="88150" y="130796"/>
                  <a:pt x="75021" y="145666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9363777" y="5852932"/>
            <a:ext cx="6264619" cy="3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Удалённая работа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63777" y="6218749"/>
            <a:ext cx="6253187" cy="548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Доступ из любой точки мира без установки специального ПО, особенно актуально при гибридном формате занятости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636715" y="7046411"/>
            <a:ext cx="6891081" cy="1198051"/>
          </a:xfrm>
          <a:custGeom>
            <a:avLst/>
            <a:gdLst/>
            <a:ahLst/>
            <a:cxnLst/>
            <a:rect l="l" t="t" r="r" b="b"/>
            <a:pathLst>
              <a:path w="6891081" h="1198051">
                <a:moveTo>
                  <a:pt x="45730" y="0"/>
                </a:moveTo>
                <a:lnTo>
                  <a:pt x="6845351" y="0"/>
                </a:lnTo>
                <a:cubicBezTo>
                  <a:pt x="6870607" y="0"/>
                  <a:pt x="6891081" y="20474"/>
                  <a:pt x="6891081" y="45730"/>
                </a:cubicBezTo>
                <a:lnTo>
                  <a:pt x="6891081" y="1152322"/>
                </a:lnTo>
                <a:cubicBezTo>
                  <a:pt x="6891081" y="1177577"/>
                  <a:pt x="6870607" y="1198051"/>
                  <a:pt x="6845351" y="1198051"/>
                </a:cubicBezTo>
                <a:lnTo>
                  <a:pt x="45730" y="1198051"/>
                </a:lnTo>
                <a:cubicBezTo>
                  <a:pt x="20474" y="1198051"/>
                  <a:pt x="0" y="1177577"/>
                  <a:pt x="0" y="1152322"/>
                </a:cubicBezTo>
                <a:lnTo>
                  <a:pt x="0" y="45730"/>
                </a:lnTo>
                <a:cubicBezTo>
                  <a:pt x="0" y="20474"/>
                  <a:pt x="20474" y="0"/>
                  <a:pt x="45730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24196" y="7233893"/>
            <a:ext cx="6607572" cy="823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Разработка собственной системы позволяет получить продукт, максимально адаптированный под специфику компании, избегая избыточного функционала и высокой стоимости лицензирования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788" y="465788"/>
            <a:ext cx="1541758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7" b="1" kern="0" spc="7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ВВЕДЕНИЕ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5788" y="838418"/>
            <a:ext cx="15534029" cy="46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01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Объект, предмет и цель исследования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5788" y="1443943"/>
            <a:ext cx="1117891" cy="46579"/>
          </a:xfrm>
          <a:custGeom>
            <a:avLst/>
            <a:gdLst/>
            <a:ahLst/>
            <a:cxnLst/>
            <a:rect l="l" t="t" r="r" b="b"/>
            <a:pathLst>
              <a:path w="1117891" h="46579">
                <a:moveTo>
                  <a:pt x="0" y="0"/>
                </a:moveTo>
                <a:lnTo>
                  <a:pt x="1117891" y="0"/>
                </a:lnTo>
                <a:lnTo>
                  <a:pt x="1117891" y="46579"/>
                </a:lnTo>
                <a:lnTo>
                  <a:pt x="0" y="46579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65788" y="1793284"/>
            <a:ext cx="4925708" cy="4145513"/>
          </a:xfrm>
          <a:custGeom>
            <a:avLst/>
            <a:gdLst/>
            <a:ahLst/>
            <a:cxnLst/>
            <a:rect l="l" t="t" r="r" b="b"/>
            <a:pathLst>
              <a:path w="4925708" h="4145513">
                <a:moveTo>
                  <a:pt x="46579" y="0"/>
                </a:moveTo>
                <a:lnTo>
                  <a:pt x="4879129" y="0"/>
                </a:lnTo>
                <a:cubicBezTo>
                  <a:pt x="4904854" y="0"/>
                  <a:pt x="4925708" y="20854"/>
                  <a:pt x="4925708" y="46579"/>
                </a:cubicBezTo>
                <a:lnTo>
                  <a:pt x="4925708" y="4052363"/>
                </a:lnTo>
                <a:cubicBezTo>
                  <a:pt x="4925708" y="4103808"/>
                  <a:pt x="4884003" y="4145513"/>
                  <a:pt x="4832558" y="4145513"/>
                </a:cubicBezTo>
                <a:lnTo>
                  <a:pt x="93150" y="4145513"/>
                </a:lnTo>
                <a:cubicBezTo>
                  <a:pt x="41705" y="4145513"/>
                  <a:pt x="0" y="4103808"/>
                  <a:pt x="0" y="4052363"/>
                </a:cubicBezTo>
                <a:lnTo>
                  <a:pt x="0" y="46579"/>
                </a:lnTo>
                <a:cubicBezTo>
                  <a:pt x="0" y="20854"/>
                  <a:pt x="20854" y="0"/>
                  <a:pt x="46579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65788" y="1793284"/>
            <a:ext cx="4925708" cy="46579"/>
          </a:xfrm>
          <a:custGeom>
            <a:avLst/>
            <a:gdLst/>
            <a:ahLst/>
            <a:cxnLst/>
            <a:rect l="l" t="t" r="r" b="b"/>
            <a:pathLst>
              <a:path w="4925708" h="46579">
                <a:moveTo>
                  <a:pt x="46579" y="0"/>
                </a:moveTo>
                <a:lnTo>
                  <a:pt x="4879129" y="0"/>
                </a:lnTo>
                <a:cubicBezTo>
                  <a:pt x="4904854" y="0"/>
                  <a:pt x="4925708" y="20854"/>
                  <a:pt x="4925708" y="46579"/>
                </a:cubicBezTo>
                <a:lnTo>
                  <a:pt x="4925708" y="46579"/>
                </a:lnTo>
                <a:lnTo>
                  <a:pt x="0" y="46579"/>
                </a:lnTo>
                <a:lnTo>
                  <a:pt x="0" y="46579"/>
                </a:lnTo>
                <a:cubicBezTo>
                  <a:pt x="0" y="20854"/>
                  <a:pt x="20854" y="0"/>
                  <a:pt x="46579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745261" y="2096046"/>
            <a:ext cx="652103" cy="652103"/>
          </a:xfrm>
          <a:custGeom>
            <a:avLst/>
            <a:gdLst/>
            <a:ahLst/>
            <a:cxnLst/>
            <a:rect l="l" t="t" r="r" b="b"/>
            <a:pathLst>
              <a:path w="652103" h="652103">
                <a:moveTo>
                  <a:pt x="326052" y="0"/>
                </a:moveTo>
                <a:lnTo>
                  <a:pt x="326052" y="0"/>
                </a:lnTo>
                <a:cubicBezTo>
                  <a:pt x="506004" y="0"/>
                  <a:pt x="652103" y="146099"/>
                  <a:pt x="652103" y="326052"/>
                </a:cubicBezTo>
                <a:lnTo>
                  <a:pt x="652103" y="326052"/>
                </a:lnTo>
                <a:cubicBezTo>
                  <a:pt x="652103" y="506004"/>
                  <a:pt x="506004" y="652103"/>
                  <a:pt x="326052" y="652103"/>
                </a:cubicBezTo>
                <a:lnTo>
                  <a:pt x="326052" y="652103"/>
                </a:lnTo>
                <a:cubicBezTo>
                  <a:pt x="146099" y="652103"/>
                  <a:pt x="0" y="506004"/>
                  <a:pt x="0" y="326052"/>
                </a:cubicBezTo>
                <a:lnTo>
                  <a:pt x="0" y="326052"/>
                </a:lnTo>
                <a:cubicBezTo>
                  <a:pt x="0" y="146099"/>
                  <a:pt x="146099" y="0"/>
                  <a:pt x="326052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Shape 6"/>
          <p:cNvSpPr/>
          <p:nvPr/>
        </p:nvSpPr>
        <p:spPr>
          <a:xfrm>
            <a:off x="943221" y="2247427"/>
            <a:ext cx="262006" cy="349341"/>
          </a:xfrm>
          <a:custGeom>
            <a:avLst/>
            <a:gdLst/>
            <a:ahLst/>
            <a:cxnLst/>
            <a:rect l="l" t="t" r="r" b="b"/>
            <a:pathLst>
              <a:path w="262006" h="349341">
                <a:moveTo>
                  <a:pt x="43668" y="0"/>
                </a:moveTo>
                <a:cubicBezTo>
                  <a:pt x="19582" y="0"/>
                  <a:pt x="0" y="19582"/>
                  <a:pt x="0" y="43668"/>
                </a:cubicBezTo>
                <a:lnTo>
                  <a:pt x="0" y="305673"/>
                </a:lnTo>
                <a:cubicBezTo>
                  <a:pt x="0" y="329759"/>
                  <a:pt x="19582" y="349341"/>
                  <a:pt x="43668" y="349341"/>
                </a:cubicBezTo>
                <a:lnTo>
                  <a:pt x="218338" y="349341"/>
                </a:lnTo>
                <a:cubicBezTo>
                  <a:pt x="242424" y="349341"/>
                  <a:pt x="262006" y="329759"/>
                  <a:pt x="262006" y="305673"/>
                </a:cubicBezTo>
                <a:lnTo>
                  <a:pt x="262006" y="43668"/>
                </a:lnTo>
                <a:cubicBezTo>
                  <a:pt x="262006" y="19582"/>
                  <a:pt x="242424" y="0"/>
                  <a:pt x="218338" y="0"/>
                </a:cubicBezTo>
                <a:lnTo>
                  <a:pt x="43668" y="0"/>
                </a:lnTo>
                <a:close/>
                <a:moveTo>
                  <a:pt x="120086" y="240172"/>
                </a:moveTo>
                <a:lnTo>
                  <a:pt x="141920" y="240172"/>
                </a:lnTo>
                <a:cubicBezTo>
                  <a:pt x="153997" y="240172"/>
                  <a:pt x="163754" y="249929"/>
                  <a:pt x="163754" y="262006"/>
                </a:cubicBezTo>
                <a:lnTo>
                  <a:pt x="163754" y="316590"/>
                </a:lnTo>
                <a:lnTo>
                  <a:pt x="98252" y="316590"/>
                </a:lnTo>
                <a:lnTo>
                  <a:pt x="98252" y="262006"/>
                </a:lnTo>
                <a:cubicBezTo>
                  <a:pt x="98252" y="249929"/>
                  <a:pt x="108009" y="240172"/>
                  <a:pt x="120086" y="240172"/>
                </a:cubicBezTo>
                <a:close/>
                <a:moveTo>
                  <a:pt x="65501" y="76418"/>
                </a:moveTo>
                <a:cubicBezTo>
                  <a:pt x="65501" y="70414"/>
                  <a:pt x="70414" y="65501"/>
                  <a:pt x="76418" y="65501"/>
                </a:cubicBezTo>
                <a:lnTo>
                  <a:pt x="98252" y="65501"/>
                </a:lnTo>
                <a:cubicBezTo>
                  <a:pt x="104256" y="65501"/>
                  <a:pt x="109169" y="70414"/>
                  <a:pt x="109169" y="76418"/>
                </a:cubicBezTo>
                <a:lnTo>
                  <a:pt x="109169" y="98252"/>
                </a:lnTo>
                <a:cubicBezTo>
                  <a:pt x="109169" y="104256"/>
                  <a:pt x="104256" y="109169"/>
                  <a:pt x="98252" y="109169"/>
                </a:cubicBezTo>
                <a:lnTo>
                  <a:pt x="76418" y="109169"/>
                </a:lnTo>
                <a:cubicBezTo>
                  <a:pt x="70414" y="109169"/>
                  <a:pt x="65501" y="104256"/>
                  <a:pt x="65501" y="98252"/>
                </a:cubicBezTo>
                <a:lnTo>
                  <a:pt x="65501" y="76418"/>
                </a:lnTo>
                <a:close/>
                <a:moveTo>
                  <a:pt x="163754" y="65501"/>
                </a:moveTo>
                <a:lnTo>
                  <a:pt x="185587" y="65501"/>
                </a:lnTo>
                <a:cubicBezTo>
                  <a:pt x="191592" y="65501"/>
                  <a:pt x="196504" y="70414"/>
                  <a:pt x="196504" y="76418"/>
                </a:cubicBezTo>
                <a:lnTo>
                  <a:pt x="196504" y="98252"/>
                </a:lnTo>
                <a:cubicBezTo>
                  <a:pt x="196504" y="104256"/>
                  <a:pt x="191592" y="109169"/>
                  <a:pt x="185587" y="109169"/>
                </a:cubicBezTo>
                <a:lnTo>
                  <a:pt x="163754" y="109169"/>
                </a:lnTo>
                <a:cubicBezTo>
                  <a:pt x="157749" y="109169"/>
                  <a:pt x="152837" y="104256"/>
                  <a:pt x="152837" y="98252"/>
                </a:cubicBezTo>
                <a:lnTo>
                  <a:pt x="152837" y="76418"/>
                </a:lnTo>
                <a:cubicBezTo>
                  <a:pt x="152837" y="70414"/>
                  <a:pt x="157749" y="65501"/>
                  <a:pt x="163754" y="65501"/>
                </a:cubicBezTo>
                <a:close/>
                <a:moveTo>
                  <a:pt x="65501" y="163754"/>
                </a:moveTo>
                <a:cubicBezTo>
                  <a:pt x="65501" y="157749"/>
                  <a:pt x="70414" y="152837"/>
                  <a:pt x="76418" y="152837"/>
                </a:cubicBezTo>
                <a:lnTo>
                  <a:pt x="98252" y="152837"/>
                </a:lnTo>
                <a:cubicBezTo>
                  <a:pt x="104256" y="152837"/>
                  <a:pt x="109169" y="157749"/>
                  <a:pt x="109169" y="163754"/>
                </a:cubicBezTo>
                <a:lnTo>
                  <a:pt x="109169" y="185587"/>
                </a:lnTo>
                <a:cubicBezTo>
                  <a:pt x="109169" y="191592"/>
                  <a:pt x="104256" y="196504"/>
                  <a:pt x="98252" y="196504"/>
                </a:cubicBezTo>
                <a:lnTo>
                  <a:pt x="76418" y="196504"/>
                </a:lnTo>
                <a:cubicBezTo>
                  <a:pt x="70414" y="196504"/>
                  <a:pt x="65501" y="191592"/>
                  <a:pt x="65501" y="185587"/>
                </a:cubicBezTo>
                <a:lnTo>
                  <a:pt x="65501" y="163754"/>
                </a:lnTo>
                <a:close/>
                <a:moveTo>
                  <a:pt x="163754" y="152837"/>
                </a:moveTo>
                <a:lnTo>
                  <a:pt x="185587" y="152837"/>
                </a:lnTo>
                <a:cubicBezTo>
                  <a:pt x="191592" y="152837"/>
                  <a:pt x="196504" y="157749"/>
                  <a:pt x="196504" y="163754"/>
                </a:cubicBezTo>
                <a:lnTo>
                  <a:pt x="196504" y="185587"/>
                </a:lnTo>
                <a:cubicBezTo>
                  <a:pt x="196504" y="191592"/>
                  <a:pt x="191592" y="196504"/>
                  <a:pt x="185587" y="196504"/>
                </a:cubicBezTo>
                <a:lnTo>
                  <a:pt x="163754" y="196504"/>
                </a:lnTo>
                <a:cubicBezTo>
                  <a:pt x="157749" y="196504"/>
                  <a:pt x="152837" y="191592"/>
                  <a:pt x="152837" y="185587"/>
                </a:cubicBezTo>
                <a:lnTo>
                  <a:pt x="152837" y="163754"/>
                </a:lnTo>
                <a:cubicBezTo>
                  <a:pt x="152837" y="157749"/>
                  <a:pt x="157749" y="152837"/>
                  <a:pt x="163754" y="15283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537100" y="2235782"/>
            <a:ext cx="1082957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01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Объект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261" y="2934464"/>
            <a:ext cx="4471564" cy="272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50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Процесс внутреннего документооборота предприятия, включающий создание, обработку, согласование и хранение служебной документации в соответствии с требованиями стандартов.</a:t>
            </a:r>
            <a:endParaRPr lang="en-US" sz="1600" b="1" dirty="0"/>
          </a:p>
        </p:txBody>
      </p:sp>
      <p:sp>
        <p:nvSpPr>
          <p:cNvPr id="11" name="Shape 9"/>
          <p:cNvSpPr/>
          <p:nvPr/>
        </p:nvSpPr>
        <p:spPr>
          <a:xfrm>
            <a:off x="5665292" y="1793284"/>
            <a:ext cx="4925708" cy="4145513"/>
          </a:xfrm>
          <a:custGeom>
            <a:avLst/>
            <a:gdLst/>
            <a:ahLst/>
            <a:cxnLst/>
            <a:rect l="l" t="t" r="r" b="b"/>
            <a:pathLst>
              <a:path w="4925708" h="4145513">
                <a:moveTo>
                  <a:pt x="46579" y="0"/>
                </a:moveTo>
                <a:lnTo>
                  <a:pt x="4879129" y="0"/>
                </a:lnTo>
                <a:cubicBezTo>
                  <a:pt x="4904854" y="0"/>
                  <a:pt x="4925708" y="20854"/>
                  <a:pt x="4925708" y="46579"/>
                </a:cubicBezTo>
                <a:lnTo>
                  <a:pt x="4925708" y="4052363"/>
                </a:lnTo>
                <a:cubicBezTo>
                  <a:pt x="4925708" y="4103808"/>
                  <a:pt x="4884003" y="4145513"/>
                  <a:pt x="4832558" y="4145513"/>
                </a:cubicBezTo>
                <a:lnTo>
                  <a:pt x="93150" y="4145513"/>
                </a:lnTo>
                <a:cubicBezTo>
                  <a:pt x="41705" y="4145513"/>
                  <a:pt x="0" y="4103808"/>
                  <a:pt x="0" y="4052363"/>
                </a:cubicBezTo>
                <a:lnTo>
                  <a:pt x="0" y="46579"/>
                </a:lnTo>
                <a:cubicBezTo>
                  <a:pt x="0" y="20854"/>
                  <a:pt x="20854" y="0"/>
                  <a:pt x="46579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665292" y="1793284"/>
            <a:ext cx="4925708" cy="46579"/>
          </a:xfrm>
          <a:custGeom>
            <a:avLst/>
            <a:gdLst/>
            <a:ahLst/>
            <a:cxnLst/>
            <a:rect l="l" t="t" r="r" b="b"/>
            <a:pathLst>
              <a:path w="4925708" h="46579">
                <a:moveTo>
                  <a:pt x="46579" y="0"/>
                </a:moveTo>
                <a:lnTo>
                  <a:pt x="4879129" y="0"/>
                </a:lnTo>
                <a:cubicBezTo>
                  <a:pt x="4904854" y="0"/>
                  <a:pt x="4925708" y="20854"/>
                  <a:pt x="4925708" y="46579"/>
                </a:cubicBezTo>
                <a:lnTo>
                  <a:pt x="4925708" y="46579"/>
                </a:lnTo>
                <a:lnTo>
                  <a:pt x="0" y="46579"/>
                </a:lnTo>
                <a:lnTo>
                  <a:pt x="0" y="46579"/>
                </a:lnTo>
                <a:cubicBezTo>
                  <a:pt x="0" y="20854"/>
                  <a:pt x="20854" y="0"/>
                  <a:pt x="46579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4765" y="2096046"/>
            <a:ext cx="652103" cy="652103"/>
          </a:xfrm>
          <a:custGeom>
            <a:avLst/>
            <a:gdLst/>
            <a:ahLst/>
            <a:cxnLst/>
            <a:rect l="l" t="t" r="r" b="b"/>
            <a:pathLst>
              <a:path w="652103" h="652103">
                <a:moveTo>
                  <a:pt x="326052" y="0"/>
                </a:moveTo>
                <a:lnTo>
                  <a:pt x="326052" y="0"/>
                </a:lnTo>
                <a:cubicBezTo>
                  <a:pt x="506004" y="0"/>
                  <a:pt x="652103" y="146099"/>
                  <a:pt x="652103" y="326052"/>
                </a:cubicBezTo>
                <a:lnTo>
                  <a:pt x="652103" y="326052"/>
                </a:lnTo>
                <a:cubicBezTo>
                  <a:pt x="652103" y="506004"/>
                  <a:pt x="506004" y="652103"/>
                  <a:pt x="326052" y="652103"/>
                </a:cubicBezTo>
                <a:lnTo>
                  <a:pt x="326052" y="652103"/>
                </a:lnTo>
                <a:cubicBezTo>
                  <a:pt x="146099" y="652103"/>
                  <a:pt x="0" y="506004"/>
                  <a:pt x="0" y="326052"/>
                </a:cubicBezTo>
                <a:lnTo>
                  <a:pt x="0" y="326052"/>
                </a:lnTo>
                <a:cubicBezTo>
                  <a:pt x="0" y="146099"/>
                  <a:pt x="146099" y="0"/>
                  <a:pt x="326052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77223" y="2247427"/>
            <a:ext cx="393009" cy="349341"/>
          </a:xfrm>
          <a:custGeom>
            <a:avLst/>
            <a:gdLst/>
            <a:ahLst/>
            <a:cxnLst/>
            <a:rect l="l" t="t" r="r" b="b"/>
            <a:pathLst>
              <a:path w="393009" h="349341">
                <a:moveTo>
                  <a:pt x="246176" y="819"/>
                </a:moveTo>
                <a:cubicBezTo>
                  <a:pt x="234577" y="-2525"/>
                  <a:pt x="222500" y="4230"/>
                  <a:pt x="219157" y="15830"/>
                </a:cubicBezTo>
                <a:lnTo>
                  <a:pt x="131822" y="321503"/>
                </a:lnTo>
                <a:cubicBezTo>
                  <a:pt x="128478" y="333102"/>
                  <a:pt x="135233" y="345179"/>
                  <a:pt x="146832" y="348522"/>
                </a:cubicBezTo>
                <a:cubicBezTo>
                  <a:pt x="158432" y="351866"/>
                  <a:pt x="170508" y="345111"/>
                  <a:pt x="173852" y="333511"/>
                </a:cubicBezTo>
                <a:lnTo>
                  <a:pt x="261187" y="27838"/>
                </a:lnTo>
                <a:cubicBezTo>
                  <a:pt x="264530" y="16239"/>
                  <a:pt x="257775" y="4162"/>
                  <a:pt x="246176" y="819"/>
                </a:cubicBezTo>
                <a:close/>
                <a:moveTo>
                  <a:pt x="290253" y="93681"/>
                </a:moveTo>
                <a:cubicBezTo>
                  <a:pt x="281724" y="102210"/>
                  <a:pt x="281724" y="116060"/>
                  <a:pt x="290253" y="124589"/>
                </a:cubicBezTo>
                <a:lnTo>
                  <a:pt x="340335" y="174670"/>
                </a:lnTo>
                <a:lnTo>
                  <a:pt x="290253" y="224752"/>
                </a:lnTo>
                <a:cubicBezTo>
                  <a:pt x="281724" y="233281"/>
                  <a:pt x="281724" y="247131"/>
                  <a:pt x="290253" y="255660"/>
                </a:cubicBezTo>
                <a:cubicBezTo>
                  <a:pt x="298782" y="264189"/>
                  <a:pt x="312633" y="264189"/>
                  <a:pt x="321162" y="255660"/>
                </a:cubicBezTo>
                <a:lnTo>
                  <a:pt x="386663" y="190159"/>
                </a:lnTo>
                <a:cubicBezTo>
                  <a:pt x="395192" y="181630"/>
                  <a:pt x="395192" y="167779"/>
                  <a:pt x="386663" y="159250"/>
                </a:cubicBezTo>
                <a:lnTo>
                  <a:pt x="321162" y="93749"/>
                </a:lnTo>
                <a:cubicBezTo>
                  <a:pt x="312633" y="85220"/>
                  <a:pt x="298782" y="85220"/>
                  <a:pt x="290253" y="93749"/>
                </a:cubicBezTo>
                <a:close/>
                <a:moveTo>
                  <a:pt x="102824" y="93681"/>
                </a:moveTo>
                <a:cubicBezTo>
                  <a:pt x="94295" y="85152"/>
                  <a:pt x="80444" y="85152"/>
                  <a:pt x="71915" y="93681"/>
                </a:cubicBezTo>
                <a:lnTo>
                  <a:pt x="6414" y="159182"/>
                </a:lnTo>
                <a:cubicBezTo>
                  <a:pt x="-2115" y="167711"/>
                  <a:pt x="-2115" y="181562"/>
                  <a:pt x="6414" y="190091"/>
                </a:cubicBezTo>
                <a:lnTo>
                  <a:pt x="71915" y="255592"/>
                </a:lnTo>
                <a:cubicBezTo>
                  <a:pt x="80444" y="264121"/>
                  <a:pt x="94295" y="264121"/>
                  <a:pt x="102824" y="255592"/>
                </a:cubicBezTo>
                <a:cubicBezTo>
                  <a:pt x="111352" y="247063"/>
                  <a:pt x="111352" y="233212"/>
                  <a:pt x="102824" y="224684"/>
                </a:cubicBezTo>
                <a:lnTo>
                  <a:pt x="52742" y="174670"/>
                </a:lnTo>
                <a:lnTo>
                  <a:pt x="102755" y="124589"/>
                </a:lnTo>
                <a:cubicBezTo>
                  <a:pt x="111284" y="116060"/>
                  <a:pt x="111284" y="102210"/>
                  <a:pt x="102755" y="93681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5" name="Text 13"/>
          <p:cNvSpPr/>
          <p:nvPr/>
        </p:nvSpPr>
        <p:spPr>
          <a:xfrm>
            <a:off x="6736604" y="2235782"/>
            <a:ext cx="1292562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01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Предмет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4765" y="2934464"/>
            <a:ext cx="4471564" cy="272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50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Программные средства и технологии разработки веб-приложений для автоматизации процессов управления документами, включая языки программирования, фреймворки и СУБД.</a:t>
            </a:r>
            <a:endParaRPr lang="en-US" sz="1600" b="1" dirty="0"/>
          </a:p>
        </p:txBody>
      </p:sp>
      <p:sp>
        <p:nvSpPr>
          <p:cNvPr id="17" name="Shape 15"/>
          <p:cNvSpPr/>
          <p:nvPr/>
        </p:nvSpPr>
        <p:spPr>
          <a:xfrm>
            <a:off x="10864796" y="1793284"/>
            <a:ext cx="4925708" cy="4145513"/>
          </a:xfrm>
          <a:custGeom>
            <a:avLst/>
            <a:gdLst/>
            <a:ahLst/>
            <a:cxnLst/>
            <a:rect l="l" t="t" r="r" b="b"/>
            <a:pathLst>
              <a:path w="4925708" h="4145513">
                <a:moveTo>
                  <a:pt x="46579" y="0"/>
                </a:moveTo>
                <a:lnTo>
                  <a:pt x="4879129" y="0"/>
                </a:lnTo>
                <a:cubicBezTo>
                  <a:pt x="4904854" y="0"/>
                  <a:pt x="4925708" y="20854"/>
                  <a:pt x="4925708" y="46579"/>
                </a:cubicBezTo>
                <a:lnTo>
                  <a:pt x="4925708" y="4052363"/>
                </a:lnTo>
                <a:cubicBezTo>
                  <a:pt x="4925708" y="4103808"/>
                  <a:pt x="4884003" y="4145513"/>
                  <a:pt x="4832558" y="4145513"/>
                </a:cubicBezTo>
                <a:lnTo>
                  <a:pt x="93150" y="4145513"/>
                </a:lnTo>
                <a:cubicBezTo>
                  <a:pt x="41705" y="4145513"/>
                  <a:pt x="0" y="4103808"/>
                  <a:pt x="0" y="4052363"/>
                </a:cubicBezTo>
                <a:lnTo>
                  <a:pt x="0" y="46579"/>
                </a:lnTo>
                <a:cubicBezTo>
                  <a:pt x="0" y="20854"/>
                  <a:pt x="20854" y="0"/>
                  <a:pt x="46579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864796" y="1793284"/>
            <a:ext cx="4925708" cy="46579"/>
          </a:xfrm>
          <a:custGeom>
            <a:avLst/>
            <a:gdLst/>
            <a:ahLst/>
            <a:cxnLst/>
            <a:rect l="l" t="t" r="r" b="b"/>
            <a:pathLst>
              <a:path w="4925708" h="46579">
                <a:moveTo>
                  <a:pt x="46579" y="0"/>
                </a:moveTo>
                <a:lnTo>
                  <a:pt x="4879129" y="0"/>
                </a:lnTo>
                <a:cubicBezTo>
                  <a:pt x="4904854" y="0"/>
                  <a:pt x="4925708" y="20854"/>
                  <a:pt x="4925708" y="46579"/>
                </a:cubicBezTo>
                <a:lnTo>
                  <a:pt x="4925708" y="46579"/>
                </a:lnTo>
                <a:lnTo>
                  <a:pt x="0" y="46579"/>
                </a:lnTo>
                <a:lnTo>
                  <a:pt x="0" y="46579"/>
                </a:lnTo>
                <a:cubicBezTo>
                  <a:pt x="0" y="20854"/>
                  <a:pt x="20854" y="0"/>
                  <a:pt x="46579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44268" y="2096046"/>
            <a:ext cx="652103" cy="652103"/>
          </a:xfrm>
          <a:custGeom>
            <a:avLst/>
            <a:gdLst/>
            <a:ahLst/>
            <a:cxnLst/>
            <a:rect l="l" t="t" r="r" b="b"/>
            <a:pathLst>
              <a:path w="652103" h="652103">
                <a:moveTo>
                  <a:pt x="326052" y="0"/>
                </a:moveTo>
                <a:lnTo>
                  <a:pt x="326052" y="0"/>
                </a:lnTo>
                <a:cubicBezTo>
                  <a:pt x="506004" y="0"/>
                  <a:pt x="652103" y="146099"/>
                  <a:pt x="652103" y="326052"/>
                </a:cubicBezTo>
                <a:lnTo>
                  <a:pt x="652103" y="326052"/>
                </a:lnTo>
                <a:cubicBezTo>
                  <a:pt x="652103" y="506004"/>
                  <a:pt x="506004" y="652103"/>
                  <a:pt x="326052" y="652103"/>
                </a:cubicBezTo>
                <a:lnTo>
                  <a:pt x="326052" y="652103"/>
                </a:lnTo>
                <a:cubicBezTo>
                  <a:pt x="146099" y="652103"/>
                  <a:pt x="0" y="506004"/>
                  <a:pt x="0" y="326052"/>
                </a:cubicBezTo>
                <a:lnTo>
                  <a:pt x="0" y="326052"/>
                </a:lnTo>
                <a:cubicBezTo>
                  <a:pt x="0" y="146099"/>
                  <a:pt x="146099" y="0"/>
                  <a:pt x="326052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298561" y="2247427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305673" y="174670"/>
                </a:moveTo>
                <a:cubicBezTo>
                  <a:pt x="305673" y="102368"/>
                  <a:pt x="246973" y="43668"/>
                  <a:pt x="174670" y="43668"/>
                </a:cubicBezTo>
                <a:cubicBezTo>
                  <a:pt x="102368" y="43668"/>
                  <a:pt x="43668" y="102368"/>
                  <a:pt x="43668" y="174670"/>
                </a:cubicBezTo>
                <a:cubicBezTo>
                  <a:pt x="43668" y="246973"/>
                  <a:pt x="102368" y="305673"/>
                  <a:pt x="174670" y="305673"/>
                </a:cubicBezTo>
                <a:cubicBezTo>
                  <a:pt x="246973" y="305673"/>
                  <a:pt x="305673" y="246973"/>
                  <a:pt x="305673" y="174670"/>
                </a:cubicBezTo>
                <a:close/>
                <a:moveTo>
                  <a:pt x="0" y="174670"/>
                </a:moveTo>
                <a:cubicBezTo>
                  <a:pt x="0" y="78267"/>
                  <a:pt x="78267" y="0"/>
                  <a:pt x="174670" y="0"/>
                </a:cubicBezTo>
                <a:cubicBezTo>
                  <a:pt x="271074" y="0"/>
                  <a:pt x="349341" y="78267"/>
                  <a:pt x="349341" y="174670"/>
                </a:cubicBezTo>
                <a:cubicBezTo>
                  <a:pt x="349341" y="271074"/>
                  <a:pt x="271074" y="349341"/>
                  <a:pt x="174670" y="349341"/>
                </a:cubicBezTo>
                <a:cubicBezTo>
                  <a:pt x="78267" y="349341"/>
                  <a:pt x="0" y="271074"/>
                  <a:pt x="0" y="174670"/>
                </a:cubicBezTo>
                <a:close/>
                <a:moveTo>
                  <a:pt x="174670" y="229255"/>
                </a:moveTo>
                <a:cubicBezTo>
                  <a:pt x="204797" y="229255"/>
                  <a:pt x="229255" y="204797"/>
                  <a:pt x="229255" y="174670"/>
                </a:cubicBezTo>
                <a:cubicBezTo>
                  <a:pt x="229255" y="144544"/>
                  <a:pt x="204797" y="120086"/>
                  <a:pt x="174670" y="120086"/>
                </a:cubicBezTo>
                <a:cubicBezTo>
                  <a:pt x="144544" y="120086"/>
                  <a:pt x="120086" y="144544"/>
                  <a:pt x="120086" y="174670"/>
                </a:cubicBezTo>
                <a:cubicBezTo>
                  <a:pt x="120086" y="204797"/>
                  <a:pt x="144544" y="229255"/>
                  <a:pt x="174670" y="229255"/>
                </a:cubicBezTo>
                <a:close/>
                <a:moveTo>
                  <a:pt x="174670" y="76418"/>
                </a:moveTo>
                <a:cubicBezTo>
                  <a:pt x="228897" y="76418"/>
                  <a:pt x="272923" y="120444"/>
                  <a:pt x="272923" y="174670"/>
                </a:cubicBezTo>
                <a:cubicBezTo>
                  <a:pt x="272923" y="228897"/>
                  <a:pt x="228897" y="272923"/>
                  <a:pt x="174670" y="272923"/>
                </a:cubicBezTo>
                <a:cubicBezTo>
                  <a:pt x="120444" y="272923"/>
                  <a:pt x="76418" y="228897"/>
                  <a:pt x="76418" y="174670"/>
                </a:cubicBezTo>
                <a:cubicBezTo>
                  <a:pt x="76418" y="120444"/>
                  <a:pt x="120444" y="76418"/>
                  <a:pt x="174670" y="76418"/>
                </a:cubicBezTo>
                <a:close/>
                <a:moveTo>
                  <a:pt x="152837" y="174670"/>
                </a:moveTo>
                <a:cubicBezTo>
                  <a:pt x="152837" y="162620"/>
                  <a:pt x="162620" y="152837"/>
                  <a:pt x="174670" y="152837"/>
                </a:cubicBezTo>
                <a:cubicBezTo>
                  <a:pt x="186721" y="152837"/>
                  <a:pt x="196504" y="162620"/>
                  <a:pt x="196504" y="174670"/>
                </a:cubicBezTo>
                <a:cubicBezTo>
                  <a:pt x="196504" y="186721"/>
                  <a:pt x="186721" y="196504"/>
                  <a:pt x="174670" y="196504"/>
                </a:cubicBezTo>
                <a:cubicBezTo>
                  <a:pt x="162620" y="196504"/>
                  <a:pt x="152837" y="186721"/>
                  <a:pt x="152837" y="17467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1936108" y="2235782"/>
            <a:ext cx="780195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01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44268" y="2934464"/>
            <a:ext cx="4471564" cy="272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Спроектировать и реализовать веб-приложение для организации внутреннего документооборота компании, обеспечивающего повышение эффективности работы с документами за счёт автоматизации рутинных операций.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9077" y="6214923"/>
            <a:ext cx="15301135" cy="2692594"/>
          </a:xfrm>
          <a:custGeom>
            <a:avLst/>
            <a:gdLst/>
            <a:ahLst/>
            <a:cxnLst/>
            <a:rect l="l" t="t" r="r" b="b"/>
            <a:pathLst>
              <a:path w="15301135" h="2835900">
                <a:moveTo>
                  <a:pt x="46579" y="0"/>
                </a:moveTo>
                <a:lnTo>
                  <a:pt x="15207977" y="0"/>
                </a:lnTo>
                <a:cubicBezTo>
                  <a:pt x="15259427" y="0"/>
                  <a:pt x="15301135" y="39677"/>
                  <a:pt x="15301135" y="88622"/>
                </a:cubicBezTo>
                <a:lnTo>
                  <a:pt x="15301135" y="2747278"/>
                </a:lnTo>
                <a:cubicBezTo>
                  <a:pt x="15301135" y="2796223"/>
                  <a:pt x="15259427" y="2835900"/>
                  <a:pt x="15207977" y="2835900"/>
                </a:cubicBezTo>
                <a:lnTo>
                  <a:pt x="46579" y="2835900"/>
                </a:lnTo>
                <a:cubicBezTo>
                  <a:pt x="20854" y="2835900"/>
                  <a:pt x="0" y="2816061"/>
                  <a:pt x="0" y="2791589"/>
                </a:cubicBezTo>
                <a:lnTo>
                  <a:pt x="0" y="44311"/>
                </a:lnTo>
                <a:cubicBezTo>
                  <a:pt x="0" y="19839"/>
                  <a:pt x="20854" y="0"/>
                  <a:pt x="46579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9077" y="6214923"/>
            <a:ext cx="46579" cy="2692594"/>
          </a:xfrm>
          <a:custGeom>
            <a:avLst/>
            <a:gdLst/>
            <a:ahLst/>
            <a:cxnLst/>
            <a:rect l="l" t="t" r="r" b="b"/>
            <a:pathLst>
              <a:path w="46579" h="2835900">
                <a:moveTo>
                  <a:pt x="46579" y="0"/>
                </a:moveTo>
                <a:lnTo>
                  <a:pt x="46579" y="0"/>
                </a:lnTo>
                <a:lnTo>
                  <a:pt x="46579" y="2835900"/>
                </a:lnTo>
                <a:lnTo>
                  <a:pt x="46579" y="2835900"/>
                </a:lnTo>
                <a:cubicBezTo>
                  <a:pt x="20854" y="2835900"/>
                  <a:pt x="0" y="2816061"/>
                  <a:pt x="0" y="2791589"/>
                </a:cubicBezTo>
                <a:lnTo>
                  <a:pt x="0" y="44311"/>
                </a:lnTo>
                <a:cubicBezTo>
                  <a:pt x="0" y="19839"/>
                  <a:pt x="20854" y="0"/>
                  <a:pt x="46579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26774" y="6451495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73034" y="19814"/>
                </a:moveTo>
                <a:cubicBezTo>
                  <a:pt x="78984" y="23963"/>
                  <a:pt x="80403" y="32150"/>
                  <a:pt x="76255" y="38045"/>
                </a:cubicBezTo>
                <a:lnTo>
                  <a:pt x="45687" y="81713"/>
                </a:lnTo>
                <a:cubicBezTo>
                  <a:pt x="43449" y="84879"/>
                  <a:pt x="39956" y="86899"/>
                  <a:pt x="36080" y="87226"/>
                </a:cubicBezTo>
                <a:cubicBezTo>
                  <a:pt x="32205" y="87554"/>
                  <a:pt x="28384" y="86244"/>
                  <a:pt x="25655" y="83514"/>
                </a:cubicBezTo>
                <a:lnTo>
                  <a:pt x="3821" y="61681"/>
                </a:lnTo>
                <a:cubicBezTo>
                  <a:pt x="-1255" y="56550"/>
                  <a:pt x="-1255" y="48253"/>
                  <a:pt x="3821" y="43122"/>
                </a:cubicBezTo>
                <a:cubicBezTo>
                  <a:pt x="8897" y="37991"/>
                  <a:pt x="17249" y="38045"/>
                  <a:pt x="22380" y="43122"/>
                </a:cubicBezTo>
                <a:lnTo>
                  <a:pt x="33187" y="53930"/>
                </a:lnTo>
                <a:lnTo>
                  <a:pt x="54803" y="23035"/>
                </a:lnTo>
                <a:cubicBezTo>
                  <a:pt x="58951" y="17085"/>
                  <a:pt x="67139" y="15666"/>
                  <a:pt x="73034" y="19814"/>
                </a:cubicBezTo>
                <a:close/>
                <a:moveTo>
                  <a:pt x="73034" y="107149"/>
                </a:moveTo>
                <a:cubicBezTo>
                  <a:pt x="78984" y="111298"/>
                  <a:pt x="80403" y="119486"/>
                  <a:pt x="76255" y="125381"/>
                </a:cubicBezTo>
                <a:lnTo>
                  <a:pt x="45687" y="169048"/>
                </a:lnTo>
                <a:cubicBezTo>
                  <a:pt x="43449" y="172214"/>
                  <a:pt x="39956" y="174234"/>
                  <a:pt x="36080" y="174561"/>
                </a:cubicBezTo>
                <a:cubicBezTo>
                  <a:pt x="32205" y="174889"/>
                  <a:pt x="28384" y="173579"/>
                  <a:pt x="25655" y="170850"/>
                </a:cubicBezTo>
                <a:lnTo>
                  <a:pt x="3821" y="149016"/>
                </a:lnTo>
                <a:cubicBezTo>
                  <a:pt x="-1310" y="143885"/>
                  <a:pt x="-1310" y="135588"/>
                  <a:pt x="3821" y="130512"/>
                </a:cubicBezTo>
                <a:cubicBezTo>
                  <a:pt x="8952" y="125435"/>
                  <a:pt x="17249" y="125381"/>
                  <a:pt x="22325" y="130512"/>
                </a:cubicBezTo>
                <a:lnTo>
                  <a:pt x="33133" y="141319"/>
                </a:lnTo>
                <a:lnTo>
                  <a:pt x="54748" y="110424"/>
                </a:lnTo>
                <a:cubicBezTo>
                  <a:pt x="58897" y="104475"/>
                  <a:pt x="67084" y="103056"/>
                  <a:pt x="72980" y="107204"/>
                </a:cubicBezTo>
                <a:close/>
                <a:moveTo>
                  <a:pt x="122269" y="52401"/>
                </a:moveTo>
                <a:cubicBezTo>
                  <a:pt x="122269" y="42740"/>
                  <a:pt x="130075" y="34934"/>
                  <a:pt x="139736" y="34934"/>
                </a:cubicBezTo>
                <a:lnTo>
                  <a:pt x="262006" y="34934"/>
                </a:lnTo>
                <a:cubicBezTo>
                  <a:pt x="271667" y="34934"/>
                  <a:pt x="279473" y="42740"/>
                  <a:pt x="279473" y="52401"/>
                </a:cubicBezTo>
                <a:cubicBezTo>
                  <a:pt x="279473" y="62063"/>
                  <a:pt x="271667" y="69868"/>
                  <a:pt x="262006" y="69868"/>
                </a:cubicBezTo>
                <a:lnTo>
                  <a:pt x="139736" y="69868"/>
                </a:lnTo>
                <a:cubicBezTo>
                  <a:pt x="130075" y="69868"/>
                  <a:pt x="122269" y="62063"/>
                  <a:pt x="122269" y="52401"/>
                </a:cubicBezTo>
                <a:close/>
                <a:moveTo>
                  <a:pt x="122269" y="139736"/>
                </a:moveTo>
                <a:cubicBezTo>
                  <a:pt x="122269" y="130075"/>
                  <a:pt x="130075" y="122269"/>
                  <a:pt x="139736" y="122269"/>
                </a:cubicBezTo>
                <a:lnTo>
                  <a:pt x="262006" y="122269"/>
                </a:lnTo>
                <a:cubicBezTo>
                  <a:pt x="271667" y="122269"/>
                  <a:pt x="279473" y="130075"/>
                  <a:pt x="279473" y="139736"/>
                </a:cubicBezTo>
                <a:cubicBezTo>
                  <a:pt x="279473" y="149398"/>
                  <a:pt x="271667" y="157203"/>
                  <a:pt x="262006" y="157203"/>
                </a:cubicBezTo>
                <a:lnTo>
                  <a:pt x="139736" y="157203"/>
                </a:lnTo>
                <a:cubicBezTo>
                  <a:pt x="130075" y="157203"/>
                  <a:pt x="122269" y="149398"/>
                  <a:pt x="122269" y="139736"/>
                </a:cubicBezTo>
                <a:close/>
                <a:moveTo>
                  <a:pt x="87335" y="227072"/>
                </a:moveTo>
                <a:cubicBezTo>
                  <a:pt x="87335" y="217410"/>
                  <a:pt x="95141" y="209605"/>
                  <a:pt x="104802" y="209605"/>
                </a:cubicBezTo>
                <a:lnTo>
                  <a:pt x="262006" y="209605"/>
                </a:lnTo>
                <a:cubicBezTo>
                  <a:pt x="271667" y="209605"/>
                  <a:pt x="279473" y="217410"/>
                  <a:pt x="279473" y="227072"/>
                </a:cubicBezTo>
                <a:cubicBezTo>
                  <a:pt x="279473" y="236733"/>
                  <a:pt x="271667" y="244539"/>
                  <a:pt x="262006" y="244539"/>
                </a:cubicBezTo>
                <a:lnTo>
                  <a:pt x="104802" y="244539"/>
                </a:lnTo>
                <a:cubicBezTo>
                  <a:pt x="95141" y="244539"/>
                  <a:pt x="87335" y="236733"/>
                  <a:pt x="87335" y="227072"/>
                </a:cubicBezTo>
                <a:close/>
                <a:moveTo>
                  <a:pt x="34934" y="205238"/>
                </a:moveTo>
                <a:cubicBezTo>
                  <a:pt x="46985" y="205238"/>
                  <a:pt x="56768" y="215021"/>
                  <a:pt x="56768" y="227072"/>
                </a:cubicBezTo>
                <a:cubicBezTo>
                  <a:pt x="56768" y="239122"/>
                  <a:pt x="46985" y="248905"/>
                  <a:pt x="34934" y="248905"/>
                </a:cubicBezTo>
                <a:cubicBezTo>
                  <a:pt x="22884" y="248905"/>
                  <a:pt x="13100" y="239122"/>
                  <a:pt x="13100" y="227072"/>
                </a:cubicBezTo>
                <a:cubicBezTo>
                  <a:pt x="13100" y="215021"/>
                  <a:pt x="22884" y="205238"/>
                  <a:pt x="34934" y="205238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1141181" y="6405061"/>
            <a:ext cx="14509295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01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Задачи исследования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1840" y="6926360"/>
            <a:ext cx="372630" cy="372630"/>
          </a:xfrm>
          <a:custGeom>
            <a:avLst/>
            <a:gdLst/>
            <a:ahLst/>
            <a:cxnLst/>
            <a:rect l="l" t="t" r="r" b="b"/>
            <a:pathLst>
              <a:path w="372630" h="372630">
                <a:moveTo>
                  <a:pt x="186315" y="0"/>
                </a:moveTo>
                <a:lnTo>
                  <a:pt x="186315" y="0"/>
                </a:lnTo>
                <a:cubicBezTo>
                  <a:pt x="289214" y="0"/>
                  <a:pt x="372630" y="83416"/>
                  <a:pt x="372630" y="186315"/>
                </a:cubicBezTo>
                <a:lnTo>
                  <a:pt x="372630" y="186315"/>
                </a:lnTo>
                <a:cubicBezTo>
                  <a:pt x="372630" y="289214"/>
                  <a:pt x="289214" y="372630"/>
                  <a:pt x="186315" y="372630"/>
                </a:cubicBezTo>
                <a:lnTo>
                  <a:pt x="186315" y="372630"/>
                </a:lnTo>
                <a:cubicBezTo>
                  <a:pt x="83416" y="372630"/>
                  <a:pt x="0" y="289214"/>
                  <a:pt x="0" y="186315"/>
                </a:cubicBezTo>
                <a:lnTo>
                  <a:pt x="0" y="186315"/>
                </a:lnTo>
                <a:cubicBezTo>
                  <a:pt x="0" y="83416"/>
                  <a:pt x="83416" y="0"/>
                  <a:pt x="18631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61" y="6926360"/>
            <a:ext cx="465788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4206" y="6926360"/>
            <a:ext cx="4366762" cy="838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Провести анализ предметной области и выявить основные проблемы существующей организации документооборота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1840" y="7904515"/>
            <a:ext cx="372630" cy="372630"/>
          </a:xfrm>
          <a:custGeom>
            <a:avLst/>
            <a:gdLst/>
            <a:ahLst/>
            <a:cxnLst/>
            <a:rect l="l" t="t" r="r" b="b"/>
            <a:pathLst>
              <a:path w="372630" h="372630">
                <a:moveTo>
                  <a:pt x="186315" y="0"/>
                </a:moveTo>
                <a:lnTo>
                  <a:pt x="186315" y="0"/>
                </a:lnTo>
                <a:cubicBezTo>
                  <a:pt x="289214" y="0"/>
                  <a:pt x="372630" y="83416"/>
                  <a:pt x="372630" y="186315"/>
                </a:cubicBezTo>
                <a:lnTo>
                  <a:pt x="372630" y="186315"/>
                </a:lnTo>
                <a:cubicBezTo>
                  <a:pt x="372630" y="289214"/>
                  <a:pt x="289214" y="372630"/>
                  <a:pt x="186315" y="372630"/>
                </a:cubicBezTo>
                <a:lnTo>
                  <a:pt x="186315" y="372630"/>
                </a:lnTo>
                <a:cubicBezTo>
                  <a:pt x="83416" y="372630"/>
                  <a:pt x="0" y="289214"/>
                  <a:pt x="0" y="186315"/>
                </a:cubicBezTo>
                <a:lnTo>
                  <a:pt x="0" y="186315"/>
                </a:lnTo>
                <a:cubicBezTo>
                  <a:pt x="0" y="83416"/>
                  <a:pt x="83416" y="0"/>
                  <a:pt x="18631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61" y="7904515"/>
            <a:ext cx="465788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04206" y="7904515"/>
            <a:ext cx="4366762" cy="838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Выполнить обзор современных технологий веб-разработки и обосновать выбор инструментальных средств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58449" y="6926360"/>
            <a:ext cx="372630" cy="372630"/>
          </a:xfrm>
          <a:custGeom>
            <a:avLst/>
            <a:gdLst/>
            <a:ahLst/>
            <a:cxnLst/>
            <a:rect l="l" t="t" r="r" b="b"/>
            <a:pathLst>
              <a:path w="372630" h="372630">
                <a:moveTo>
                  <a:pt x="186315" y="0"/>
                </a:moveTo>
                <a:lnTo>
                  <a:pt x="186315" y="0"/>
                </a:lnTo>
                <a:cubicBezTo>
                  <a:pt x="289214" y="0"/>
                  <a:pt x="372630" y="83416"/>
                  <a:pt x="372630" y="186315"/>
                </a:cubicBezTo>
                <a:lnTo>
                  <a:pt x="372630" y="186315"/>
                </a:lnTo>
                <a:cubicBezTo>
                  <a:pt x="372630" y="289214"/>
                  <a:pt x="289214" y="372630"/>
                  <a:pt x="186315" y="372630"/>
                </a:cubicBezTo>
                <a:lnTo>
                  <a:pt x="186315" y="372630"/>
                </a:lnTo>
                <a:cubicBezTo>
                  <a:pt x="83416" y="372630"/>
                  <a:pt x="0" y="289214"/>
                  <a:pt x="0" y="186315"/>
                </a:cubicBezTo>
                <a:lnTo>
                  <a:pt x="0" y="186315"/>
                </a:lnTo>
                <a:cubicBezTo>
                  <a:pt x="0" y="83416"/>
                  <a:pt x="83416" y="0"/>
                  <a:pt x="18631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5711871" y="6926360"/>
            <a:ext cx="465788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70816" y="6926360"/>
            <a:ext cx="4366762" cy="838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Разработать функциональные требования и спроектировать архитектуру системы с использованием UML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58449" y="7904515"/>
            <a:ext cx="372630" cy="372630"/>
          </a:xfrm>
          <a:custGeom>
            <a:avLst/>
            <a:gdLst/>
            <a:ahLst/>
            <a:cxnLst/>
            <a:rect l="l" t="t" r="r" b="b"/>
            <a:pathLst>
              <a:path w="372630" h="372630">
                <a:moveTo>
                  <a:pt x="186315" y="0"/>
                </a:moveTo>
                <a:lnTo>
                  <a:pt x="186315" y="0"/>
                </a:lnTo>
                <a:cubicBezTo>
                  <a:pt x="289214" y="0"/>
                  <a:pt x="372630" y="83416"/>
                  <a:pt x="372630" y="186315"/>
                </a:cubicBezTo>
                <a:lnTo>
                  <a:pt x="372630" y="186315"/>
                </a:lnTo>
                <a:cubicBezTo>
                  <a:pt x="372630" y="289214"/>
                  <a:pt x="289214" y="372630"/>
                  <a:pt x="186315" y="372630"/>
                </a:cubicBezTo>
                <a:lnTo>
                  <a:pt x="186315" y="372630"/>
                </a:lnTo>
                <a:cubicBezTo>
                  <a:pt x="83416" y="372630"/>
                  <a:pt x="0" y="289214"/>
                  <a:pt x="0" y="186315"/>
                </a:cubicBezTo>
                <a:lnTo>
                  <a:pt x="0" y="186315"/>
                </a:lnTo>
                <a:cubicBezTo>
                  <a:pt x="0" y="83416"/>
                  <a:pt x="83416" y="0"/>
                  <a:pt x="18631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7" name="Text 35"/>
          <p:cNvSpPr/>
          <p:nvPr/>
        </p:nvSpPr>
        <p:spPr>
          <a:xfrm>
            <a:off x="5711871" y="7904515"/>
            <a:ext cx="465788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70816" y="7904515"/>
            <a:ext cx="4366762" cy="55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Спроектировать структуру базы данных и схему взаимодействия компонентов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725059" y="6926360"/>
            <a:ext cx="372630" cy="372630"/>
          </a:xfrm>
          <a:custGeom>
            <a:avLst/>
            <a:gdLst/>
            <a:ahLst/>
            <a:cxnLst/>
            <a:rect l="l" t="t" r="r" b="b"/>
            <a:pathLst>
              <a:path w="372630" h="372630">
                <a:moveTo>
                  <a:pt x="186315" y="0"/>
                </a:moveTo>
                <a:lnTo>
                  <a:pt x="186315" y="0"/>
                </a:lnTo>
                <a:cubicBezTo>
                  <a:pt x="289214" y="0"/>
                  <a:pt x="372630" y="83416"/>
                  <a:pt x="372630" y="186315"/>
                </a:cubicBezTo>
                <a:lnTo>
                  <a:pt x="372630" y="186315"/>
                </a:lnTo>
                <a:cubicBezTo>
                  <a:pt x="372630" y="289214"/>
                  <a:pt x="289214" y="372630"/>
                  <a:pt x="186315" y="372630"/>
                </a:cubicBezTo>
                <a:lnTo>
                  <a:pt x="186315" y="372630"/>
                </a:lnTo>
                <a:cubicBezTo>
                  <a:pt x="83416" y="372630"/>
                  <a:pt x="0" y="289214"/>
                  <a:pt x="0" y="186315"/>
                </a:cubicBezTo>
                <a:lnTo>
                  <a:pt x="0" y="186315"/>
                </a:lnTo>
                <a:cubicBezTo>
                  <a:pt x="0" y="83416"/>
                  <a:pt x="83416" y="0"/>
                  <a:pt x="18631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0" name="Text 38"/>
          <p:cNvSpPr/>
          <p:nvPr/>
        </p:nvSpPr>
        <p:spPr>
          <a:xfrm>
            <a:off x="10678481" y="6926360"/>
            <a:ext cx="465788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37426" y="6926360"/>
            <a:ext cx="4366762" cy="55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Выполнить программную реализацию серверной части и пользовательского интерфейса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725059" y="7625042"/>
            <a:ext cx="372630" cy="372630"/>
          </a:xfrm>
          <a:custGeom>
            <a:avLst/>
            <a:gdLst/>
            <a:ahLst/>
            <a:cxnLst/>
            <a:rect l="l" t="t" r="r" b="b"/>
            <a:pathLst>
              <a:path w="372630" h="372630">
                <a:moveTo>
                  <a:pt x="186315" y="0"/>
                </a:moveTo>
                <a:lnTo>
                  <a:pt x="186315" y="0"/>
                </a:lnTo>
                <a:cubicBezTo>
                  <a:pt x="289214" y="0"/>
                  <a:pt x="372630" y="83416"/>
                  <a:pt x="372630" y="186315"/>
                </a:cubicBezTo>
                <a:lnTo>
                  <a:pt x="372630" y="186315"/>
                </a:lnTo>
                <a:cubicBezTo>
                  <a:pt x="372630" y="289214"/>
                  <a:pt x="289214" y="372630"/>
                  <a:pt x="186315" y="372630"/>
                </a:cubicBezTo>
                <a:lnTo>
                  <a:pt x="186315" y="372630"/>
                </a:lnTo>
                <a:cubicBezTo>
                  <a:pt x="83416" y="372630"/>
                  <a:pt x="0" y="289214"/>
                  <a:pt x="0" y="186315"/>
                </a:cubicBezTo>
                <a:lnTo>
                  <a:pt x="0" y="186315"/>
                </a:lnTo>
                <a:cubicBezTo>
                  <a:pt x="0" y="83416"/>
                  <a:pt x="83416" y="0"/>
                  <a:pt x="18631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3" name="Text 41"/>
          <p:cNvSpPr/>
          <p:nvPr/>
        </p:nvSpPr>
        <p:spPr>
          <a:xfrm>
            <a:off x="10678481" y="7625042"/>
            <a:ext cx="465788" cy="372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37426" y="7625042"/>
            <a:ext cx="4366762" cy="55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Провести тестирование приложения и оценить его работоспособность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1870072"/>
            <a:ext cx="2095500" cy="711200"/>
          </a:xfrm>
          <a:custGeom>
            <a:avLst/>
            <a:gdLst/>
            <a:ahLst/>
            <a:cxnLst/>
            <a:rect l="l" t="t" r="r" b="b"/>
            <a:pathLst>
              <a:path w="2095500" h="711200">
                <a:moveTo>
                  <a:pt x="50801" y="0"/>
                </a:moveTo>
                <a:lnTo>
                  <a:pt x="2044699" y="0"/>
                </a:lnTo>
                <a:cubicBezTo>
                  <a:pt x="2072756" y="0"/>
                  <a:pt x="2095500" y="22744"/>
                  <a:pt x="2095500" y="50801"/>
                </a:cubicBezTo>
                <a:lnTo>
                  <a:pt x="2095500" y="660399"/>
                </a:lnTo>
                <a:cubicBezTo>
                  <a:pt x="2095500" y="688456"/>
                  <a:pt x="2072756" y="711200"/>
                  <a:pt x="20446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1870072"/>
            <a:ext cx="2247900" cy="711200"/>
          </a:xfrm>
          <a:prstGeom prst="rect">
            <a:avLst/>
          </a:prstGeom>
          <a:noFill/>
          <a:ln/>
        </p:spPr>
        <p:txBody>
          <a:bodyPr wrap="square" lIns="406400" tIns="152400" rIns="406400" bIns="15240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ГЛАВА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2885917"/>
            <a:ext cx="1021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Теоретико-аналитическая часть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5578317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6" name="Text 4"/>
          <p:cNvSpPr/>
          <p:nvPr/>
        </p:nvSpPr>
        <p:spPr>
          <a:xfrm>
            <a:off x="508000" y="6035517"/>
            <a:ext cx="99441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Анализ предметной области, обзор решений и обоснование технологий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751" y="448751"/>
            <a:ext cx="15448248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b="1" kern="0" spc="7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ТЕОРЕТИКО-АНАЛИТИЧЕСКАЯ ЧАСТЬ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8751" y="807752"/>
            <a:ext cx="15526780" cy="4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Анализ бизнес-процессов документооборота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751" y="1346253"/>
            <a:ext cx="1077002" cy="44875"/>
          </a:xfrm>
          <a:custGeom>
            <a:avLst/>
            <a:gdLst/>
            <a:ahLst/>
            <a:cxnLst/>
            <a:rect l="l" t="t" r="r" b="b"/>
            <a:pathLst>
              <a:path w="1077002" h="44875">
                <a:moveTo>
                  <a:pt x="0" y="0"/>
                </a:moveTo>
                <a:lnTo>
                  <a:pt x="1077002" y="0"/>
                </a:lnTo>
                <a:lnTo>
                  <a:pt x="1077002" y="44875"/>
                </a:lnTo>
                <a:lnTo>
                  <a:pt x="0" y="4487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71188" y="1570628"/>
            <a:ext cx="15336061" cy="1772566"/>
          </a:xfrm>
          <a:custGeom>
            <a:avLst/>
            <a:gdLst/>
            <a:ahLst/>
            <a:cxnLst/>
            <a:rect l="l" t="t" r="r" b="b"/>
            <a:pathLst>
              <a:path w="15336061" h="1772566">
                <a:moveTo>
                  <a:pt x="44875" y="0"/>
                </a:moveTo>
                <a:lnTo>
                  <a:pt x="15246316" y="0"/>
                </a:lnTo>
                <a:cubicBezTo>
                  <a:pt x="15295881" y="0"/>
                  <a:pt x="15336061" y="40180"/>
                  <a:pt x="15336061" y="89745"/>
                </a:cubicBezTo>
                <a:lnTo>
                  <a:pt x="15336061" y="1682821"/>
                </a:lnTo>
                <a:cubicBezTo>
                  <a:pt x="15336061" y="1732386"/>
                  <a:pt x="15295881" y="1772566"/>
                  <a:pt x="15246316" y="1772566"/>
                </a:cubicBezTo>
                <a:lnTo>
                  <a:pt x="44875" y="1772566"/>
                </a:lnTo>
                <a:cubicBezTo>
                  <a:pt x="20091" y="1772566"/>
                  <a:pt x="0" y="1752475"/>
                  <a:pt x="0" y="1727691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1188" y="1570628"/>
            <a:ext cx="44875" cy="1772566"/>
          </a:xfrm>
          <a:custGeom>
            <a:avLst/>
            <a:gdLst/>
            <a:ahLst/>
            <a:cxnLst/>
            <a:rect l="l" t="t" r="r" b="b"/>
            <a:pathLst>
              <a:path w="44875" h="1772566">
                <a:moveTo>
                  <a:pt x="44875" y="0"/>
                </a:moveTo>
                <a:lnTo>
                  <a:pt x="44875" y="0"/>
                </a:lnTo>
                <a:lnTo>
                  <a:pt x="44875" y="1772566"/>
                </a:lnTo>
                <a:lnTo>
                  <a:pt x="44875" y="1772566"/>
                </a:lnTo>
                <a:cubicBezTo>
                  <a:pt x="20091" y="1772566"/>
                  <a:pt x="0" y="1752475"/>
                  <a:pt x="0" y="1727691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673126" y="1750128"/>
            <a:ext cx="15066810" cy="31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Потоки документов в организации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3126" y="2198879"/>
            <a:ext cx="4868947" cy="964814"/>
          </a:xfrm>
          <a:custGeom>
            <a:avLst/>
            <a:gdLst/>
            <a:ahLst/>
            <a:cxnLst/>
            <a:rect l="l" t="t" r="r" b="b"/>
            <a:pathLst>
              <a:path w="4868947" h="964814">
                <a:moveTo>
                  <a:pt x="44874" y="0"/>
                </a:moveTo>
                <a:lnTo>
                  <a:pt x="4824073" y="0"/>
                </a:lnTo>
                <a:cubicBezTo>
                  <a:pt x="4848856" y="0"/>
                  <a:pt x="4868947" y="20091"/>
                  <a:pt x="4868947" y="44874"/>
                </a:cubicBezTo>
                <a:lnTo>
                  <a:pt x="4868947" y="919941"/>
                </a:lnTo>
                <a:cubicBezTo>
                  <a:pt x="4868947" y="944724"/>
                  <a:pt x="4848856" y="964814"/>
                  <a:pt x="4824073" y="964814"/>
                </a:cubicBezTo>
                <a:lnTo>
                  <a:pt x="44874" y="964814"/>
                </a:lnTo>
                <a:cubicBezTo>
                  <a:pt x="20091" y="964814"/>
                  <a:pt x="0" y="944724"/>
                  <a:pt x="0" y="919941"/>
                </a:cubicBezTo>
                <a:lnTo>
                  <a:pt x="0" y="44874"/>
                </a:lnTo>
                <a:cubicBezTo>
                  <a:pt x="0" y="20107"/>
                  <a:pt x="20107" y="0"/>
                  <a:pt x="4487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07752" y="2333504"/>
            <a:ext cx="4700665" cy="31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Входящие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7752" y="2737380"/>
            <a:ext cx="4689447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Поступающие из внешней среды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7366" y="2198879"/>
            <a:ext cx="4868947" cy="964814"/>
          </a:xfrm>
          <a:custGeom>
            <a:avLst/>
            <a:gdLst/>
            <a:ahLst/>
            <a:cxnLst/>
            <a:rect l="l" t="t" r="r" b="b"/>
            <a:pathLst>
              <a:path w="4868947" h="964814">
                <a:moveTo>
                  <a:pt x="44874" y="0"/>
                </a:moveTo>
                <a:lnTo>
                  <a:pt x="4824073" y="0"/>
                </a:lnTo>
                <a:cubicBezTo>
                  <a:pt x="4848856" y="0"/>
                  <a:pt x="4868947" y="20091"/>
                  <a:pt x="4868947" y="44874"/>
                </a:cubicBezTo>
                <a:lnTo>
                  <a:pt x="4868947" y="919941"/>
                </a:lnTo>
                <a:cubicBezTo>
                  <a:pt x="4868947" y="944724"/>
                  <a:pt x="4848856" y="964814"/>
                  <a:pt x="4824073" y="964814"/>
                </a:cubicBezTo>
                <a:lnTo>
                  <a:pt x="44874" y="964814"/>
                </a:lnTo>
                <a:cubicBezTo>
                  <a:pt x="20091" y="964814"/>
                  <a:pt x="0" y="944724"/>
                  <a:pt x="0" y="919941"/>
                </a:cubicBezTo>
                <a:lnTo>
                  <a:pt x="0" y="44874"/>
                </a:lnTo>
                <a:cubicBezTo>
                  <a:pt x="0" y="20107"/>
                  <a:pt x="20107" y="0"/>
                  <a:pt x="4487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51992" y="2333504"/>
            <a:ext cx="4700665" cy="31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Исходящие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1992" y="2737380"/>
            <a:ext cx="4689447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Направляемые в другие организации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66094" y="2203367"/>
            <a:ext cx="4855484" cy="951352"/>
          </a:xfrm>
          <a:custGeom>
            <a:avLst/>
            <a:gdLst/>
            <a:ahLst/>
            <a:cxnLst/>
            <a:rect l="l" t="t" r="r" b="b"/>
            <a:pathLst>
              <a:path w="4855484" h="951352">
                <a:moveTo>
                  <a:pt x="44875" y="0"/>
                </a:moveTo>
                <a:lnTo>
                  <a:pt x="4810609" y="0"/>
                </a:lnTo>
                <a:cubicBezTo>
                  <a:pt x="4835393" y="0"/>
                  <a:pt x="4855484" y="20091"/>
                  <a:pt x="4855484" y="44875"/>
                </a:cubicBezTo>
                <a:lnTo>
                  <a:pt x="4855484" y="906477"/>
                </a:lnTo>
                <a:cubicBezTo>
                  <a:pt x="4855484" y="931260"/>
                  <a:pt x="4835393" y="951352"/>
                  <a:pt x="4810609" y="951352"/>
                </a:cubicBezTo>
                <a:lnTo>
                  <a:pt x="44875" y="951352"/>
                </a:lnTo>
                <a:cubicBezTo>
                  <a:pt x="20091" y="951352"/>
                  <a:pt x="0" y="931260"/>
                  <a:pt x="0" y="906477"/>
                </a:cubicBezTo>
                <a:lnTo>
                  <a:pt x="0" y="44875"/>
                </a:lnTo>
                <a:cubicBezTo>
                  <a:pt x="0" y="20091"/>
                  <a:pt x="20091" y="0"/>
                  <a:pt x="44875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05207" y="2342483"/>
            <a:ext cx="4678228" cy="31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Внутренние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05207" y="2746359"/>
            <a:ext cx="4667009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3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Создаваемые и используемые внутри компании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1188" y="3518208"/>
            <a:ext cx="15336061" cy="5346868"/>
          </a:xfrm>
          <a:custGeom>
            <a:avLst/>
            <a:gdLst/>
            <a:ahLst/>
            <a:cxnLst/>
            <a:rect l="l" t="t" r="r" b="b"/>
            <a:pathLst>
              <a:path w="15336061" h="5171854">
                <a:moveTo>
                  <a:pt x="44875" y="0"/>
                </a:moveTo>
                <a:lnTo>
                  <a:pt x="15246329" y="0"/>
                </a:lnTo>
                <a:cubicBezTo>
                  <a:pt x="15295886" y="0"/>
                  <a:pt x="15336061" y="40174"/>
                  <a:pt x="15336061" y="89732"/>
                </a:cubicBezTo>
                <a:lnTo>
                  <a:pt x="15336061" y="5082122"/>
                </a:lnTo>
                <a:cubicBezTo>
                  <a:pt x="15336061" y="5131679"/>
                  <a:pt x="15295886" y="5171854"/>
                  <a:pt x="15246329" y="5171854"/>
                </a:cubicBezTo>
                <a:lnTo>
                  <a:pt x="44875" y="5171854"/>
                </a:lnTo>
                <a:cubicBezTo>
                  <a:pt x="20091" y="5171854"/>
                  <a:pt x="0" y="5151762"/>
                  <a:pt x="0" y="5126979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1188" y="3518208"/>
            <a:ext cx="45719" cy="5346868"/>
          </a:xfrm>
          <a:custGeom>
            <a:avLst/>
            <a:gdLst/>
            <a:ahLst/>
            <a:cxnLst/>
            <a:rect l="l" t="t" r="r" b="b"/>
            <a:pathLst>
              <a:path w="44875" h="5171854">
                <a:moveTo>
                  <a:pt x="44875" y="0"/>
                </a:moveTo>
                <a:lnTo>
                  <a:pt x="44875" y="0"/>
                </a:lnTo>
                <a:lnTo>
                  <a:pt x="44875" y="5171854"/>
                </a:lnTo>
                <a:lnTo>
                  <a:pt x="44875" y="5171854"/>
                </a:lnTo>
                <a:cubicBezTo>
                  <a:pt x="20091" y="5171854"/>
                  <a:pt x="0" y="5151762"/>
                  <a:pt x="0" y="5126979"/>
                </a:cubicBezTo>
                <a:lnTo>
                  <a:pt x="0" y="44875"/>
                </a:lnTo>
                <a:cubicBezTo>
                  <a:pt x="0" y="20108"/>
                  <a:pt x="20108" y="0"/>
                  <a:pt x="44875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05813" y="3711540"/>
            <a:ext cx="15066810" cy="31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Классификация внутренних документов для автоматизации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706095"/>
              </p:ext>
            </p:extLst>
          </p:nvPr>
        </p:nvGraphicFramePr>
        <p:xfrm>
          <a:off x="729219" y="4792845"/>
          <a:ext cx="14954623" cy="3208569"/>
        </p:xfrm>
        <a:graphic>
          <a:graphicData uri="http://schemas.openxmlformats.org/drawingml/2006/table">
            <a:tbl>
              <a:tblPr/>
              <a:tblGrid>
                <a:gridCol w="2885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7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7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83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Вид документа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Назначение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Инициатор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Согласующие лица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Срок хранения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3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Служебная записка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Внутренняя переписка, запросы ресурсов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Любой сотрудник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Руководитель отдела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лет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3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Заявление на отпуск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Оформление отпуска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Любой сотрудник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Руководитель, Кадры, Бухгалтерия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лет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3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Заявка на закупку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Приобретение ТМЦ или услуг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Руководитель отдела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Финансовый директор, Директор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лет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3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Приказ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Распорядительный документ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Секретарь, Директор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Юрист, Заместители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Постоянно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3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Объяснительная записка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Пояснение причин нарушений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Любой сотрудник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Руководитель, Кадровая служба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лет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367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Акт выполненных работ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Подтверждение выполнения работ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Исполнитель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Заказчик, Бухгалтерия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лет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818" y="461818"/>
            <a:ext cx="15424727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b="1" kern="0" spc="7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ТЕОРЕТИКО-АНАЛИТИЧЕСКАЯ ЧАСТЬ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1818" y="831273"/>
            <a:ext cx="15505545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2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TO-BE: автоматизированный документооборот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1818" y="1385455"/>
            <a:ext cx="1108364" cy="46182"/>
          </a:xfrm>
          <a:custGeom>
            <a:avLst/>
            <a:gdLst/>
            <a:ahLst/>
            <a:cxnLst/>
            <a:rect l="l" t="t" r="r" b="b"/>
            <a:pathLst>
              <a:path w="1108364" h="46182">
                <a:moveTo>
                  <a:pt x="0" y="0"/>
                </a:moveTo>
                <a:lnTo>
                  <a:pt x="1108364" y="0"/>
                </a:lnTo>
                <a:lnTo>
                  <a:pt x="1108364" y="46182"/>
                </a:lnTo>
                <a:lnTo>
                  <a:pt x="0" y="46182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84909" y="1662545"/>
            <a:ext cx="7504545" cy="7271704"/>
          </a:xfrm>
          <a:custGeom>
            <a:avLst/>
            <a:gdLst/>
            <a:ahLst/>
            <a:cxnLst/>
            <a:rect l="l" t="t" r="r" b="b"/>
            <a:pathLst>
              <a:path w="7504545" h="7271704">
                <a:moveTo>
                  <a:pt x="46182" y="0"/>
                </a:moveTo>
                <a:lnTo>
                  <a:pt x="7412164" y="0"/>
                </a:lnTo>
                <a:cubicBezTo>
                  <a:pt x="7463185" y="0"/>
                  <a:pt x="7504545" y="39410"/>
                  <a:pt x="7504545" y="88025"/>
                </a:cubicBezTo>
                <a:lnTo>
                  <a:pt x="7504545" y="7183679"/>
                </a:lnTo>
                <a:cubicBezTo>
                  <a:pt x="7504545" y="7232294"/>
                  <a:pt x="7463185" y="7271704"/>
                  <a:pt x="7412164" y="7271704"/>
                </a:cubicBezTo>
                <a:lnTo>
                  <a:pt x="46182" y="7271704"/>
                </a:lnTo>
                <a:cubicBezTo>
                  <a:pt x="20676" y="7271704"/>
                  <a:pt x="0" y="7252003"/>
                  <a:pt x="0" y="7227700"/>
                </a:cubicBezTo>
                <a:lnTo>
                  <a:pt x="0" y="44004"/>
                </a:lnTo>
                <a:cubicBezTo>
                  <a:pt x="0" y="19718"/>
                  <a:pt x="20693" y="0"/>
                  <a:pt x="46182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84909" y="1662545"/>
            <a:ext cx="46182" cy="7271704"/>
          </a:xfrm>
          <a:custGeom>
            <a:avLst/>
            <a:gdLst/>
            <a:ahLst/>
            <a:cxnLst/>
            <a:rect l="l" t="t" r="r" b="b"/>
            <a:pathLst>
              <a:path w="46182" h="7271704">
                <a:moveTo>
                  <a:pt x="46182" y="0"/>
                </a:moveTo>
                <a:lnTo>
                  <a:pt x="46182" y="0"/>
                </a:lnTo>
                <a:lnTo>
                  <a:pt x="46182" y="7271704"/>
                </a:lnTo>
                <a:lnTo>
                  <a:pt x="46182" y="7271704"/>
                </a:lnTo>
                <a:cubicBezTo>
                  <a:pt x="20676" y="7271704"/>
                  <a:pt x="0" y="7252003"/>
                  <a:pt x="0" y="7227700"/>
                </a:cubicBezTo>
                <a:lnTo>
                  <a:pt x="0" y="44004"/>
                </a:lnTo>
                <a:cubicBezTo>
                  <a:pt x="0" y="19718"/>
                  <a:pt x="20693" y="0"/>
                  <a:pt x="46182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767773" y="1939636"/>
            <a:ext cx="230909" cy="230909"/>
          </a:xfrm>
          <a:custGeom>
            <a:avLst/>
            <a:gdLst/>
            <a:ahLst/>
            <a:cxnLst/>
            <a:rect l="l" t="t" r="r" b="b"/>
            <a:pathLst>
              <a:path w="230909" h="230909">
                <a:moveTo>
                  <a:pt x="57727" y="144318"/>
                </a:moveTo>
                <a:lnTo>
                  <a:pt x="11049" y="144318"/>
                </a:lnTo>
                <a:cubicBezTo>
                  <a:pt x="-180" y="144318"/>
                  <a:pt x="-7081" y="132096"/>
                  <a:pt x="-1308" y="122445"/>
                </a:cubicBezTo>
                <a:lnTo>
                  <a:pt x="22550" y="82667"/>
                </a:lnTo>
                <a:cubicBezTo>
                  <a:pt x="26473" y="76128"/>
                  <a:pt x="33509" y="72159"/>
                  <a:pt x="41131" y="72159"/>
                </a:cubicBezTo>
                <a:lnTo>
                  <a:pt x="83975" y="72159"/>
                </a:lnTo>
                <a:cubicBezTo>
                  <a:pt x="118296" y="14026"/>
                  <a:pt x="169484" y="11094"/>
                  <a:pt x="203714" y="16100"/>
                </a:cubicBezTo>
                <a:cubicBezTo>
                  <a:pt x="209487" y="16957"/>
                  <a:pt x="213997" y="21467"/>
                  <a:pt x="214809" y="27195"/>
                </a:cubicBezTo>
                <a:cubicBezTo>
                  <a:pt x="219815" y="61425"/>
                  <a:pt x="216883" y="112613"/>
                  <a:pt x="158750" y="146934"/>
                </a:cubicBezTo>
                <a:lnTo>
                  <a:pt x="158750" y="189778"/>
                </a:lnTo>
                <a:cubicBezTo>
                  <a:pt x="158750" y="197400"/>
                  <a:pt x="154781" y="204436"/>
                  <a:pt x="148242" y="208359"/>
                </a:cubicBezTo>
                <a:lnTo>
                  <a:pt x="108464" y="232217"/>
                </a:lnTo>
                <a:cubicBezTo>
                  <a:pt x="98858" y="237990"/>
                  <a:pt x="86591" y="231044"/>
                  <a:pt x="86591" y="219860"/>
                </a:cubicBezTo>
                <a:lnTo>
                  <a:pt x="86591" y="173182"/>
                </a:lnTo>
                <a:cubicBezTo>
                  <a:pt x="86591" y="157262"/>
                  <a:pt x="73647" y="144318"/>
                  <a:pt x="57727" y="144318"/>
                </a:cubicBezTo>
                <a:lnTo>
                  <a:pt x="57682" y="144318"/>
                </a:lnTo>
                <a:close/>
                <a:moveTo>
                  <a:pt x="180398" y="72159"/>
                </a:moveTo>
                <a:cubicBezTo>
                  <a:pt x="180398" y="60211"/>
                  <a:pt x="170698" y="50511"/>
                  <a:pt x="158750" y="50511"/>
                </a:cubicBezTo>
                <a:cubicBezTo>
                  <a:pt x="146802" y="50511"/>
                  <a:pt x="137102" y="60211"/>
                  <a:pt x="137102" y="72159"/>
                </a:cubicBezTo>
                <a:cubicBezTo>
                  <a:pt x="137102" y="84107"/>
                  <a:pt x="146802" y="93807"/>
                  <a:pt x="158750" y="93807"/>
                </a:cubicBezTo>
                <a:cubicBezTo>
                  <a:pt x="170698" y="93807"/>
                  <a:pt x="180398" y="84107"/>
                  <a:pt x="180398" y="72159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Text 6"/>
          <p:cNvSpPr/>
          <p:nvPr/>
        </p:nvSpPr>
        <p:spPr>
          <a:xfrm>
            <a:off x="1027545" y="1893455"/>
            <a:ext cx="6846455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Преимущества внедрения веб-приложения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8909" y="2401455"/>
            <a:ext cx="7019636" cy="1200727"/>
          </a:xfrm>
          <a:custGeom>
            <a:avLst/>
            <a:gdLst/>
            <a:ahLst/>
            <a:cxnLst/>
            <a:rect l="l" t="t" r="r" b="b"/>
            <a:pathLst>
              <a:path w="7019636" h="1200727">
                <a:moveTo>
                  <a:pt x="46180" y="0"/>
                </a:moveTo>
                <a:lnTo>
                  <a:pt x="6973456" y="0"/>
                </a:lnTo>
                <a:cubicBezTo>
                  <a:pt x="6998961" y="0"/>
                  <a:pt x="7019636" y="20675"/>
                  <a:pt x="7019636" y="46180"/>
                </a:cubicBezTo>
                <a:lnTo>
                  <a:pt x="7019636" y="1154547"/>
                </a:lnTo>
                <a:cubicBezTo>
                  <a:pt x="7019636" y="1180052"/>
                  <a:pt x="6998961" y="1200727"/>
                  <a:pt x="6973456" y="1200727"/>
                </a:cubicBezTo>
                <a:lnTo>
                  <a:pt x="46180" y="1200727"/>
                </a:lnTo>
                <a:cubicBezTo>
                  <a:pt x="20675" y="1200727"/>
                  <a:pt x="0" y="1180052"/>
                  <a:pt x="0" y="1154547"/>
                </a:cubicBezTo>
                <a:lnTo>
                  <a:pt x="0" y="46180"/>
                </a:lnTo>
                <a:cubicBezTo>
                  <a:pt x="0" y="20693"/>
                  <a:pt x="20693" y="0"/>
                  <a:pt x="461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77455" y="2540000"/>
            <a:ext cx="461818" cy="461818"/>
          </a:xfrm>
          <a:custGeom>
            <a:avLst/>
            <a:gdLst/>
            <a:ahLst/>
            <a:cxnLst/>
            <a:rect l="l" t="t" r="r" b="b"/>
            <a:pathLst>
              <a:path w="461818" h="461818">
                <a:moveTo>
                  <a:pt x="230909" y="0"/>
                </a:moveTo>
                <a:lnTo>
                  <a:pt x="230909" y="0"/>
                </a:lnTo>
                <a:cubicBezTo>
                  <a:pt x="358351" y="0"/>
                  <a:pt x="461818" y="103467"/>
                  <a:pt x="461818" y="230909"/>
                </a:cubicBezTo>
                <a:lnTo>
                  <a:pt x="461818" y="230909"/>
                </a:lnTo>
                <a:cubicBezTo>
                  <a:pt x="461818" y="358351"/>
                  <a:pt x="358351" y="461818"/>
                  <a:pt x="230909" y="461818"/>
                </a:cubicBezTo>
                <a:lnTo>
                  <a:pt x="230909" y="461818"/>
                </a:lnTo>
                <a:cubicBezTo>
                  <a:pt x="103467" y="461818"/>
                  <a:pt x="0" y="358351"/>
                  <a:pt x="0" y="230909"/>
                </a:cubicBezTo>
                <a:lnTo>
                  <a:pt x="0" y="230909"/>
                </a:lnTo>
                <a:cubicBezTo>
                  <a:pt x="0" y="103467"/>
                  <a:pt x="103467" y="0"/>
                  <a:pt x="230909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1" name="Text 9"/>
          <p:cNvSpPr/>
          <p:nvPr/>
        </p:nvSpPr>
        <p:spPr>
          <a:xfrm>
            <a:off x="825500" y="2540000"/>
            <a:ext cx="565727" cy="46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36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2540000"/>
            <a:ext cx="6199909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 через веб-форму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2909455"/>
            <a:ext cx="6188364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Инициатор заполняет форму с предустановленными полями, система автоматически валидирует данные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8909" y="3740727"/>
            <a:ext cx="7019636" cy="1200727"/>
          </a:xfrm>
          <a:custGeom>
            <a:avLst/>
            <a:gdLst/>
            <a:ahLst/>
            <a:cxnLst/>
            <a:rect l="l" t="t" r="r" b="b"/>
            <a:pathLst>
              <a:path w="7019636" h="1200727">
                <a:moveTo>
                  <a:pt x="46180" y="0"/>
                </a:moveTo>
                <a:lnTo>
                  <a:pt x="6973456" y="0"/>
                </a:lnTo>
                <a:cubicBezTo>
                  <a:pt x="6998961" y="0"/>
                  <a:pt x="7019636" y="20675"/>
                  <a:pt x="7019636" y="46180"/>
                </a:cubicBezTo>
                <a:lnTo>
                  <a:pt x="7019636" y="1154547"/>
                </a:lnTo>
                <a:cubicBezTo>
                  <a:pt x="7019636" y="1180052"/>
                  <a:pt x="6998961" y="1200727"/>
                  <a:pt x="6973456" y="1200727"/>
                </a:cubicBezTo>
                <a:lnTo>
                  <a:pt x="46180" y="1200727"/>
                </a:lnTo>
                <a:cubicBezTo>
                  <a:pt x="20675" y="1200727"/>
                  <a:pt x="0" y="1180052"/>
                  <a:pt x="0" y="1154547"/>
                </a:cubicBezTo>
                <a:lnTo>
                  <a:pt x="0" y="46180"/>
                </a:lnTo>
                <a:cubicBezTo>
                  <a:pt x="0" y="20693"/>
                  <a:pt x="20693" y="0"/>
                  <a:pt x="461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77455" y="3879273"/>
            <a:ext cx="461818" cy="461818"/>
          </a:xfrm>
          <a:custGeom>
            <a:avLst/>
            <a:gdLst/>
            <a:ahLst/>
            <a:cxnLst/>
            <a:rect l="l" t="t" r="r" b="b"/>
            <a:pathLst>
              <a:path w="461818" h="461818">
                <a:moveTo>
                  <a:pt x="230909" y="0"/>
                </a:moveTo>
                <a:lnTo>
                  <a:pt x="230909" y="0"/>
                </a:lnTo>
                <a:cubicBezTo>
                  <a:pt x="358351" y="0"/>
                  <a:pt x="461818" y="103467"/>
                  <a:pt x="461818" y="230909"/>
                </a:cubicBezTo>
                <a:lnTo>
                  <a:pt x="461818" y="230909"/>
                </a:lnTo>
                <a:cubicBezTo>
                  <a:pt x="461818" y="358351"/>
                  <a:pt x="358351" y="461818"/>
                  <a:pt x="230909" y="461818"/>
                </a:cubicBezTo>
                <a:lnTo>
                  <a:pt x="230909" y="461818"/>
                </a:lnTo>
                <a:cubicBezTo>
                  <a:pt x="103467" y="461818"/>
                  <a:pt x="0" y="358351"/>
                  <a:pt x="0" y="230909"/>
                </a:cubicBezTo>
                <a:lnTo>
                  <a:pt x="0" y="230909"/>
                </a:lnTo>
                <a:cubicBezTo>
                  <a:pt x="0" y="103467"/>
                  <a:pt x="103467" y="0"/>
                  <a:pt x="230909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825500" y="3879273"/>
            <a:ext cx="565727" cy="46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36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3879273"/>
            <a:ext cx="6199909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Автоматическая маршрутизация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4000" y="4248727"/>
            <a:ext cx="6188364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Алгоритм определяет согласующих лиц в зависимости от типа и суммы заявки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8909" y="5080000"/>
            <a:ext cx="7019636" cy="1200727"/>
          </a:xfrm>
          <a:custGeom>
            <a:avLst/>
            <a:gdLst/>
            <a:ahLst/>
            <a:cxnLst/>
            <a:rect l="l" t="t" r="r" b="b"/>
            <a:pathLst>
              <a:path w="7019636" h="1200727">
                <a:moveTo>
                  <a:pt x="46180" y="0"/>
                </a:moveTo>
                <a:lnTo>
                  <a:pt x="6973456" y="0"/>
                </a:lnTo>
                <a:cubicBezTo>
                  <a:pt x="6998961" y="0"/>
                  <a:pt x="7019636" y="20675"/>
                  <a:pt x="7019636" y="46180"/>
                </a:cubicBezTo>
                <a:lnTo>
                  <a:pt x="7019636" y="1154547"/>
                </a:lnTo>
                <a:cubicBezTo>
                  <a:pt x="7019636" y="1180052"/>
                  <a:pt x="6998961" y="1200727"/>
                  <a:pt x="6973456" y="1200727"/>
                </a:cubicBezTo>
                <a:lnTo>
                  <a:pt x="46180" y="1200727"/>
                </a:lnTo>
                <a:cubicBezTo>
                  <a:pt x="20675" y="1200727"/>
                  <a:pt x="0" y="1180052"/>
                  <a:pt x="0" y="1154547"/>
                </a:cubicBezTo>
                <a:lnTo>
                  <a:pt x="0" y="46180"/>
                </a:lnTo>
                <a:cubicBezTo>
                  <a:pt x="0" y="20693"/>
                  <a:pt x="20693" y="0"/>
                  <a:pt x="461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77455" y="5218545"/>
            <a:ext cx="461818" cy="461818"/>
          </a:xfrm>
          <a:custGeom>
            <a:avLst/>
            <a:gdLst/>
            <a:ahLst/>
            <a:cxnLst/>
            <a:rect l="l" t="t" r="r" b="b"/>
            <a:pathLst>
              <a:path w="461818" h="461818">
                <a:moveTo>
                  <a:pt x="230909" y="0"/>
                </a:moveTo>
                <a:lnTo>
                  <a:pt x="230909" y="0"/>
                </a:lnTo>
                <a:cubicBezTo>
                  <a:pt x="358351" y="0"/>
                  <a:pt x="461818" y="103467"/>
                  <a:pt x="461818" y="230909"/>
                </a:cubicBezTo>
                <a:lnTo>
                  <a:pt x="461818" y="230909"/>
                </a:lnTo>
                <a:cubicBezTo>
                  <a:pt x="461818" y="358351"/>
                  <a:pt x="358351" y="461818"/>
                  <a:pt x="230909" y="461818"/>
                </a:cubicBezTo>
                <a:lnTo>
                  <a:pt x="230909" y="461818"/>
                </a:lnTo>
                <a:cubicBezTo>
                  <a:pt x="103467" y="461818"/>
                  <a:pt x="0" y="358351"/>
                  <a:pt x="0" y="230909"/>
                </a:cubicBezTo>
                <a:lnTo>
                  <a:pt x="0" y="230909"/>
                </a:lnTo>
                <a:cubicBezTo>
                  <a:pt x="0" y="103467"/>
                  <a:pt x="103467" y="0"/>
                  <a:pt x="230909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825500" y="5218545"/>
            <a:ext cx="565727" cy="46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36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000" y="5218545"/>
            <a:ext cx="6199909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Согласование одним кликом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5588000"/>
            <a:ext cx="6188364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Участники получают уведомления и принимают решение, история действий логируется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8909" y="6419273"/>
            <a:ext cx="7019636" cy="1200727"/>
          </a:xfrm>
          <a:custGeom>
            <a:avLst/>
            <a:gdLst/>
            <a:ahLst/>
            <a:cxnLst/>
            <a:rect l="l" t="t" r="r" b="b"/>
            <a:pathLst>
              <a:path w="7019636" h="1200727">
                <a:moveTo>
                  <a:pt x="46180" y="0"/>
                </a:moveTo>
                <a:lnTo>
                  <a:pt x="6973456" y="0"/>
                </a:lnTo>
                <a:cubicBezTo>
                  <a:pt x="6998961" y="0"/>
                  <a:pt x="7019636" y="20675"/>
                  <a:pt x="7019636" y="46180"/>
                </a:cubicBezTo>
                <a:lnTo>
                  <a:pt x="7019636" y="1154547"/>
                </a:lnTo>
                <a:cubicBezTo>
                  <a:pt x="7019636" y="1180052"/>
                  <a:pt x="6998961" y="1200727"/>
                  <a:pt x="6973456" y="1200727"/>
                </a:cubicBezTo>
                <a:lnTo>
                  <a:pt x="46180" y="1200727"/>
                </a:lnTo>
                <a:cubicBezTo>
                  <a:pt x="20675" y="1200727"/>
                  <a:pt x="0" y="1180052"/>
                  <a:pt x="0" y="1154547"/>
                </a:cubicBezTo>
                <a:lnTo>
                  <a:pt x="0" y="46180"/>
                </a:lnTo>
                <a:cubicBezTo>
                  <a:pt x="0" y="20693"/>
                  <a:pt x="20693" y="0"/>
                  <a:pt x="461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77455" y="6557818"/>
            <a:ext cx="461818" cy="461818"/>
          </a:xfrm>
          <a:custGeom>
            <a:avLst/>
            <a:gdLst/>
            <a:ahLst/>
            <a:cxnLst/>
            <a:rect l="l" t="t" r="r" b="b"/>
            <a:pathLst>
              <a:path w="461818" h="461818">
                <a:moveTo>
                  <a:pt x="230909" y="0"/>
                </a:moveTo>
                <a:lnTo>
                  <a:pt x="230909" y="0"/>
                </a:lnTo>
                <a:cubicBezTo>
                  <a:pt x="358351" y="0"/>
                  <a:pt x="461818" y="103467"/>
                  <a:pt x="461818" y="230909"/>
                </a:cubicBezTo>
                <a:lnTo>
                  <a:pt x="461818" y="230909"/>
                </a:lnTo>
                <a:cubicBezTo>
                  <a:pt x="461818" y="358351"/>
                  <a:pt x="358351" y="461818"/>
                  <a:pt x="230909" y="461818"/>
                </a:cubicBezTo>
                <a:lnTo>
                  <a:pt x="230909" y="461818"/>
                </a:lnTo>
                <a:cubicBezTo>
                  <a:pt x="103467" y="461818"/>
                  <a:pt x="0" y="358351"/>
                  <a:pt x="0" y="230909"/>
                </a:cubicBezTo>
                <a:lnTo>
                  <a:pt x="0" y="230909"/>
                </a:lnTo>
                <a:cubicBezTo>
                  <a:pt x="0" y="103467"/>
                  <a:pt x="103467" y="0"/>
                  <a:pt x="230909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825500" y="6557818"/>
            <a:ext cx="565727" cy="46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36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0" y="6557818"/>
            <a:ext cx="6199909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Контроль и хранение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" y="6927273"/>
            <a:ext cx="6188364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отображает статус в реальном времени и сохраняет документ в БД для быстрого поиска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71164" y="1667164"/>
            <a:ext cx="7513782" cy="3923145"/>
          </a:xfrm>
          <a:custGeom>
            <a:avLst/>
            <a:gdLst/>
            <a:ahLst/>
            <a:cxnLst/>
            <a:rect l="l" t="t" r="r" b="b"/>
            <a:pathLst>
              <a:path w="7513782" h="3923145">
                <a:moveTo>
                  <a:pt x="92351" y="0"/>
                </a:moveTo>
                <a:lnTo>
                  <a:pt x="7421431" y="0"/>
                </a:lnTo>
                <a:cubicBezTo>
                  <a:pt x="7472435" y="0"/>
                  <a:pt x="7513782" y="41347"/>
                  <a:pt x="7513782" y="92351"/>
                </a:cubicBezTo>
                <a:lnTo>
                  <a:pt x="7513782" y="3830795"/>
                </a:lnTo>
                <a:cubicBezTo>
                  <a:pt x="7513782" y="3881799"/>
                  <a:pt x="7472435" y="3923145"/>
                  <a:pt x="7421431" y="3923145"/>
                </a:cubicBezTo>
                <a:lnTo>
                  <a:pt x="92351" y="3923145"/>
                </a:lnTo>
                <a:cubicBezTo>
                  <a:pt x="41347" y="3923145"/>
                  <a:pt x="0" y="3881799"/>
                  <a:pt x="0" y="3830795"/>
                </a:cubicBezTo>
                <a:lnTo>
                  <a:pt x="0" y="92351"/>
                </a:lnTo>
                <a:cubicBezTo>
                  <a:pt x="0" y="41381"/>
                  <a:pt x="41381" y="0"/>
                  <a:pt x="92351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6691" y="1902694"/>
            <a:ext cx="7158182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сущности системы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11309" y="2415312"/>
            <a:ext cx="3449782" cy="1533236"/>
          </a:xfrm>
          <a:custGeom>
            <a:avLst/>
            <a:gdLst/>
            <a:ahLst/>
            <a:cxnLst/>
            <a:rect l="l" t="t" r="r" b="b"/>
            <a:pathLst>
              <a:path w="3449782" h="1533236">
                <a:moveTo>
                  <a:pt x="46181" y="0"/>
                </a:moveTo>
                <a:lnTo>
                  <a:pt x="3403601" y="0"/>
                </a:lnTo>
                <a:cubicBezTo>
                  <a:pt x="3429106" y="0"/>
                  <a:pt x="3449782" y="20676"/>
                  <a:pt x="3449782" y="46181"/>
                </a:cubicBezTo>
                <a:lnTo>
                  <a:pt x="3449782" y="1487055"/>
                </a:lnTo>
                <a:cubicBezTo>
                  <a:pt x="3449782" y="1512560"/>
                  <a:pt x="3429106" y="1533236"/>
                  <a:pt x="3403601" y="1533236"/>
                </a:cubicBezTo>
                <a:lnTo>
                  <a:pt x="46181" y="1533236"/>
                </a:lnTo>
                <a:cubicBezTo>
                  <a:pt x="20676" y="1533236"/>
                  <a:pt x="0" y="1512560"/>
                  <a:pt x="0" y="1487055"/>
                </a:cubicBezTo>
                <a:lnTo>
                  <a:pt x="0" y="46181"/>
                </a:lnTo>
                <a:cubicBezTo>
                  <a:pt x="0" y="20693"/>
                  <a:pt x="20693" y="0"/>
                  <a:pt x="46181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12200" y="2604656"/>
            <a:ext cx="173182" cy="230909"/>
          </a:xfrm>
          <a:custGeom>
            <a:avLst/>
            <a:gdLst/>
            <a:ahLst/>
            <a:cxnLst/>
            <a:rect l="l" t="t" r="r" b="b"/>
            <a:pathLst>
              <a:path w="173182" h="230909">
                <a:moveTo>
                  <a:pt x="0" y="28864"/>
                </a:moveTo>
                <a:cubicBezTo>
                  <a:pt x="0" y="12944"/>
                  <a:pt x="12944" y="0"/>
                  <a:pt x="28864" y="0"/>
                </a:cubicBezTo>
                <a:lnTo>
                  <a:pt x="96287" y="0"/>
                </a:lnTo>
                <a:cubicBezTo>
                  <a:pt x="103954" y="0"/>
                  <a:pt x="111305" y="3022"/>
                  <a:pt x="116717" y="8434"/>
                </a:cubicBezTo>
                <a:lnTo>
                  <a:pt x="164748" y="56510"/>
                </a:lnTo>
                <a:cubicBezTo>
                  <a:pt x="170160" y="61922"/>
                  <a:pt x="173182" y="69273"/>
                  <a:pt x="173182" y="76940"/>
                </a:cubicBezTo>
                <a:lnTo>
                  <a:pt x="173182" y="202045"/>
                </a:lnTo>
                <a:cubicBezTo>
                  <a:pt x="173182" y="217966"/>
                  <a:pt x="160238" y="230909"/>
                  <a:pt x="144318" y="230909"/>
                </a:cubicBezTo>
                <a:lnTo>
                  <a:pt x="28864" y="230909"/>
                </a:lnTo>
                <a:cubicBezTo>
                  <a:pt x="12944" y="230909"/>
                  <a:pt x="0" y="217966"/>
                  <a:pt x="0" y="202045"/>
                </a:cubicBezTo>
                <a:lnTo>
                  <a:pt x="0" y="28864"/>
                </a:lnTo>
                <a:close/>
                <a:moveTo>
                  <a:pt x="93807" y="26383"/>
                </a:moveTo>
                <a:lnTo>
                  <a:pt x="93807" y="68551"/>
                </a:lnTo>
                <a:cubicBezTo>
                  <a:pt x="93807" y="74549"/>
                  <a:pt x="98632" y="79375"/>
                  <a:pt x="104631" y="79375"/>
                </a:cubicBezTo>
                <a:lnTo>
                  <a:pt x="146799" y="79375"/>
                </a:lnTo>
                <a:lnTo>
                  <a:pt x="93807" y="26383"/>
                </a:lnTo>
                <a:close/>
                <a:moveTo>
                  <a:pt x="54119" y="115455"/>
                </a:moveTo>
                <a:cubicBezTo>
                  <a:pt x="48121" y="115455"/>
                  <a:pt x="43295" y="120280"/>
                  <a:pt x="43295" y="126278"/>
                </a:cubicBezTo>
                <a:cubicBezTo>
                  <a:pt x="43295" y="132277"/>
                  <a:pt x="48121" y="137102"/>
                  <a:pt x="54119" y="137102"/>
                </a:cubicBezTo>
                <a:lnTo>
                  <a:pt x="119063" y="137102"/>
                </a:lnTo>
                <a:cubicBezTo>
                  <a:pt x="125061" y="137102"/>
                  <a:pt x="129886" y="132277"/>
                  <a:pt x="129886" y="126278"/>
                </a:cubicBezTo>
                <a:cubicBezTo>
                  <a:pt x="129886" y="120280"/>
                  <a:pt x="125061" y="115455"/>
                  <a:pt x="119063" y="115455"/>
                </a:cubicBezTo>
                <a:lnTo>
                  <a:pt x="54119" y="115455"/>
                </a:lnTo>
                <a:close/>
                <a:moveTo>
                  <a:pt x="54119" y="158750"/>
                </a:moveTo>
                <a:cubicBezTo>
                  <a:pt x="48121" y="158750"/>
                  <a:pt x="43295" y="163576"/>
                  <a:pt x="43295" y="169574"/>
                </a:cubicBezTo>
                <a:cubicBezTo>
                  <a:pt x="43295" y="175572"/>
                  <a:pt x="48121" y="180398"/>
                  <a:pt x="54119" y="180398"/>
                </a:cubicBezTo>
                <a:lnTo>
                  <a:pt x="119063" y="180398"/>
                </a:lnTo>
                <a:cubicBezTo>
                  <a:pt x="125061" y="180398"/>
                  <a:pt x="129886" y="175572"/>
                  <a:pt x="129886" y="169574"/>
                </a:cubicBezTo>
                <a:cubicBezTo>
                  <a:pt x="129886" y="163576"/>
                  <a:pt x="125061" y="158750"/>
                  <a:pt x="119063" y="158750"/>
                </a:cubicBezTo>
                <a:lnTo>
                  <a:pt x="54119" y="15875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3" name="Text 31"/>
          <p:cNvSpPr/>
          <p:nvPr/>
        </p:nvSpPr>
        <p:spPr>
          <a:xfrm>
            <a:off x="9035473" y="2558474"/>
            <a:ext cx="1096818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Документ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54473" y="2974110"/>
            <a:ext cx="3255818" cy="831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Центральная сущность с заголовком, содержанием, статусом и файлами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104255" y="2415312"/>
            <a:ext cx="3449782" cy="1533236"/>
          </a:xfrm>
          <a:custGeom>
            <a:avLst/>
            <a:gdLst/>
            <a:ahLst/>
            <a:cxnLst/>
            <a:rect l="l" t="t" r="r" b="b"/>
            <a:pathLst>
              <a:path w="3449782" h="1533236">
                <a:moveTo>
                  <a:pt x="46181" y="0"/>
                </a:moveTo>
                <a:lnTo>
                  <a:pt x="3403601" y="0"/>
                </a:lnTo>
                <a:cubicBezTo>
                  <a:pt x="3429106" y="0"/>
                  <a:pt x="3449782" y="20676"/>
                  <a:pt x="3449782" y="46181"/>
                </a:cubicBezTo>
                <a:lnTo>
                  <a:pt x="3449782" y="1487055"/>
                </a:lnTo>
                <a:cubicBezTo>
                  <a:pt x="3449782" y="1512560"/>
                  <a:pt x="3429106" y="1533236"/>
                  <a:pt x="3403601" y="1533236"/>
                </a:cubicBezTo>
                <a:lnTo>
                  <a:pt x="46181" y="1533236"/>
                </a:lnTo>
                <a:cubicBezTo>
                  <a:pt x="20676" y="1533236"/>
                  <a:pt x="0" y="1512560"/>
                  <a:pt x="0" y="1487055"/>
                </a:cubicBezTo>
                <a:lnTo>
                  <a:pt x="0" y="46181"/>
                </a:lnTo>
                <a:cubicBezTo>
                  <a:pt x="0" y="20693"/>
                  <a:pt x="20693" y="0"/>
                  <a:pt x="46181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290714" y="2604656"/>
            <a:ext cx="202045" cy="230909"/>
          </a:xfrm>
          <a:custGeom>
            <a:avLst/>
            <a:gdLst/>
            <a:ahLst/>
            <a:cxnLst/>
            <a:rect l="l" t="t" r="r" b="b"/>
            <a:pathLst>
              <a:path w="202045" h="230909">
                <a:moveTo>
                  <a:pt x="101023" y="111847"/>
                </a:moveTo>
                <a:cubicBezTo>
                  <a:pt x="130892" y="111847"/>
                  <a:pt x="155142" y="87597"/>
                  <a:pt x="155142" y="57727"/>
                </a:cubicBezTo>
                <a:cubicBezTo>
                  <a:pt x="155142" y="27858"/>
                  <a:pt x="130892" y="3608"/>
                  <a:pt x="101023" y="3608"/>
                </a:cubicBezTo>
                <a:cubicBezTo>
                  <a:pt x="71153" y="3608"/>
                  <a:pt x="46903" y="27858"/>
                  <a:pt x="46903" y="57727"/>
                </a:cubicBezTo>
                <a:cubicBezTo>
                  <a:pt x="46903" y="87597"/>
                  <a:pt x="71153" y="111847"/>
                  <a:pt x="101023" y="111847"/>
                </a:cubicBezTo>
                <a:close/>
                <a:moveTo>
                  <a:pt x="87628" y="137102"/>
                </a:moveTo>
                <a:cubicBezTo>
                  <a:pt x="43205" y="137102"/>
                  <a:pt x="7216" y="173092"/>
                  <a:pt x="7216" y="217515"/>
                </a:cubicBezTo>
                <a:cubicBezTo>
                  <a:pt x="7216" y="224911"/>
                  <a:pt x="13214" y="230909"/>
                  <a:pt x="20610" y="230909"/>
                </a:cubicBezTo>
                <a:lnTo>
                  <a:pt x="181435" y="230909"/>
                </a:lnTo>
                <a:cubicBezTo>
                  <a:pt x="188831" y="230909"/>
                  <a:pt x="194830" y="224911"/>
                  <a:pt x="194830" y="217515"/>
                </a:cubicBezTo>
                <a:cubicBezTo>
                  <a:pt x="194830" y="173092"/>
                  <a:pt x="158840" y="137102"/>
                  <a:pt x="114417" y="137102"/>
                </a:cubicBezTo>
                <a:lnTo>
                  <a:pt x="87628" y="137102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7" name="Text 35"/>
          <p:cNvSpPr/>
          <p:nvPr/>
        </p:nvSpPr>
        <p:spPr>
          <a:xfrm>
            <a:off x="12628419" y="2558474"/>
            <a:ext cx="1593273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Пользователь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247419" y="2974110"/>
            <a:ext cx="3255818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Ролевая модель: Администратор, Руководитель, Сотрудник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11309" y="4096332"/>
            <a:ext cx="3449782" cy="1256145"/>
          </a:xfrm>
          <a:custGeom>
            <a:avLst/>
            <a:gdLst/>
            <a:ahLst/>
            <a:cxnLst/>
            <a:rect l="l" t="t" r="r" b="b"/>
            <a:pathLst>
              <a:path w="3449782" h="1256145">
                <a:moveTo>
                  <a:pt x="46176" y="0"/>
                </a:moveTo>
                <a:lnTo>
                  <a:pt x="3403606" y="0"/>
                </a:lnTo>
                <a:cubicBezTo>
                  <a:pt x="3429108" y="0"/>
                  <a:pt x="3449782" y="20674"/>
                  <a:pt x="3449782" y="46176"/>
                </a:cubicBezTo>
                <a:lnTo>
                  <a:pt x="3449782" y="1209970"/>
                </a:lnTo>
                <a:cubicBezTo>
                  <a:pt x="3449782" y="1235472"/>
                  <a:pt x="3429108" y="1256145"/>
                  <a:pt x="3403606" y="1256145"/>
                </a:cubicBezTo>
                <a:lnTo>
                  <a:pt x="46176" y="1256145"/>
                </a:lnTo>
                <a:cubicBezTo>
                  <a:pt x="20674" y="1256145"/>
                  <a:pt x="0" y="1235472"/>
                  <a:pt x="0" y="1209970"/>
                </a:cubicBezTo>
                <a:lnTo>
                  <a:pt x="0" y="46176"/>
                </a:lnTo>
                <a:cubicBezTo>
                  <a:pt x="0" y="20691"/>
                  <a:pt x="20691" y="0"/>
                  <a:pt x="46176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3337" y="4285675"/>
            <a:ext cx="230909" cy="230909"/>
          </a:xfrm>
          <a:custGeom>
            <a:avLst/>
            <a:gdLst/>
            <a:ahLst/>
            <a:cxnLst/>
            <a:rect l="l" t="t" r="r" b="b"/>
            <a:pathLst>
              <a:path w="230909" h="230909">
                <a:moveTo>
                  <a:pt x="86591" y="28864"/>
                </a:moveTo>
                <a:cubicBezTo>
                  <a:pt x="86591" y="20881"/>
                  <a:pt x="93040" y="14432"/>
                  <a:pt x="101023" y="14432"/>
                </a:cubicBezTo>
                <a:lnTo>
                  <a:pt x="129886" y="14432"/>
                </a:lnTo>
                <a:cubicBezTo>
                  <a:pt x="137869" y="14432"/>
                  <a:pt x="144318" y="20881"/>
                  <a:pt x="144318" y="28864"/>
                </a:cubicBezTo>
                <a:lnTo>
                  <a:pt x="144318" y="57727"/>
                </a:lnTo>
                <a:cubicBezTo>
                  <a:pt x="144318" y="65710"/>
                  <a:pt x="137869" y="72159"/>
                  <a:pt x="129886" y="72159"/>
                </a:cubicBezTo>
                <a:lnTo>
                  <a:pt x="126278" y="72159"/>
                </a:lnTo>
                <a:lnTo>
                  <a:pt x="126278" y="101023"/>
                </a:lnTo>
                <a:lnTo>
                  <a:pt x="180398" y="101023"/>
                </a:lnTo>
                <a:cubicBezTo>
                  <a:pt x="198347" y="101023"/>
                  <a:pt x="212869" y="115545"/>
                  <a:pt x="212869" y="133494"/>
                </a:cubicBezTo>
                <a:lnTo>
                  <a:pt x="212869" y="158750"/>
                </a:lnTo>
                <a:lnTo>
                  <a:pt x="216477" y="158750"/>
                </a:lnTo>
                <a:cubicBezTo>
                  <a:pt x="224460" y="158750"/>
                  <a:pt x="230909" y="165199"/>
                  <a:pt x="230909" y="173182"/>
                </a:cubicBezTo>
                <a:lnTo>
                  <a:pt x="230909" y="202045"/>
                </a:lnTo>
                <a:cubicBezTo>
                  <a:pt x="230909" y="210028"/>
                  <a:pt x="224460" y="216477"/>
                  <a:pt x="216477" y="216477"/>
                </a:cubicBezTo>
                <a:lnTo>
                  <a:pt x="187614" y="216477"/>
                </a:lnTo>
                <a:cubicBezTo>
                  <a:pt x="179631" y="216477"/>
                  <a:pt x="173182" y="210028"/>
                  <a:pt x="173182" y="202045"/>
                </a:cubicBezTo>
                <a:lnTo>
                  <a:pt x="173182" y="173182"/>
                </a:lnTo>
                <a:cubicBezTo>
                  <a:pt x="173182" y="165199"/>
                  <a:pt x="179631" y="158750"/>
                  <a:pt x="187614" y="158750"/>
                </a:cubicBezTo>
                <a:lnTo>
                  <a:pt x="191222" y="158750"/>
                </a:lnTo>
                <a:lnTo>
                  <a:pt x="191222" y="133494"/>
                </a:lnTo>
                <a:cubicBezTo>
                  <a:pt x="191222" y="127496"/>
                  <a:pt x="186396" y="122670"/>
                  <a:pt x="180398" y="122670"/>
                </a:cubicBezTo>
                <a:lnTo>
                  <a:pt x="126278" y="122670"/>
                </a:lnTo>
                <a:lnTo>
                  <a:pt x="126278" y="158750"/>
                </a:lnTo>
                <a:lnTo>
                  <a:pt x="129886" y="158750"/>
                </a:lnTo>
                <a:cubicBezTo>
                  <a:pt x="137869" y="158750"/>
                  <a:pt x="144318" y="165199"/>
                  <a:pt x="144318" y="173182"/>
                </a:cubicBezTo>
                <a:lnTo>
                  <a:pt x="144318" y="202045"/>
                </a:lnTo>
                <a:cubicBezTo>
                  <a:pt x="144318" y="210028"/>
                  <a:pt x="137869" y="216477"/>
                  <a:pt x="129886" y="216477"/>
                </a:cubicBezTo>
                <a:lnTo>
                  <a:pt x="101023" y="216477"/>
                </a:lnTo>
                <a:cubicBezTo>
                  <a:pt x="93040" y="216477"/>
                  <a:pt x="86591" y="210028"/>
                  <a:pt x="86591" y="202045"/>
                </a:cubicBezTo>
                <a:lnTo>
                  <a:pt x="86591" y="173182"/>
                </a:lnTo>
                <a:cubicBezTo>
                  <a:pt x="86591" y="165199"/>
                  <a:pt x="93040" y="158750"/>
                  <a:pt x="101023" y="158750"/>
                </a:cubicBezTo>
                <a:lnTo>
                  <a:pt x="104631" y="158750"/>
                </a:lnTo>
                <a:lnTo>
                  <a:pt x="104631" y="122670"/>
                </a:lnTo>
                <a:lnTo>
                  <a:pt x="50511" y="122670"/>
                </a:lnTo>
                <a:cubicBezTo>
                  <a:pt x="44513" y="122670"/>
                  <a:pt x="39688" y="127496"/>
                  <a:pt x="39688" y="133494"/>
                </a:cubicBezTo>
                <a:lnTo>
                  <a:pt x="39688" y="158750"/>
                </a:lnTo>
                <a:lnTo>
                  <a:pt x="43295" y="158750"/>
                </a:lnTo>
                <a:cubicBezTo>
                  <a:pt x="51278" y="158750"/>
                  <a:pt x="57727" y="165199"/>
                  <a:pt x="57727" y="173182"/>
                </a:cubicBezTo>
                <a:lnTo>
                  <a:pt x="57727" y="202045"/>
                </a:lnTo>
                <a:cubicBezTo>
                  <a:pt x="57727" y="210028"/>
                  <a:pt x="51278" y="216477"/>
                  <a:pt x="43295" y="216477"/>
                </a:cubicBezTo>
                <a:lnTo>
                  <a:pt x="14432" y="216477"/>
                </a:lnTo>
                <a:cubicBezTo>
                  <a:pt x="6449" y="216477"/>
                  <a:pt x="0" y="210028"/>
                  <a:pt x="0" y="202045"/>
                </a:cubicBezTo>
                <a:lnTo>
                  <a:pt x="0" y="173182"/>
                </a:lnTo>
                <a:cubicBezTo>
                  <a:pt x="0" y="165199"/>
                  <a:pt x="6449" y="158750"/>
                  <a:pt x="14432" y="158750"/>
                </a:cubicBezTo>
                <a:lnTo>
                  <a:pt x="18040" y="158750"/>
                </a:lnTo>
                <a:lnTo>
                  <a:pt x="18040" y="133494"/>
                </a:lnTo>
                <a:cubicBezTo>
                  <a:pt x="18040" y="115545"/>
                  <a:pt x="32562" y="101023"/>
                  <a:pt x="50511" y="101023"/>
                </a:cubicBezTo>
                <a:lnTo>
                  <a:pt x="104631" y="101023"/>
                </a:lnTo>
                <a:lnTo>
                  <a:pt x="104631" y="72159"/>
                </a:lnTo>
                <a:lnTo>
                  <a:pt x="101023" y="72159"/>
                </a:lnTo>
                <a:cubicBezTo>
                  <a:pt x="93040" y="72159"/>
                  <a:pt x="86591" y="65710"/>
                  <a:pt x="86591" y="57727"/>
                </a:cubicBezTo>
                <a:lnTo>
                  <a:pt x="86591" y="28864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1" name="Text 39"/>
          <p:cNvSpPr/>
          <p:nvPr/>
        </p:nvSpPr>
        <p:spPr>
          <a:xfrm>
            <a:off x="9035473" y="4239493"/>
            <a:ext cx="1454727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Департамент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54473" y="4655130"/>
            <a:ext cx="3255818" cy="55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Организационная структура предприятия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104255" y="4096332"/>
            <a:ext cx="3449782" cy="1256145"/>
          </a:xfrm>
          <a:custGeom>
            <a:avLst/>
            <a:gdLst/>
            <a:ahLst/>
            <a:cxnLst/>
            <a:rect l="l" t="t" r="r" b="b"/>
            <a:pathLst>
              <a:path w="3449782" h="1256145">
                <a:moveTo>
                  <a:pt x="46176" y="0"/>
                </a:moveTo>
                <a:lnTo>
                  <a:pt x="3403606" y="0"/>
                </a:lnTo>
                <a:cubicBezTo>
                  <a:pt x="3429108" y="0"/>
                  <a:pt x="3449782" y="20674"/>
                  <a:pt x="3449782" y="46176"/>
                </a:cubicBezTo>
                <a:lnTo>
                  <a:pt x="3449782" y="1209970"/>
                </a:lnTo>
                <a:cubicBezTo>
                  <a:pt x="3449782" y="1235472"/>
                  <a:pt x="3429108" y="1256145"/>
                  <a:pt x="3403606" y="1256145"/>
                </a:cubicBezTo>
                <a:lnTo>
                  <a:pt x="46176" y="1256145"/>
                </a:lnTo>
                <a:cubicBezTo>
                  <a:pt x="20674" y="1256145"/>
                  <a:pt x="0" y="1235472"/>
                  <a:pt x="0" y="1209970"/>
                </a:cubicBezTo>
                <a:lnTo>
                  <a:pt x="0" y="46176"/>
                </a:lnTo>
                <a:cubicBezTo>
                  <a:pt x="0" y="20691"/>
                  <a:pt x="20691" y="0"/>
                  <a:pt x="46176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290714" y="4285675"/>
            <a:ext cx="202045" cy="230909"/>
          </a:xfrm>
          <a:custGeom>
            <a:avLst/>
            <a:gdLst/>
            <a:ahLst/>
            <a:cxnLst/>
            <a:rect l="l" t="t" r="r" b="b"/>
            <a:pathLst>
              <a:path w="202045" h="230909">
                <a:moveTo>
                  <a:pt x="28864" y="14432"/>
                </a:moveTo>
                <a:cubicBezTo>
                  <a:pt x="28864" y="6449"/>
                  <a:pt x="22414" y="0"/>
                  <a:pt x="14432" y="0"/>
                </a:cubicBezTo>
                <a:cubicBezTo>
                  <a:pt x="6449" y="0"/>
                  <a:pt x="0" y="6449"/>
                  <a:pt x="0" y="14432"/>
                </a:cubicBezTo>
                <a:lnTo>
                  <a:pt x="0" y="216477"/>
                </a:lnTo>
                <a:cubicBezTo>
                  <a:pt x="0" y="224460"/>
                  <a:pt x="6449" y="230909"/>
                  <a:pt x="14432" y="230909"/>
                </a:cubicBezTo>
                <a:cubicBezTo>
                  <a:pt x="22414" y="230909"/>
                  <a:pt x="28864" y="224460"/>
                  <a:pt x="28864" y="216477"/>
                </a:cubicBezTo>
                <a:lnTo>
                  <a:pt x="28864" y="161636"/>
                </a:lnTo>
                <a:lnTo>
                  <a:pt x="57141" y="153158"/>
                </a:lnTo>
                <a:cubicBezTo>
                  <a:pt x="76038" y="147475"/>
                  <a:pt x="96423" y="149234"/>
                  <a:pt x="114056" y="158074"/>
                </a:cubicBezTo>
                <a:cubicBezTo>
                  <a:pt x="133314" y="167725"/>
                  <a:pt x="155773" y="168897"/>
                  <a:pt x="175933" y="161321"/>
                </a:cubicBezTo>
                <a:lnTo>
                  <a:pt x="192665" y="155052"/>
                </a:lnTo>
                <a:cubicBezTo>
                  <a:pt x="198302" y="152932"/>
                  <a:pt x="202045" y="147565"/>
                  <a:pt x="202045" y="141522"/>
                </a:cubicBezTo>
                <a:lnTo>
                  <a:pt x="202045" y="29811"/>
                </a:lnTo>
                <a:cubicBezTo>
                  <a:pt x="202045" y="19438"/>
                  <a:pt x="191131" y="12673"/>
                  <a:pt x="181841" y="17318"/>
                </a:cubicBezTo>
                <a:lnTo>
                  <a:pt x="176519" y="19979"/>
                </a:lnTo>
                <a:cubicBezTo>
                  <a:pt x="156270" y="30126"/>
                  <a:pt x="132412" y="30126"/>
                  <a:pt x="112117" y="19979"/>
                </a:cubicBezTo>
                <a:cubicBezTo>
                  <a:pt x="95701" y="11771"/>
                  <a:pt x="76804" y="10147"/>
                  <a:pt x="59261" y="15424"/>
                </a:cubicBezTo>
                <a:lnTo>
                  <a:pt x="28864" y="24534"/>
                </a:lnTo>
                <a:lnTo>
                  <a:pt x="28864" y="14432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5" name="Text 43"/>
          <p:cNvSpPr/>
          <p:nvPr/>
        </p:nvSpPr>
        <p:spPr>
          <a:xfrm>
            <a:off x="12628419" y="4239493"/>
            <a:ext cx="808182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Статус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247419" y="4655130"/>
            <a:ext cx="32558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Машина состояний документа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71164" y="5832767"/>
            <a:ext cx="7513782" cy="3101483"/>
          </a:xfrm>
          <a:custGeom>
            <a:avLst/>
            <a:gdLst/>
            <a:ahLst/>
            <a:cxnLst/>
            <a:rect l="l" t="t" r="r" b="b"/>
            <a:pathLst>
              <a:path w="7513782" h="3101483">
                <a:moveTo>
                  <a:pt x="92351" y="0"/>
                </a:moveTo>
                <a:lnTo>
                  <a:pt x="7421431" y="0"/>
                </a:lnTo>
                <a:cubicBezTo>
                  <a:pt x="7472435" y="0"/>
                  <a:pt x="7513782" y="37172"/>
                  <a:pt x="7513782" y="83027"/>
                </a:cubicBezTo>
                <a:lnTo>
                  <a:pt x="7513782" y="3018456"/>
                </a:lnTo>
                <a:cubicBezTo>
                  <a:pt x="7513782" y="3064310"/>
                  <a:pt x="7472435" y="3101483"/>
                  <a:pt x="7421431" y="3101483"/>
                </a:cubicBezTo>
                <a:lnTo>
                  <a:pt x="92351" y="3101483"/>
                </a:lnTo>
                <a:cubicBezTo>
                  <a:pt x="41347" y="3101483"/>
                  <a:pt x="0" y="3064310"/>
                  <a:pt x="0" y="3018456"/>
                </a:cubicBezTo>
                <a:lnTo>
                  <a:pt x="0" y="83027"/>
                </a:lnTo>
                <a:cubicBezTo>
                  <a:pt x="0" y="37172"/>
                  <a:pt x="41347" y="0"/>
                  <a:pt x="92351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6691" y="6068292"/>
            <a:ext cx="7158182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8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Трансформация процесса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06691" y="6580910"/>
            <a:ext cx="3048000" cy="2130908"/>
          </a:xfrm>
          <a:custGeom>
            <a:avLst/>
            <a:gdLst/>
            <a:ahLst/>
            <a:cxnLst/>
            <a:rect l="l" t="t" r="r" b="b"/>
            <a:pathLst>
              <a:path w="3048000" h="2130908">
                <a:moveTo>
                  <a:pt x="92363" y="0"/>
                </a:moveTo>
                <a:lnTo>
                  <a:pt x="2955637" y="0"/>
                </a:lnTo>
                <a:cubicBezTo>
                  <a:pt x="3006648" y="0"/>
                  <a:pt x="3048000" y="46538"/>
                  <a:pt x="3048000" y="103946"/>
                </a:cubicBezTo>
                <a:lnTo>
                  <a:pt x="3048000" y="2026962"/>
                </a:lnTo>
                <a:cubicBezTo>
                  <a:pt x="3048000" y="2084370"/>
                  <a:pt x="3006648" y="2130908"/>
                  <a:pt x="2955637" y="2130908"/>
                </a:cubicBezTo>
                <a:lnTo>
                  <a:pt x="92363" y="2130908"/>
                </a:lnTo>
                <a:cubicBezTo>
                  <a:pt x="41352" y="2130908"/>
                  <a:pt x="0" y="2084370"/>
                  <a:pt x="0" y="2026962"/>
                </a:cubicBezTo>
                <a:lnTo>
                  <a:pt x="0" y="103946"/>
                </a:lnTo>
                <a:cubicBezTo>
                  <a:pt x="0" y="46576"/>
                  <a:pt x="41386" y="0"/>
                  <a:pt x="92363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654473" y="6696364"/>
            <a:ext cx="2782455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AS-IS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54473" y="7204364"/>
            <a:ext cx="2770909" cy="110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Последовательный и непрозрачный процесс с физическим перемещением документов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621799" y="7310584"/>
            <a:ext cx="554182" cy="554182"/>
          </a:xfrm>
          <a:custGeom>
            <a:avLst/>
            <a:gdLst/>
            <a:ahLst/>
            <a:cxnLst/>
            <a:rect l="l" t="t" r="r" b="b"/>
            <a:pathLst>
              <a:path w="554182" h="554182">
                <a:moveTo>
                  <a:pt x="544007" y="301553"/>
                </a:moveTo>
                <a:cubicBezTo>
                  <a:pt x="557537" y="288023"/>
                  <a:pt x="557537" y="266051"/>
                  <a:pt x="544007" y="252521"/>
                </a:cubicBezTo>
                <a:lnTo>
                  <a:pt x="370826" y="79339"/>
                </a:lnTo>
                <a:cubicBezTo>
                  <a:pt x="357296" y="65809"/>
                  <a:pt x="335323" y="65809"/>
                  <a:pt x="321793" y="79339"/>
                </a:cubicBezTo>
                <a:cubicBezTo>
                  <a:pt x="308264" y="92869"/>
                  <a:pt x="308264" y="114841"/>
                  <a:pt x="321793" y="128371"/>
                </a:cubicBezTo>
                <a:lnTo>
                  <a:pt x="435877" y="242455"/>
                </a:lnTo>
                <a:lnTo>
                  <a:pt x="34636" y="242455"/>
                </a:lnTo>
                <a:cubicBezTo>
                  <a:pt x="15478" y="242455"/>
                  <a:pt x="0" y="257933"/>
                  <a:pt x="0" y="277091"/>
                </a:cubicBezTo>
                <a:cubicBezTo>
                  <a:pt x="0" y="296249"/>
                  <a:pt x="15478" y="311727"/>
                  <a:pt x="34636" y="311727"/>
                </a:cubicBezTo>
                <a:lnTo>
                  <a:pt x="435877" y="311727"/>
                </a:lnTo>
                <a:lnTo>
                  <a:pt x="321793" y="425811"/>
                </a:lnTo>
                <a:cubicBezTo>
                  <a:pt x="308264" y="439341"/>
                  <a:pt x="308264" y="461313"/>
                  <a:pt x="321793" y="474843"/>
                </a:cubicBezTo>
                <a:cubicBezTo>
                  <a:pt x="335323" y="488373"/>
                  <a:pt x="357296" y="488373"/>
                  <a:pt x="370826" y="474843"/>
                </a:cubicBezTo>
                <a:lnTo>
                  <a:pt x="544007" y="301661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3" name="Shape 51"/>
          <p:cNvSpPr/>
          <p:nvPr/>
        </p:nvSpPr>
        <p:spPr>
          <a:xfrm>
            <a:off x="12249872" y="6580910"/>
            <a:ext cx="3299691" cy="2135529"/>
          </a:xfrm>
          <a:custGeom>
            <a:avLst/>
            <a:gdLst/>
            <a:ahLst/>
            <a:cxnLst/>
            <a:rect l="l" t="t" r="r" b="b"/>
            <a:pathLst>
              <a:path w="3299691" h="2135529">
                <a:moveTo>
                  <a:pt x="92357" y="0"/>
                </a:moveTo>
                <a:lnTo>
                  <a:pt x="3207334" y="0"/>
                </a:lnTo>
                <a:cubicBezTo>
                  <a:pt x="3258341" y="0"/>
                  <a:pt x="3299691" y="46410"/>
                  <a:pt x="3299691" y="103659"/>
                </a:cubicBezTo>
                <a:lnTo>
                  <a:pt x="3299691" y="2031871"/>
                </a:lnTo>
                <a:cubicBezTo>
                  <a:pt x="3299691" y="2089120"/>
                  <a:pt x="3258341" y="2135529"/>
                  <a:pt x="3207334" y="2135529"/>
                </a:cubicBezTo>
                <a:lnTo>
                  <a:pt x="92357" y="2135529"/>
                </a:lnTo>
                <a:cubicBezTo>
                  <a:pt x="41349" y="2135529"/>
                  <a:pt x="0" y="2089120"/>
                  <a:pt x="0" y="2031871"/>
                </a:cubicBezTo>
                <a:lnTo>
                  <a:pt x="0" y="103659"/>
                </a:lnTo>
                <a:cubicBezTo>
                  <a:pt x="0" y="46448"/>
                  <a:pt x="41384" y="0"/>
                  <a:pt x="92357" y="0"/>
                </a:cubicBezTo>
                <a:close/>
              </a:path>
            </a:pathLst>
          </a:custGeom>
          <a:solidFill>
            <a:srgbClr val="EAEAEA">
              <a:alpha val="20000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91737" y="6696364"/>
            <a:ext cx="3024909" cy="323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3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TO-BE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2391737" y="7310584"/>
            <a:ext cx="3013364" cy="110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5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Управляемый и контролируемый процесс с автоматической маршрутизацией и прозрачностью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132" y="448132"/>
            <a:ext cx="1544936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kern="0" spc="7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ТЕОРЕТИКО-АНАЛИТИЧЕСКАЯ ЧАСТЬ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8132" y="806638"/>
            <a:ext cx="15527785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46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Обзор существующих решений рынка СЭД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132" y="1344397"/>
            <a:ext cx="1075518" cy="44813"/>
          </a:xfrm>
          <a:custGeom>
            <a:avLst/>
            <a:gdLst/>
            <a:ahLst/>
            <a:cxnLst/>
            <a:rect l="l" t="t" r="r" b="b"/>
            <a:pathLst>
              <a:path w="1075518" h="44813">
                <a:moveTo>
                  <a:pt x="0" y="0"/>
                </a:moveTo>
                <a:lnTo>
                  <a:pt x="1075518" y="0"/>
                </a:lnTo>
                <a:lnTo>
                  <a:pt x="1075518" y="44813"/>
                </a:lnTo>
                <a:lnTo>
                  <a:pt x="0" y="44813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48132" y="1635684"/>
            <a:ext cx="4974269" cy="5558941"/>
          </a:xfrm>
          <a:custGeom>
            <a:avLst/>
            <a:gdLst/>
            <a:ahLst/>
            <a:cxnLst/>
            <a:rect l="l" t="t" r="r" b="b"/>
            <a:pathLst>
              <a:path w="4974269" h="6363479">
                <a:moveTo>
                  <a:pt x="44813" y="0"/>
                </a:moveTo>
                <a:lnTo>
                  <a:pt x="4929456" y="0"/>
                </a:lnTo>
                <a:cubicBezTo>
                  <a:pt x="4954205" y="0"/>
                  <a:pt x="4974269" y="20064"/>
                  <a:pt x="4974269" y="44813"/>
                </a:cubicBezTo>
                <a:lnTo>
                  <a:pt x="4974269" y="6273843"/>
                </a:lnTo>
                <a:cubicBezTo>
                  <a:pt x="4974269" y="6323347"/>
                  <a:pt x="4934137" y="6363479"/>
                  <a:pt x="4884632" y="6363479"/>
                </a:cubicBezTo>
                <a:lnTo>
                  <a:pt x="89636" y="6363479"/>
                </a:lnTo>
                <a:cubicBezTo>
                  <a:pt x="40132" y="6363479"/>
                  <a:pt x="0" y="6323347"/>
                  <a:pt x="0" y="6273843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48132" y="1635683"/>
            <a:ext cx="4974269" cy="44813"/>
          </a:xfrm>
          <a:custGeom>
            <a:avLst/>
            <a:gdLst/>
            <a:ahLst/>
            <a:cxnLst/>
            <a:rect l="l" t="t" r="r" b="b"/>
            <a:pathLst>
              <a:path w="4974269" h="44813">
                <a:moveTo>
                  <a:pt x="44813" y="0"/>
                </a:moveTo>
                <a:lnTo>
                  <a:pt x="4929456" y="0"/>
                </a:lnTo>
                <a:cubicBezTo>
                  <a:pt x="4954205" y="0"/>
                  <a:pt x="4974269" y="20064"/>
                  <a:pt x="4974269" y="44813"/>
                </a:cubicBezTo>
                <a:lnTo>
                  <a:pt x="4974269" y="44813"/>
                </a:lnTo>
                <a:lnTo>
                  <a:pt x="0" y="44813"/>
                </a:ln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672198" y="1882156"/>
            <a:ext cx="627385" cy="627385"/>
          </a:xfrm>
          <a:custGeom>
            <a:avLst/>
            <a:gdLst/>
            <a:ahLst/>
            <a:cxnLst/>
            <a:rect l="l" t="t" r="r" b="b"/>
            <a:pathLst>
              <a:path w="627385" h="627385">
                <a:moveTo>
                  <a:pt x="313693" y="0"/>
                </a:moveTo>
                <a:lnTo>
                  <a:pt x="313693" y="0"/>
                </a:lnTo>
                <a:cubicBezTo>
                  <a:pt x="486940" y="0"/>
                  <a:pt x="627385" y="140445"/>
                  <a:pt x="627385" y="313693"/>
                </a:cubicBezTo>
                <a:lnTo>
                  <a:pt x="627385" y="313693"/>
                </a:lnTo>
                <a:cubicBezTo>
                  <a:pt x="627385" y="486940"/>
                  <a:pt x="486940" y="627385"/>
                  <a:pt x="313693" y="627385"/>
                </a:cubicBezTo>
                <a:lnTo>
                  <a:pt x="313693" y="627385"/>
                </a:lnTo>
                <a:cubicBezTo>
                  <a:pt x="140445" y="627385"/>
                  <a:pt x="0" y="486940"/>
                  <a:pt x="0" y="313693"/>
                </a:cubicBezTo>
                <a:lnTo>
                  <a:pt x="0" y="313693"/>
                </a:lnTo>
                <a:cubicBezTo>
                  <a:pt x="0" y="140445"/>
                  <a:pt x="140445" y="0"/>
                  <a:pt x="313693" y="0"/>
                </a:cubicBezTo>
                <a:close/>
              </a:path>
            </a:pathLst>
          </a:custGeom>
          <a:solidFill>
            <a:srgbClr val="EAEAE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46130" y="2016595"/>
            <a:ext cx="414522" cy="35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7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34023" y="1904562"/>
            <a:ext cx="2296678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1С:Документооборот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4023" y="2218255"/>
            <a:ext cx="227427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Лидер российского рынка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198" y="2688794"/>
            <a:ext cx="461576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Преимущества: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198" y="3047300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1031" y="3047300"/>
            <a:ext cx="18821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Мощный функционал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198" y="3360992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1031" y="3360992"/>
            <a:ext cx="309211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Соответствие законодательству РФ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198" y="3674685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1031" y="3674685"/>
            <a:ext cx="1456430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Поддержка ЭЦП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198" y="3988378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1031" y="3988378"/>
            <a:ext cx="1422820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Интеграция с 1С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198" y="4391697"/>
            <a:ext cx="461576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Недостатки: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198" y="4750203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355" y="4750203"/>
            <a:ext cx="2543151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Высокая стоимость лицензий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198" y="5063895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355" y="5063895"/>
            <a:ext cx="2980080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Избыточность для малого бизнеса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2198" y="5377588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3355" y="5377588"/>
            <a:ext cx="18373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Сложный интерфейс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198" y="5691280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355" y="5691280"/>
            <a:ext cx="258796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Высокие требования к железу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2198" y="6122518"/>
            <a:ext cx="4526136" cy="941078"/>
          </a:xfrm>
          <a:custGeom>
            <a:avLst/>
            <a:gdLst/>
            <a:ahLst/>
            <a:cxnLst/>
            <a:rect l="l" t="t" r="r" b="b"/>
            <a:pathLst>
              <a:path w="4526136" h="941078">
                <a:moveTo>
                  <a:pt x="44814" y="0"/>
                </a:moveTo>
                <a:lnTo>
                  <a:pt x="4481322" y="0"/>
                </a:lnTo>
                <a:cubicBezTo>
                  <a:pt x="4506072" y="0"/>
                  <a:pt x="4526136" y="20064"/>
                  <a:pt x="4526136" y="44814"/>
                </a:cubicBezTo>
                <a:lnTo>
                  <a:pt x="4526136" y="896264"/>
                </a:lnTo>
                <a:cubicBezTo>
                  <a:pt x="4526136" y="921014"/>
                  <a:pt x="4506072" y="941078"/>
                  <a:pt x="4481322" y="941078"/>
                </a:cubicBezTo>
                <a:lnTo>
                  <a:pt x="44814" y="941078"/>
                </a:lnTo>
                <a:cubicBezTo>
                  <a:pt x="20064" y="941078"/>
                  <a:pt x="0" y="921014"/>
                  <a:pt x="0" y="896264"/>
                </a:cubicBezTo>
                <a:lnTo>
                  <a:pt x="0" y="44814"/>
                </a:lnTo>
                <a:cubicBezTo>
                  <a:pt x="0" y="20064"/>
                  <a:pt x="20064" y="0"/>
                  <a:pt x="4481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61825" y="6256957"/>
            <a:ext cx="434688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Оценка по шкале 1-5: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613" y="6525837"/>
            <a:ext cx="4425307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46" b="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41426" y="1635684"/>
            <a:ext cx="4974269" cy="5558942"/>
          </a:xfrm>
          <a:custGeom>
            <a:avLst/>
            <a:gdLst/>
            <a:ahLst/>
            <a:cxnLst/>
            <a:rect l="l" t="t" r="r" b="b"/>
            <a:pathLst>
              <a:path w="4974269" h="6363479">
                <a:moveTo>
                  <a:pt x="44813" y="0"/>
                </a:moveTo>
                <a:lnTo>
                  <a:pt x="4929456" y="0"/>
                </a:lnTo>
                <a:cubicBezTo>
                  <a:pt x="4954205" y="0"/>
                  <a:pt x="4974269" y="20064"/>
                  <a:pt x="4974269" y="44813"/>
                </a:cubicBezTo>
                <a:lnTo>
                  <a:pt x="4974269" y="6273843"/>
                </a:lnTo>
                <a:cubicBezTo>
                  <a:pt x="4974269" y="6323347"/>
                  <a:pt x="4934137" y="6363479"/>
                  <a:pt x="4884632" y="6363479"/>
                </a:cubicBezTo>
                <a:lnTo>
                  <a:pt x="89636" y="6363479"/>
                </a:lnTo>
                <a:cubicBezTo>
                  <a:pt x="40132" y="6363479"/>
                  <a:pt x="0" y="6323347"/>
                  <a:pt x="0" y="6273843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641426" y="1635683"/>
            <a:ext cx="4974269" cy="44813"/>
          </a:xfrm>
          <a:custGeom>
            <a:avLst/>
            <a:gdLst/>
            <a:ahLst/>
            <a:cxnLst/>
            <a:rect l="l" t="t" r="r" b="b"/>
            <a:pathLst>
              <a:path w="4974269" h="44813">
                <a:moveTo>
                  <a:pt x="44813" y="0"/>
                </a:moveTo>
                <a:lnTo>
                  <a:pt x="4929456" y="0"/>
                </a:lnTo>
                <a:cubicBezTo>
                  <a:pt x="4954205" y="0"/>
                  <a:pt x="4974269" y="20064"/>
                  <a:pt x="4974269" y="44813"/>
                </a:cubicBezTo>
                <a:lnTo>
                  <a:pt x="4974269" y="44813"/>
                </a:lnTo>
                <a:lnTo>
                  <a:pt x="0" y="44813"/>
                </a:ln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5865492" y="1882156"/>
            <a:ext cx="627385" cy="627385"/>
          </a:xfrm>
          <a:custGeom>
            <a:avLst/>
            <a:gdLst/>
            <a:ahLst/>
            <a:cxnLst/>
            <a:rect l="l" t="t" r="r" b="b"/>
            <a:pathLst>
              <a:path w="627385" h="627385">
                <a:moveTo>
                  <a:pt x="313693" y="0"/>
                </a:moveTo>
                <a:lnTo>
                  <a:pt x="313693" y="0"/>
                </a:lnTo>
                <a:cubicBezTo>
                  <a:pt x="486940" y="0"/>
                  <a:pt x="627385" y="140445"/>
                  <a:pt x="627385" y="313693"/>
                </a:cubicBezTo>
                <a:lnTo>
                  <a:pt x="627385" y="313693"/>
                </a:lnTo>
                <a:cubicBezTo>
                  <a:pt x="627385" y="486940"/>
                  <a:pt x="486940" y="627385"/>
                  <a:pt x="313693" y="627385"/>
                </a:cubicBezTo>
                <a:lnTo>
                  <a:pt x="313693" y="627385"/>
                </a:lnTo>
                <a:cubicBezTo>
                  <a:pt x="140445" y="627385"/>
                  <a:pt x="0" y="486940"/>
                  <a:pt x="0" y="313693"/>
                </a:cubicBezTo>
                <a:lnTo>
                  <a:pt x="0" y="313693"/>
                </a:lnTo>
                <a:cubicBezTo>
                  <a:pt x="0" y="140445"/>
                  <a:pt x="140445" y="0"/>
                  <a:pt x="313693" y="0"/>
                </a:cubicBezTo>
                <a:close/>
              </a:path>
            </a:pathLst>
          </a:custGeom>
          <a:solidFill>
            <a:srgbClr val="4A4A4A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67302" y="2016595"/>
            <a:ext cx="560165" cy="35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7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7317" y="1904562"/>
            <a:ext cx="2890453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Битрикс24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27317" y="2218255"/>
            <a:ext cx="2868047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Облачное и коробочное решение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65492" y="2688794"/>
            <a:ext cx="461576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Преимущества: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65492" y="3047300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44325" y="3047300"/>
            <a:ext cx="222945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Современный интерфейс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65492" y="3360992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044325" y="3360992"/>
            <a:ext cx="210622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Быстрый старт в облаке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65492" y="3674685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44325" y="3674685"/>
            <a:ext cx="2677591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CRM, задачи, документооборот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865492" y="3988378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44325" y="3988378"/>
            <a:ext cx="2016595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Корпоративный портал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865492" y="4391697"/>
            <a:ext cx="461576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Недостатки: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865492" y="4750203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56648" y="4750203"/>
            <a:ext cx="2475931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Риски ИБ в облачной версии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865492" y="5063895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056648" y="5063895"/>
            <a:ext cx="2408711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Высокая стоимость коробки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865492" y="5377588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056648" y="5377588"/>
            <a:ext cx="402198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Ограниченный функционал в базовых тарифах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865492" y="5691280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056648" y="5691280"/>
            <a:ext cx="3349789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Сложности администрирования на PHP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865492" y="6131482"/>
            <a:ext cx="4526136" cy="941078"/>
          </a:xfrm>
          <a:custGeom>
            <a:avLst/>
            <a:gdLst/>
            <a:ahLst/>
            <a:cxnLst/>
            <a:rect l="l" t="t" r="r" b="b"/>
            <a:pathLst>
              <a:path w="4526136" h="941078">
                <a:moveTo>
                  <a:pt x="44814" y="0"/>
                </a:moveTo>
                <a:lnTo>
                  <a:pt x="4481322" y="0"/>
                </a:lnTo>
                <a:cubicBezTo>
                  <a:pt x="4506072" y="0"/>
                  <a:pt x="4526136" y="20064"/>
                  <a:pt x="4526136" y="44814"/>
                </a:cubicBezTo>
                <a:lnTo>
                  <a:pt x="4526136" y="896264"/>
                </a:lnTo>
                <a:cubicBezTo>
                  <a:pt x="4526136" y="921014"/>
                  <a:pt x="4506072" y="941078"/>
                  <a:pt x="4481322" y="941078"/>
                </a:cubicBezTo>
                <a:lnTo>
                  <a:pt x="44814" y="941078"/>
                </a:lnTo>
                <a:cubicBezTo>
                  <a:pt x="20064" y="941078"/>
                  <a:pt x="0" y="921014"/>
                  <a:pt x="0" y="896264"/>
                </a:cubicBezTo>
                <a:lnTo>
                  <a:pt x="0" y="44814"/>
                </a:lnTo>
                <a:cubicBezTo>
                  <a:pt x="0" y="20064"/>
                  <a:pt x="20064" y="0"/>
                  <a:pt x="4481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955118" y="6265921"/>
            <a:ext cx="4346884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Оценка по шкале 1-5: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915907" y="6534801"/>
            <a:ext cx="4425307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46" b="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3.0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834720" y="1635683"/>
            <a:ext cx="4974269" cy="5558943"/>
          </a:xfrm>
          <a:custGeom>
            <a:avLst/>
            <a:gdLst/>
            <a:ahLst/>
            <a:cxnLst/>
            <a:rect l="l" t="t" r="r" b="b"/>
            <a:pathLst>
              <a:path w="4974269" h="6363479">
                <a:moveTo>
                  <a:pt x="44813" y="0"/>
                </a:moveTo>
                <a:lnTo>
                  <a:pt x="4929456" y="0"/>
                </a:lnTo>
                <a:cubicBezTo>
                  <a:pt x="4954205" y="0"/>
                  <a:pt x="4974269" y="20064"/>
                  <a:pt x="4974269" y="44813"/>
                </a:cubicBezTo>
                <a:lnTo>
                  <a:pt x="4974269" y="6273843"/>
                </a:lnTo>
                <a:cubicBezTo>
                  <a:pt x="4974269" y="6323347"/>
                  <a:pt x="4934137" y="6363479"/>
                  <a:pt x="4884632" y="6363479"/>
                </a:cubicBezTo>
                <a:lnTo>
                  <a:pt x="89636" y="6363479"/>
                </a:lnTo>
                <a:cubicBezTo>
                  <a:pt x="40132" y="6363479"/>
                  <a:pt x="0" y="6323347"/>
                  <a:pt x="0" y="6273843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834720" y="1635683"/>
            <a:ext cx="4974269" cy="44813"/>
          </a:xfrm>
          <a:custGeom>
            <a:avLst/>
            <a:gdLst/>
            <a:ahLst/>
            <a:cxnLst/>
            <a:rect l="l" t="t" r="r" b="b"/>
            <a:pathLst>
              <a:path w="4974269" h="44813">
                <a:moveTo>
                  <a:pt x="44813" y="0"/>
                </a:moveTo>
                <a:lnTo>
                  <a:pt x="4929456" y="0"/>
                </a:lnTo>
                <a:cubicBezTo>
                  <a:pt x="4954205" y="0"/>
                  <a:pt x="4974269" y="20064"/>
                  <a:pt x="4974269" y="44813"/>
                </a:cubicBezTo>
                <a:lnTo>
                  <a:pt x="4974269" y="44813"/>
                </a:lnTo>
                <a:lnTo>
                  <a:pt x="0" y="44813"/>
                </a:ln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61" name="Shape 59"/>
          <p:cNvSpPr/>
          <p:nvPr/>
        </p:nvSpPr>
        <p:spPr>
          <a:xfrm>
            <a:off x="11058786" y="1882156"/>
            <a:ext cx="627385" cy="627385"/>
          </a:xfrm>
          <a:custGeom>
            <a:avLst/>
            <a:gdLst/>
            <a:ahLst/>
            <a:cxnLst/>
            <a:rect l="l" t="t" r="r" b="b"/>
            <a:pathLst>
              <a:path w="627385" h="627385">
                <a:moveTo>
                  <a:pt x="313693" y="0"/>
                </a:moveTo>
                <a:lnTo>
                  <a:pt x="313693" y="0"/>
                </a:lnTo>
                <a:cubicBezTo>
                  <a:pt x="486940" y="0"/>
                  <a:pt x="627385" y="140445"/>
                  <a:pt x="627385" y="313693"/>
                </a:cubicBezTo>
                <a:lnTo>
                  <a:pt x="627385" y="313693"/>
                </a:lnTo>
                <a:cubicBezTo>
                  <a:pt x="627385" y="486940"/>
                  <a:pt x="486940" y="627385"/>
                  <a:pt x="313693" y="627385"/>
                </a:cubicBezTo>
                <a:lnTo>
                  <a:pt x="313693" y="627385"/>
                </a:lnTo>
                <a:cubicBezTo>
                  <a:pt x="140445" y="627385"/>
                  <a:pt x="0" y="486940"/>
                  <a:pt x="0" y="313693"/>
                </a:cubicBezTo>
                <a:lnTo>
                  <a:pt x="0" y="313693"/>
                </a:lnTo>
                <a:cubicBezTo>
                  <a:pt x="0" y="140445"/>
                  <a:pt x="140445" y="0"/>
                  <a:pt x="31369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62" name="Text 60"/>
          <p:cNvSpPr/>
          <p:nvPr/>
        </p:nvSpPr>
        <p:spPr>
          <a:xfrm>
            <a:off x="11196727" y="2016595"/>
            <a:ext cx="481742" cy="35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820610" y="1904562"/>
            <a:ext cx="1915766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820610" y="2218255"/>
            <a:ext cx="1893359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Бесплатные решения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058786" y="2688794"/>
            <a:ext cx="461576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Преимущества: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058786" y="3047300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237618" y="3047300"/>
            <a:ext cx="2386305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Бесплатное использование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058786" y="3360992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237618" y="3360992"/>
            <a:ext cx="1254771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Открытый код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058786" y="3674685"/>
            <a:ext cx="17925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237618" y="3674685"/>
            <a:ext cx="239750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Возможность кастомизации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058786" y="4078004"/>
            <a:ext cx="461576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Недостатки: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058786" y="4436510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249942" y="4436510"/>
            <a:ext cx="310331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Высокие требования к IT-персоналу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058786" y="4750203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249942" y="4750203"/>
            <a:ext cx="227427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Англоязычный интерфейс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058786" y="5063895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249942" y="5063895"/>
            <a:ext cx="2980080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Адаптация под российские реалии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058786" y="5377588"/>
            <a:ext cx="190456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−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249942" y="5377588"/>
            <a:ext cx="3473025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Отсутствие гарантированной поддержки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1063267" y="6118037"/>
            <a:ext cx="4512692" cy="950041"/>
          </a:xfrm>
          <a:custGeom>
            <a:avLst/>
            <a:gdLst/>
            <a:ahLst/>
            <a:cxnLst/>
            <a:rect l="l" t="t" r="r" b="b"/>
            <a:pathLst>
              <a:path w="4512692" h="950041">
                <a:moveTo>
                  <a:pt x="44813" y="0"/>
                </a:moveTo>
                <a:lnTo>
                  <a:pt x="4467879" y="0"/>
                </a:lnTo>
                <a:cubicBezTo>
                  <a:pt x="4492629" y="0"/>
                  <a:pt x="4512692" y="20064"/>
                  <a:pt x="4512692" y="44813"/>
                </a:cubicBezTo>
                <a:lnTo>
                  <a:pt x="4512692" y="905227"/>
                </a:lnTo>
                <a:cubicBezTo>
                  <a:pt x="4512692" y="929977"/>
                  <a:pt x="4492629" y="950041"/>
                  <a:pt x="4467879" y="950041"/>
                </a:cubicBezTo>
                <a:lnTo>
                  <a:pt x="44813" y="950041"/>
                </a:lnTo>
                <a:cubicBezTo>
                  <a:pt x="20064" y="950041"/>
                  <a:pt x="0" y="929977"/>
                  <a:pt x="0" y="905227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157375" y="6256955"/>
            <a:ext cx="4324477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1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Оценка по шкале 1-5: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1118163" y="6525835"/>
            <a:ext cx="4402900" cy="403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4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2.8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70539" y="7467261"/>
            <a:ext cx="15337329" cy="1389210"/>
          </a:xfrm>
          <a:custGeom>
            <a:avLst/>
            <a:gdLst/>
            <a:ahLst/>
            <a:cxnLst/>
            <a:rect l="l" t="t" r="r" b="b"/>
            <a:pathLst>
              <a:path w="15337329" h="1389210">
                <a:moveTo>
                  <a:pt x="44813" y="0"/>
                </a:moveTo>
                <a:lnTo>
                  <a:pt x="15247697" y="0"/>
                </a:lnTo>
                <a:cubicBezTo>
                  <a:pt x="15297199" y="0"/>
                  <a:pt x="15337329" y="40130"/>
                  <a:pt x="15337329" y="89632"/>
                </a:cubicBezTo>
                <a:lnTo>
                  <a:pt x="15337329" y="1299578"/>
                </a:lnTo>
                <a:cubicBezTo>
                  <a:pt x="15337329" y="1349081"/>
                  <a:pt x="15297199" y="1389210"/>
                  <a:pt x="15247697" y="1389210"/>
                </a:cubicBezTo>
                <a:lnTo>
                  <a:pt x="44813" y="1389210"/>
                </a:lnTo>
                <a:cubicBezTo>
                  <a:pt x="20064" y="1389210"/>
                  <a:pt x="0" y="1369147"/>
                  <a:pt x="0" y="1344397"/>
                </a:cubicBezTo>
                <a:lnTo>
                  <a:pt x="0" y="44813"/>
                </a:lnTo>
                <a:cubicBezTo>
                  <a:pt x="0" y="20080"/>
                  <a:pt x="20080" y="0"/>
                  <a:pt x="44813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470539" y="7467261"/>
            <a:ext cx="44813" cy="1389210"/>
          </a:xfrm>
          <a:custGeom>
            <a:avLst/>
            <a:gdLst/>
            <a:ahLst/>
            <a:cxnLst/>
            <a:rect l="l" t="t" r="r" b="b"/>
            <a:pathLst>
              <a:path w="44813" h="1389210">
                <a:moveTo>
                  <a:pt x="44813" y="0"/>
                </a:moveTo>
                <a:lnTo>
                  <a:pt x="44813" y="0"/>
                </a:lnTo>
                <a:lnTo>
                  <a:pt x="44813" y="1389210"/>
                </a:lnTo>
                <a:lnTo>
                  <a:pt x="44813" y="1389210"/>
                </a:lnTo>
                <a:cubicBezTo>
                  <a:pt x="20064" y="1389210"/>
                  <a:pt x="0" y="1369147"/>
                  <a:pt x="0" y="1344397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6" name="Text 84"/>
          <p:cNvSpPr/>
          <p:nvPr/>
        </p:nvSpPr>
        <p:spPr>
          <a:xfrm>
            <a:off x="672198" y="7646514"/>
            <a:ext cx="15068449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Вывод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72198" y="8094646"/>
            <a:ext cx="15046043" cy="582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Принцип Парето в действии:</a:t>
            </a:r>
            <a:r>
              <a:rPr lang="en-US" sz="141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80% функционала мощных промышленных систем не используется малым и средним бизнесом, но компании оплачивают 100% их стоимости. Это обосновывает необходимость собственной разработки, ориентированной на конкретные потребности организации.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ТЕОРЕТИКО-АНАЛИТИЧЕСКАЯ ЧАСТЬ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5680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Сравнительный анализ решений для автоматизации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270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27567" y="1485900"/>
            <a:ext cx="15396633" cy="7311097"/>
          </a:xfrm>
          <a:custGeom>
            <a:avLst/>
            <a:gdLst/>
            <a:ahLst/>
            <a:cxnLst/>
            <a:rect l="l" t="t" r="r" b="b"/>
            <a:pathLst>
              <a:path w="15396633" h="7945967">
                <a:moveTo>
                  <a:pt x="84704" y="0"/>
                </a:moveTo>
                <a:lnTo>
                  <a:pt x="15311929" y="0"/>
                </a:lnTo>
                <a:cubicBezTo>
                  <a:pt x="15358710" y="0"/>
                  <a:pt x="15396633" y="37923"/>
                  <a:pt x="15396633" y="84704"/>
                </a:cubicBezTo>
                <a:lnTo>
                  <a:pt x="15396633" y="7861263"/>
                </a:lnTo>
                <a:cubicBezTo>
                  <a:pt x="15396633" y="7908043"/>
                  <a:pt x="15358710" y="7945967"/>
                  <a:pt x="15311929" y="7945967"/>
                </a:cubicBezTo>
                <a:lnTo>
                  <a:pt x="84704" y="7945967"/>
                </a:lnTo>
                <a:cubicBezTo>
                  <a:pt x="37923" y="7945967"/>
                  <a:pt x="0" y="7908043"/>
                  <a:pt x="0" y="7861263"/>
                </a:cubicBezTo>
                <a:lnTo>
                  <a:pt x="0" y="84704"/>
                </a:lnTo>
                <a:cubicBezTo>
                  <a:pt x="0" y="37955"/>
                  <a:pt x="37955" y="0"/>
                  <a:pt x="84704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1133" y="1659465"/>
            <a:ext cx="15155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Сравнение по критериям (оценка по 5-балльной шкале)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861530"/>
              </p:ext>
            </p:extLst>
          </p:nvPr>
        </p:nvGraphicFramePr>
        <p:xfrm>
          <a:off x="601133" y="2082798"/>
          <a:ext cx="15049500" cy="4709586"/>
        </p:xfrm>
        <a:graphic>
          <a:graphicData uri="http://schemas.openxmlformats.org/drawingml/2006/table">
            <a:tbl>
              <a:tblPr/>
              <a:tblGrid>
                <a:gridCol w="3820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2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4931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Критерий сравнения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1С:Документооборот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Битрикс24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Разрабатываемая система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931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Стоимость внедрения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Высокая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стоимость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Высокая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+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продление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Бесплатно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, open-source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931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Сложность интерфейса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Перегружен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,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требует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обучения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Средняя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сложность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Минималистичный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931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Скорость работы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Требовательна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к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ресурсам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Зависит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от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хостинга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Высокая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, Python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931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Безопасность данных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Высокая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,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закрытый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контур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Код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частично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закрыт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Полный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контроль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931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Гибкость настройки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Сложная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кастомизация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Ограничена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API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Абсолютная</a:t>
                      </a:r>
                      <a:r>
                        <a:rPr lang="en-US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r>
                        <a:rPr lang="en-US" sz="1300" u="none" dirty="0" err="1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гибкость</a:t>
                      </a:r>
                      <a:endParaRPr lang="ru-RU" sz="1300" u="none" dirty="0">
                        <a:solidFill>
                          <a:srgbClr val="F5F5F5"/>
                        </a:solidFill>
                        <a:latin typeface="微软雅黑" pitchFamily="34" charset="0"/>
                        <a:ea typeface="微软雅黑" pitchFamily="34" charset="-122"/>
                        <a:cs typeface="微软雅黑" pitchFamily="34" charset="-120"/>
                      </a:endParaRPr>
                    </a:p>
                    <a:p>
                      <a:pPr algn="ctr"/>
                      <a:r>
                        <a:rPr lang="ru-RU" sz="13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charset="0"/>
                          <a:sym typeface="Wingdings" panose="05000000000000000000" pitchFamily="2" charset="2"/>
                        </a:rPr>
                        <a:t>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1133" y="7395483"/>
            <a:ext cx="4900083" cy="952500"/>
          </a:xfrm>
          <a:custGeom>
            <a:avLst/>
            <a:gdLst/>
            <a:ahLst/>
            <a:cxnLst/>
            <a:rect l="l" t="t" r="r" b="b"/>
            <a:pathLst>
              <a:path w="4900083" h="952500">
                <a:moveTo>
                  <a:pt x="42329" y="0"/>
                </a:moveTo>
                <a:lnTo>
                  <a:pt x="4857754" y="0"/>
                </a:lnTo>
                <a:cubicBezTo>
                  <a:pt x="4881132" y="0"/>
                  <a:pt x="4900083" y="18951"/>
                  <a:pt x="4900083" y="42329"/>
                </a:cubicBezTo>
                <a:lnTo>
                  <a:pt x="4900083" y="910171"/>
                </a:lnTo>
                <a:cubicBezTo>
                  <a:pt x="4900083" y="933549"/>
                  <a:pt x="4881132" y="952500"/>
                  <a:pt x="4857754" y="952500"/>
                </a:cubicBezTo>
                <a:lnTo>
                  <a:pt x="42329" y="952500"/>
                </a:lnTo>
                <a:cubicBezTo>
                  <a:pt x="18951" y="952500"/>
                  <a:pt x="0" y="933549"/>
                  <a:pt x="0" y="9101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7522483"/>
            <a:ext cx="473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1С:Документооборот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8758" y="7818816"/>
            <a:ext cx="48048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2.6</a:t>
            </a:r>
            <a:endParaRPr lang="en-US" sz="1600" dirty="0"/>
          </a:p>
        </p:txBody>
      </p:sp>
      <p:sp>
        <p:nvSpPr>
          <p:cNvPr id="7" name="Shape 8"/>
          <p:cNvSpPr/>
          <p:nvPr/>
        </p:nvSpPr>
        <p:spPr>
          <a:xfrm>
            <a:off x="5675445" y="7395483"/>
            <a:ext cx="4900083" cy="952500"/>
          </a:xfrm>
          <a:custGeom>
            <a:avLst/>
            <a:gdLst/>
            <a:ahLst/>
            <a:cxnLst/>
            <a:rect l="l" t="t" r="r" b="b"/>
            <a:pathLst>
              <a:path w="4900083" h="952500">
                <a:moveTo>
                  <a:pt x="42329" y="0"/>
                </a:moveTo>
                <a:lnTo>
                  <a:pt x="4857754" y="0"/>
                </a:lnTo>
                <a:cubicBezTo>
                  <a:pt x="4881132" y="0"/>
                  <a:pt x="4900083" y="18951"/>
                  <a:pt x="4900083" y="42329"/>
                </a:cubicBezTo>
                <a:lnTo>
                  <a:pt x="4900083" y="910171"/>
                </a:lnTo>
                <a:cubicBezTo>
                  <a:pt x="4900083" y="933549"/>
                  <a:pt x="4881132" y="952500"/>
                  <a:pt x="4857754" y="952500"/>
                </a:cubicBezTo>
                <a:lnTo>
                  <a:pt x="42329" y="952500"/>
                </a:lnTo>
                <a:cubicBezTo>
                  <a:pt x="18951" y="952500"/>
                  <a:pt x="0" y="933549"/>
                  <a:pt x="0" y="910171"/>
                </a:cubicBezTo>
                <a:lnTo>
                  <a:pt x="0" y="42329"/>
                </a:lnTo>
                <a:cubicBezTo>
                  <a:pt x="0" y="18951"/>
                  <a:pt x="18951" y="0"/>
                  <a:pt x="42329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760112" y="7522483"/>
            <a:ext cx="4730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Битрикс24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23070" y="7818816"/>
            <a:ext cx="48048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753990" y="7399716"/>
            <a:ext cx="4897967" cy="939800"/>
          </a:xfrm>
          <a:custGeom>
            <a:avLst/>
            <a:gdLst/>
            <a:ahLst/>
            <a:cxnLst/>
            <a:rect l="l" t="t" r="r" b="b"/>
            <a:pathLst>
              <a:path w="4897967" h="939800">
                <a:moveTo>
                  <a:pt x="42338" y="0"/>
                </a:moveTo>
                <a:lnTo>
                  <a:pt x="4855629" y="0"/>
                </a:lnTo>
                <a:cubicBezTo>
                  <a:pt x="4879011" y="0"/>
                  <a:pt x="4897967" y="18955"/>
                  <a:pt x="4897967" y="42338"/>
                </a:cubicBezTo>
                <a:lnTo>
                  <a:pt x="4897967" y="897462"/>
                </a:lnTo>
                <a:cubicBezTo>
                  <a:pt x="4897967" y="920845"/>
                  <a:pt x="4879011" y="939800"/>
                  <a:pt x="4855629" y="939800"/>
                </a:cubicBezTo>
                <a:lnTo>
                  <a:pt x="42338" y="939800"/>
                </a:lnTo>
                <a:cubicBezTo>
                  <a:pt x="18955" y="939800"/>
                  <a:pt x="0" y="920845"/>
                  <a:pt x="0" y="897462"/>
                </a:cubicBezTo>
                <a:lnTo>
                  <a:pt x="0" y="42338"/>
                </a:lnTo>
                <a:cubicBezTo>
                  <a:pt x="0" y="18971"/>
                  <a:pt x="18971" y="0"/>
                  <a:pt x="42338" y="0"/>
                </a:cubicBezTo>
                <a:close/>
              </a:path>
            </a:pathLst>
          </a:custGeom>
          <a:solidFill>
            <a:srgbClr val="EAEAEA">
              <a:alpha val="20000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842890" y="7530952"/>
            <a:ext cx="4720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Разрабатываемая система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805848" y="7827286"/>
            <a:ext cx="479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5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3333" y="9609796"/>
            <a:ext cx="3757083" cy="889000"/>
          </a:xfrm>
          <a:custGeom>
            <a:avLst/>
            <a:gdLst/>
            <a:ahLst/>
            <a:cxnLst/>
            <a:rect l="l" t="t" r="r" b="b"/>
            <a:pathLst>
              <a:path w="3757083" h="889000">
                <a:moveTo>
                  <a:pt x="42334" y="0"/>
                </a:moveTo>
                <a:lnTo>
                  <a:pt x="3714749" y="0"/>
                </a:lnTo>
                <a:cubicBezTo>
                  <a:pt x="3738130" y="0"/>
                  <a:pt x="3757083" y="18954"/>
                  <a:pt x="3757083" y="42334"/>
                </a:cubicBezTo>
                <a:lnTo>
                  <a:pt x="3757083" y="846666"/>
                </a:lnTo>
                <a:cubicBezTo>
                  <a:pt x="3757083" y="870046"/>
                  <a:pt x="3738130" y="889000"/>
                  <a:pt x="3714749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86833" y="9736796"/>
            <a:ext cx="3630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30-50%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8000" y="10117661"/>
            <a:ext cx="358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Сокращение времени согласования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307417" y="9609796"/>
            <a:ext cx="3757083" cy="889000"/>
          </a:xfrm>
          <a:custGeom>
            <a:avLst/>
            <a:gdLst/>
            <a:ahLst/>
            <a:cxnLst/>
            <a:rect l="l" t="t" r="r" b="b"/>
            <a:pathLst>
              <a:path w="3757083" h="889000">
                <a:moveTo>
                  <a:pt x="42334" y="0"/>
                </a:moveTo>
                <a:lnTo>
                  <a:pt x="3714749" y="0"/>
                </a:lnTo>
                <a:cubicBezTo>
                  <a:pt x="3738130" y="0"/>
                  <a:pt x="3757083" y="18954"/>
                  <a:pt x="3757083" y="42334"/>
                </a:cubicBezTo>
                <a:lnTo>
                  <a:pt x="3757083" y="846666"/>
                </a:lnTo>
                <a:cubicBezTo>
                  <a:pt x="3757083" y="870046"/>
                  <a:pt x="3738130" y="889000"/>
                  <a:pt x="3714749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370917" y="9736796"/>
            <a:ext cx="3630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₽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392083" y="10117661"/>
            <a:ext cx="358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Лицензионных платежей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91500" y="9609796"/>
            <a:ext cx="3757083" cy="889000"/>
          </a:xfrm>
          <a:custGeom>
            <a:avLst/>
            <a:gdLst/>
            <a:ahLst/>
            <a:cxnLst/>
            <a:rect l="l" t="t" r="r" b="b"/>
            <a:pathLst>
              <a:path w="3757083" h="889000">
                <a:moveTo>
                  <a:pt x="42334" y="0"/>
                </a:moveTo>
                <a:lnTo>
                  <a:pt x="3714749" y="0"/>
                </a:lnTo>
                <a:cubicBezTo>
                  <a:pt x="3738130" y="0"/>
                  <a:pt x="3757083" y="18954"/>
                  <a:pt x="3757083" y="42334"/>
                </a:cubicBezTo>
                <a:lnTo>
                  <a:pt x="3757083" y="846666"/>
                </a:lnTo>
                <a:cubicBezTo>
                  <a:pt x="3757083" y="870046"/>
                  <a:pt x="3738130" y="889000"/>
                  <a:pt x="3714749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255000" y="9736796"/>
            <a:ext cx="3630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76167" y="10117661"/>
            <a:ext cx="358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Контроль кода и данных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075583" y="9609796"/>
            <a:ext cx="3757083" cy="889000"/>
          </a:xfrm>
          <a:custGeom>
            <a:avLst/>
            <a:gdLst/>
            <a:ahLst/>
            <a:cxnLst/>
            <a:rect l="l" t="t" r="r" b="b"/>
            <a:pathLst>
              <a:path w="3757083" h="889000">
                <a:moveTo>
                  <a:pt x="42334" y="0"/>
                </a:moveTo>
                <a:lnTo>
                  <a:pt x="3714749" y="0"/>
                </a:lnTo>
                <a:cubicBezTo>
                  <a:pt x="3738130" y="0"/>
                  <a:pt x="3757083" y="18954"/>
                  <a:pt x="3757083" y="42334"/>
                </a:cubicBezTo>
                <a:lnTo>
                  <a:pt x="3757083" y="846666"/>
                </a:lnTo>
                <a:cubicBezTo>
                  <a:pt x="3757083" y="870046"/>
                  <a:pt x="3738130" y="889000"/>
                  <a:pt x="3714749" y="889000"/>
                </a:cubicBezTo>
                <a:lnTo>
                  <a:pt x="42334" y="889000"/>
                </a:lnTo>
                <a:cubicBezTo>
                  <a:pt x="18954" y="889000"/>
                  <a:pt x="0" y="870046"/>
                  <a:pt x="0" y="846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2139083" y="9736796"/>
            <a:ext cx="3630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160250" y="10117661"/>
            <a:ext cx="358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Необходимые функции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ТЕОРЕТИКО-АНАЛИТИЧЕСКАЯ ЧАСТЬ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5680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Обоснование выбора технологического стека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270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44500" y="1524000"/>
            <a:ext cx="7577667" cy="2455333"/>
          </a:xfrm>
          <a:custGeom>
            <a:avLst/>
            <a:gdLst/>
            <a:ahLst/>
            <a:cxnLst/>
            <a:rect l="l" t="t" r="r" b="b"/>
            <a:pathLst>
              <a:path w="7577667" h="2455333">
                <a:moveTo>
                  <a:pt x="42333" y="0"/>
                </a:moveTo>
                <a:lnTo>
                  <a:pt x="7493007" y="0"/>
                </a:lnTo>
                <a:cubicBezTo>
                  <a:pt x="7539763" y="0"/>
                  <a:pt x="7577667" y="37904"/>
                  <a:pt x="7577667" y="84660"/>
                </a:cubicBezTo>
                <a:lnTo>
                  <a:pt x="7577667" y="2370673"/>
                </a:lnTo>
                <a:cubicBezTo>
                  <a:pt x="7577667" y="2417430"/>
                  <a:pt x="7539763" y="2455333"/>
                  <a:pt x="7493007" y="2455333"/>
                </a:cubicBezTo>
                <a:lnTo>
                  <a:pt x="42333" y="2455333"/>
                </a:lnTo>
                <a:cubicBezTo>
                  <a:pt x="18953" y="2455333"/>
                  <a:pt x="0" y="2436380"/>
                  <a:pt x="0" y="2413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44500" y="1524000"/>
            <a:ext cx="42333" cy="2455333"/>
          </a:xfrm>
          <a:custGeom>
            <a:avLst/>
            <a:gdLst/>
            <a:ahLst/>
            <a:cxnLst/>
            <a:rect l="l" t="t" r="r" b="b"/>
            <a:pathLst>
              <a:path w="42333" h="2455333">
                <a:moveTo>
                  <a:pt x="42333" y="0"/>
                </a:moveTo>
                <a:lnTo>
                  <a:pt x="42333" y="0"/>
                </a:lnTo>
                <a:lnTo>
                  <a:pt x="42333" y="2455333"/>
                </a:lnTo>
                <a:lnTo>
                  <a:pt x="42333" y="2455333"/>
                </a:lnTo>
                <a:cubicBezTo>
                  <a:pt x="18953" y="2455333"/>
                  <a:pt x="0" y="2436380"/>
                  <a:pt x="0" y="2413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748771" y="1735667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27273" y="149200"/>
                </a:moveTo>
                <a:cubicBezTo>
                  <a:pt x="321543" y="126206"/>
                  <a:pt x="310679" y="108868"/>
                  <a:pt x="287536" y="108868"/>
                </a:cubicBezTo>
                <a:lnTo>
                  <a:pt x="257696" y="108868"/>
                </a:lnTo>
                <a:lnTo>
                  <a:pt x="257696" y="144140"/>
                </a:lnTo>
                <a:cubicBezTo>
                  <a:pt x="257696" y="171524"/>
                  <a:pt x="234479" y="194593"/>
                  <a:pt x="207987" y="194593"/>
                </a:cubicBezTo>
                <a:lnTo>
                  <a:pt x="128513" y="194593"/>
                </a:lnTo>
                <a:cubicBezTo>
                  <a:pt x="106784" y="194593"/>
                  <a:pt x="88776" y="213196"/>
                  <a:pt x="88776" y="235000"/>
                </a:cubicBezTo>
                <a:lnTo>
                  <a:pt x="88776" y="310753"/>
                </a:lnTo>
                <a:cubicBezTo>
                  <a:pt x="88776" y="332333"/>
                  <a:pt x="107528" y="344984"/>
                  <a:pt x="128513" y="351160"/>
                </a:cubicBezTo>
                <a:cubicBezTo>
                  <a:pt x="153665" y="358527"/>
                  <a:pt x="177850" y="359866"/>
                  <a:pt x="207987" y="351160"/>
                </a:cubicBezTo>
                <a:cubicBezTo>
                  <a:pt x="228005" y="345356"/>
                  <a:pt x="247724" y="333673"/>
                  <a:pt x="247724" y="310753"/>
                </a:cubicBezTo>
                <a:lnTo>
                  <a:pt x="247724" y="280467"/>
                </a:lnTo>
                <a:lnTo>
                  <a:pt x="168325" y="280467"/>
                </a:lnTo>
                <a:lnTo>
                  <a:pt x="168325" y="270346"/>
                </a:lnTo>
                <a:lnTo>
                  <a:pt x="287536" y="270346"/>
                </a:lnTo>
                <a:cubicBezTo>
                  <a:pt x="310679" y="270346"/>
                  <a:pt x="319236" y="254198"/>
                  <a:pt x="327273" y="230014"/>
                </a:cubicBezTo>
                <a:cubicBezTo>
                  <a:pt x="335607" y="205085"/>
                  <a:pt x="335235" y="181124"/>
                  <a:pt x="327273" y="149200"/>
                </a:cubicBezTo>
                <a:close/>
                <a:moveTo>
                  <a:pt x="212973" y="330919"/>
                </a:moveTo>
                <a:cubicBezTo>
                  <a:pt x="207310" y="331317"/>
                  <a:pt x="201898" y="328520"/>
                  <a:pt x="198945" y="323671"/>
                </a:cubicBezTo>
                <a:cubicBezTo>
                  <a:pt x="195992" y="318822"/>
                  <a:pt x="195992" y="312730"/>
                  <a:pt x="198945" y="307881"/>
                </a:cubicBezTo>
                <a:cubicBezTo>
                  <a:pt x="201898" y="303032"/>
                  <a:pt x="207310" y="300236"/>
                  <a:pt x="212973" y="300633"/>
                </a:cubicBezTo>
                <a:cubicBezTo>
                  <a:pt x="218637" y="300236"/>
                  <a:pt x="224048" y="303032"/>
                  <a:pt x="227001" y="307881"/>
                </a:cubicBezTo>
                <a:cubicBezTo>
                  <a:pt x="229954" y="312730"/>
                  <a:pt x="229954" y="318822"/>
                  <a:pt x="227001" y="323671"/>
                </a:cubicBezTo>
                <a:cubicBezTo>
                  <a:pt x="224048" y="328520"/>
                  <a:pt x="218637" y="331317"/>
                  <a:pt x="212973" y="330919"/>
                </a:cubicBezTo>
                <a:close/>
                <a:moveTo>
                  <a:pt x="124867" y="184621"/>
                </a:moveTo>
                <a:lnTo>
                  <a:pt x="204341" y="184621"/>
                </a:lnTo>
                <a:cubicBezTo>
                  <a:pt x="226442" y="184621"/>
                  <a:pt x="244078" y="166390"/>
                  <a:pt x="244078" y="144214"/>
                </a:cubicBezTo>
                <a:lnTo>
                  <a:pt x="244078" y="68387"/>
                </a:lnTo>
                <a:cubicBezTo>
                  <a:pt x="244078" y="46806"/>
                  <a:pt x="225921" y="30659"/>
                  <a:pt x="204341" y="27012"/>
                </a:cubicBezTo>
                <a:cubicBezTo>
                  <a:pt x="177701" y="22622"/>
                  <a:pt x="148754" y="22845"/>
                  <a:pt x="124867" y="27087"/>
                </a:cubicBezTo>
                <a:cubicBezTo>
                  <a:pt x="91232" y="33040"/>
                  <a:pt x="85130" y="45467"/>
                  <a:pt x="85130" y="68461"/>
                </a:cubicBezTo>
                <a:lnTo>
                  <a:pt x="85130" y="98747"/>
                </a:lnTo>
                <a:lnTo>
                  <a:pt x="164678" y="98747"/>
                </a:lnTo>
                <a:lnTo>
                  <a:pt x="164678" y="108868"/>
                </a:lnTo>
                <a:lnTo>
                  <a:pt x="55290" y="108868"/>
                </a:lnTo>
                <a:cubicBezTo>
                  <a:pt x="32147" y="108868"/>
                  <a:pt x="11906" y="122783"/>
                  <a:pt x="5581" y="149200"/>
                </a:cubicBezTo>
                <a:cubicBezTo>
                  <a:pt x="-1712" y="179487"/>
                  <a:pt x="-2009" y="198388"/>
                  <a:pt x="5581" y="230014"/>
                </a:cubicBezTo>
                <a:cubicBezTo>
                  <a:pt x="11237" y="253529"/>
                  <a:pt x="24705" y="270346"/>
                  <a:pt x="47848" y="270346"/>
                </a:cubicBezTo>
                <a:lnTo>
                  <a:pt x="75158" y="270346"/>
                </a:lnTo>
                <a:lnTo>
                  <a:pt x="75158" y="234032"/>
                </a:lnTo>
                <a:cubicBezTo>
                  <a:pt x="75158" y="207764"/>
                  <a:pt x="97854" y="184621"/>
                  <a:pt x="124867" y="184621"/>
                </a:cubicBezTo>
                <a:close/>
                <a:moveTo>
                  <a:pt x="119955" y="48146"/>
                </a:moveTo>
                <a:cubicBezTo>
                  <a:pt x="128334" y="48146"/>
                  <a:pt x="135136" y="54948"/>
                  <a:pt x="135136" y="63326"/>
                </a:cubicBezTo>
                <a:cubicBezTo>
                  <a:pt x="135136" y="71705"/>
                  <a:pt x="128334" y="78507"/>
                  <a:pt x="119955" y="78507"/>
                </a:cubicBezTo>
                <a:cubicBezTo>
                  <a:pt x="111577" y="78507"/>
                  <a:pt x="104775" y="71705"/>
                  <a:pt x="104775" y="63326"/>
                </a:cubicBezTo>
                <a:cubicBezTo>
                  <a:pt x="104775" y="54948"/>
                  <a:pt x="111577" y="48146"/>
                  <a:pt x="119955" y="48146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Text 6"/>
          <p:cNvSpPr/>
          <p:nvPr/>
        </p:nvSpPr>
        <p:spPr>
          <a:xfrm>
            <a:off x="1280583" y="1778000"/>
            <a:ext cx="762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7333" y="2243667"/>
            <a:ext cx="722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Язык программирования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7333" y="2624667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3552" y="2624667"/>
            <a:ext cx="2592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Лидер рейтингов TIOBE и GitHub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333" y="2921000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3552" y="2921000"/>
            <a:ext cx="3672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Лаконичный синтаксис: код в 3-5 раз быстрее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7333" y="3217333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3552" y="3217333"/>
            <a:ext cx="3884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Низкий порог входа, многоуровневая поддержка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7333" y="3513667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3552" y="3513667"/>
            <a:ext cx="3545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PyPI: готовые решения для PDF, Excel, почты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4500" y="4148667"/>
            <a:ext cx="7577667" cy="2391833"/>
          </a:xfrm>
          <a:custGeom>
            <a:avLst/>
            <a:gdLst/>
            <a:ahLst/>
            <a:cxnLst/>
            <a:rect l="l" t="t" r="r" b="b"/>
            <a:pathLst>
              <a:path w="7577667" h="2391833">
                <a:moveTo>
                  <a:pt x="42333" y="0"/>
                </a:moveTo>
                <a:lnTo>
                  <a:pt x="7492996" y="0"/>
                </a:lnTo>
                <a:cubicBezTo>
                  <a:pt x="7539758" y="0"/>
                  <a:pt x="7577667" y="37908"/>
                  <a:pt x="7577667" y="84671"/>
                </a:cubicBezTo>
                <a:lnTo>
                  <a:pt x="7577667" y="2307162"/>
                </a:lnTo>
                <a:cubicBezTo>
                  <a:pt x="7577667" y="2353925"/>
                  <a:pt x="7539758" y="2391833"/>
                  <a:pt x="7492996" y="2391833"/>
                </a:cubicBezTo>
                <a:lnTo>
                  <a:pt x="42333" y="2391833"/>
                </a:lnTo>
                <a:cubicBezTo>
                  <a:pt x="18953" y="2391833"/>
                  <a:pt x="0" y="2372880"/>
                  <a:pt x="0" y="2349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4500" y="4148667"/>
            <a:ext cx="42333" cy="2391833"/>
          </a:xfrm>
          <a:custGeom>
            <a:avLst/>
            <a:gdLst/>
            <a:ahLst/>
            <a:cxnLst/>
            <a:rect l="l" t="t" r="r" b="b"/>
            <a:pathLst>
              <a:path w="42333" h="2391833">
                <a:moveTo>
                  <a:pt x="42333" y="0"/>
                </a:moveTo>
                <a:lnTo>
                  <a:pt x="42333" y="0"/>
                </a:lnTo>
                <a:lnTo>
                  <a:pt x="42333" y="2391833"/>
                </a:lnTo>
                <a:lnTo>
                  <a:pt x="42333" y="2391833"/>
                </a:lnTo>
                <a:cubicBezTo>
                  <a:pt x="18953" y="2391833"/>
                  <a:pt x="0" y="2372880"/>
                  <a:pt x="0" y="2349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39510" y="4360333"/>
            <a:ext cx="277813" cy="317500"/>
          </a:xfrm>
          <a:custGeom>
            <a:avLst/>
            <a:gdLst/>
            <a:ahLst/>
            <a:cxnLst/>
            <a:rect l="l" t="t" r="r" b="b"/>
            <a:pathLst>
              <a:path w="277813" h="317500">
                <a:moveTo>
                  <a:pt x="277813" y="127620"/>
                </a:moveTo>
                <a:cubicBezTo>
                  <a:pt x="268635" y="133697"/>
                  <a:pt x="258093" y="138596"/>
                  <a:pt x="247117" y="142503"/>
                </a:cubicBezTo>
                <a:cubicBezTo>
                  <a:pt x="217971" y="152921"/>
                  <a:pt x="179710" y="158750"/>
                  <a:pt x="138906" y="158750"/>
                </a:cubicBezTo>
                <a:cubicBezTo>
                  <a:pt x="98103" y="158750"/>
                  <a:pt x="59779" y="152859"/>
                  <a:pt x="30696" y="142503"/>
                </a:cubicBezTo>
                <a:cubicBezTo>
                  <a:pt x="19782" y="138596"/>
                  <a:pt x="9178" y="133697"/>
                  <a:pt x="0" y="127620"/>
                </a:cubicBezTo>
                <a:lnTo>
                  <a:pt x="0" y="178594"/>
                </a:lnTo>
                <a:cubicBezTo>
                  <a:pt x="0" y="206003"/>
                  <a:pt x="62198" y="228203"/>
                  <a:pt x="138906" y="228203"/>
                </a:cubicBezTo>
                <a:cubicBezTo>
                  <a:pt x="215615" y="228203"/>
                  <a:pt x="277813" y="206003"/>
                  <a:pt x="277813" y="178594"/>
                </a:cubicBezTo>
                <a:lnTo>
                  <a:pt x="277813" y="127620"/>
                </a:lnTo>
                <a:close/>
                <a:moveTo>
                  <a:pt x="277813" y="79375"/>
                </a:moveTo>
                <a:lnTo>
                  <a:pt x="277813" y="49609"/>
                </a:lnTo>
                <a:cubicBezTo>
                  <a:pt x="277813" y="22200"/>
                  <a:pt x="215615" y="0"/>
                  <a:pt x="138906" y="0"/>
                </a:cubicBezTo>
                <a:cubicBezTo>
                  <a:pt x="62198" y="0"/>
                  <a:pt x="0" y="22200"/>
                  <a:pt x="0" y="49609"/>
                </a:cubicBezTo>
                <a:lnTo>
                  <a:pt x="0" y="79375"/>
                </a:lnTo>
                <a:cubicBezTo>
                  <a:pt x="0" y="106784"/>
                  <a:pt x="62198" y="128984"/>
                  <a:pt x="138906" y="128984"/>
                </a:cubicBezTo>
                <a:cubicBezTo>
                  <a:pt x="215615" y="128984"/>
                  <a:pt x="277813" y="106784"/>
                  <a:pt x="277813" y="79375"/>
                </a:cubicBezTo>
                <a:close/>
                <a:moveTo>
                  <a:pt x="247117" y="241722"/>
                </a:moveTo>
                <a:cubicBezTo>
                  <a:pt x="218033" y="252078"/>
                  <a:pt x="179772" y="257969"/>
                  <a:pt x="138906" y="257969"/>
                </a:cubicBezTo>
                <a:cubicBezTo>
                  <a:pt x="98041" y="257969"/>
                  <a:pt x="59779" y="252078"/>
                  <a:pt x="30696" y="241722"/>
                </a:cubicBezTo>
                <a:cubicBezTo>
                  <a:pt x="19782" y="237815"/>
                  <a:pt x="9178" y="232916"/>
                  <a:pt x="0" y="226839"/>
                </a:cubicBezTo>
                <a:lnTo>
                  <a:pt x="0" y="267891"/>
                </a:lnTo>
                <a:cubicBezTo>
                  <a:pt x="0" y="295300"/>
                  <a:pt x="62198" y="317500"/>
                  <a:pt x="138906" y="317500"/>
                </a:cubicBezTo>
                <a:cubicBezTo>
                  <a:pt x="215615" y="317500"/>
                  <a:pt x="277813" y="295300"/>
                  <a:pt x="277813" y="267891"/>
                </a:cubicBezTo>
                <a:lnTo>
                  <a:pt x="277813" y="226839"/>
                </a:lnTo>
                <a:cubicBezTo>
                  <a:pt x="268635" y="232916"/>
                  <a:pt x="258093" y="237815"/>
                  <a:pt x="247117" y="241722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1201208" y="4370917"/>
            <a:ext cx="740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333" y="4804833"/>
            <a:ext cx="722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управления БД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7333" y="5185833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3552" y="5185833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Встраиваемая (serverless) СУБД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7333" y="5482167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3552" y="5482167"/>
            <a:ext cx="201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Вся база в одном файле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7333" y="5778500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3552" y="5778500"/>
            <a:ext cx="2423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Поддержка стандарта SQL-92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7333" y="6074833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3552" y="6074833"/>
            <a:ext cx="2825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Транзакционная целостность ACID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38067" y="1528233"/>
            <a:ext cx="7586133" cy="2992967"/>
          </a:xfrm>
          <a:custGeom>
            <a:avLst/>
            <a:gdLst/>
            <a:ahLst/>
            <a:cxnLst/>
            <a:rect l="l" t="t" r="r" b="b"/>
            <a:pathLst>
              <a:path w="7586133" h="2992967">
                <a:moveTo>
                  <a:pt x="84671" y="0"/>
                </a:moveTo>
                <a:lnTo>
                  <a:pt x="7501462" y="0"/>
                </a:lnTo>
                <a:cubicBezTo>
                  <a:pt x="7548225" y="0"/>
                  <a:pt x="7586133" y="37909"/>
                  <a:pt x="7586133" y="84671"/>
                </a:cubicBezTo>
                <a:lnTo>
                  <a:pt x="7586133" y="2908296"/>
                </a:lnTo>
                <a:cubicBezTo>
                  <a:pt x="7586133" y="2955058"/>
                  <a:pt x="7548225" y="2992967"/>
                  <a:pt x="7501462" y="2992967"/>
                </a:cubicBezTo>
                <a:lnTo>
                  <a:pt x="84671" y="2992967"/>
                </a:lnTo>
                <a:cubicBezTo>
                  <a:pt x="37909" y="2992967"/>
                  <a:pt x="0" y="2955058"/>
                  <a:pt x="0" y="2908296"/>
                </a:cubicBezTo>
                <a:lnTo>
                  <a:pt x="0" y="84671"/>
                </a:lnTo>
                <a:cubicBezTo>
                  <a:pt x="0" y="37909"/>
                  <a:pt x="37909" y="0"/>
                  <a:pt x="84671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96300" y="174414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39092" y="-1550"/>
                </a:moveTo>
                <a:cubicBezTo>
                  <a:pt x="151371" y="-8620"/>
                  <a:pt x="166501" y="-8620"/>
                  <a:pt x="178780" y="-1550"/>
                </a:cubicBezTo>
                <a:lnTo>
                  <a:pt x="287858" y="61392"/>
                </a:lnTo>
                <a:cubicBezTo>
                  <a:pt x="300137" y="68461"/>
                  <a:pt x="307702" y="81607"/>
                  <a:pt x="307702" y="95746"/>
                </a:cubicBezTo>
                <a:lnTo>
                  <a:pt x="307702" y="221630"/>
                </a:lnTo>
                <a:cubicBezTo>
                  <a:pt x="307702" y="235831"/>
                  <a:pt x="300137" y="248915"/>
                  <a:pt x="287858" y="255984"/>
                </a:cubicBezTo>
                <a:lnTo>
                  <a:pt x="178780" y="319050"/>
                </a:lnTo>
                <a:cubicBezTo>
                  <a:pt x="166501" y="326120"/>
                  <a:pt x="151371" y="326120"/>
                  <a:pt x="139092" y="319050"/>
                </a:cubicBezTo>
                <a:lnTo>
                  <a:pt x="30076" y="256108"/>
                </a:lnTo>
                <a:cubicBezTo>
                  <a:pt x="17797" y="249039"/>
                  <a:pt x="10232" y="235893"/>
                  <a:pt x="10232" y="221754"/>
                </a:cubicBezTo>
                <a:lnTo>
                  <a:pt x="10232" y="95870"/>
                </a:lnTo>
                <a:cubicBezTo>
                  <a:pt x="10232" y="81669"/>
                  <a:pt x="17797" y="68585"/>
                  <a:pt x="30076" y="61516"/>
                </a:cubicBezTo>
                <a:lnTo>
                  <a:pt x="139092" y="-1550"/>
                </a:lnTo>
                <a:close/>
                <a:moveTo>
                  <a:pt x="267953" y="221692"/>
                </a:moveTo>
                <a:lnTo>
                  <a:pt x="267953" y="118690"/>
                </a:lnTo>
                <a:lnTo>
                  <a:pt x="178780" y="170160"/>
                </a:lnTo>
                <a:lnTo>
                  <a:pt x="178780" y="273162"/>
                </a:lnTo>
                <a:lnTo>
                  <a:pt x="267953" y="221692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3" name="Text 31"/>
          <p:cNvSpPr/>
          <p:nvPr/>
        </p:nvSpPr>
        <p:spPr>
          <a:xfrm>
            <a:off x="8977842" y="1754725"/>
            <a:ext cx="762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Django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53967" y="2188642"/>
            <a:ext cx="724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Веб-фреймворк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53967" y="2569642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80185" y="2569642"/>
            <a:ext cx="3280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 MVT (Model-View-Template)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53967" y="2865975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0185" y="2865975"/>
            <a:ext cx="2391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Концепция "Batteries included"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53967" y="3162308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80185" y="3162308"/>
            <a:ext cx="179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ORM для работы с БД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53967" y="3458642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80185" y="3458642"/>
            <a:ext cx="3534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Встроенная аутентификация и авторизация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53967" y="3754975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80185" y="3754975"/>
            <a:ext cx="3852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Автогенерируемый интерфейс администратора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53967" y="4051308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80185" y="4051308"/>
            <a:ext cx="2550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Защита от SQL-инъекций и XSS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5000" y="4694773"/>
            <a:ext cx="7577667" cy="2095500"/>
          </a:xfrm>
          <a:custGeom>
            <a:avLst/>
            <a:gdLst/>
            <a:ahLst/>
            <a:cxnLst/>
            <a:rect l="l" t="t" r="r" b="b"/>
            <a:pathLst>
              <a:path w="7577667" h="2095500">
                <a:moveTo>
                  <a:pt x="42333" y="0"/>
                </a:moveTo>
                <a:lnTo>
                  <a:pt x="7493008" y="0"/>
                </a:lnTo>
                <a:cubicBezTo>
                  <a:pt x="7539764" y="0"/>
                  <a:pt x="7577667" y="37903"/>
                  <a:pt x="7577667" y="84658"/>
                </a:cubicBezTo>
                <a:lnTo>
                  <a:pt x="7577667" y="2010842"/>
                </a:lnTo>
                <a:cubicBezTo>
                  <a:pt x="7577667" y="2057597"/>
                  <a:pt x="7539764" y="2095500"/>
                  <a:pt x="7493008" y="2095500"/>
                </a:cubicBezTo>
                <a:lnTo>
                  <a:pt x="42333" y="2095500"/>
                </a:lnTo>
                <a:cubicBezTo>
                  <a:pt x="18953" y="2095500"/>
                  <a:pt x="0" y="2076547"/>
                  <a:pt x="0" y="2053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5000" y="4694773"/>
            <a:ext cx="42333" cy="2095500"/>
          </a:xfrm>
          <a:custGeom>
            <a:avLst/>
            <a:gdLst/>
            <a:ahLst/>
            <a:cxnLst/>
            <a:rect l="l" t="t" r="r" b="b"/>
            <a:pathLst>
              <a:path w="42333" h="2095500">
                <a:moveTo>
                  <a:pt x="42333" y="0"/>
                </a:moveTo>
                <a:lnTo>
                  <a:pt x="42333" y="0"/>
                </a:lnTo>
                <a:lnTo>
                  <a:pt x="42333" y="2095500"/>
                </a:lnTo>
                <a:lnTo>
                  <a:pt x="42333" y="2095500"/>
                </a:lnTo>
                <a:cubicBezTo>
                  <a:pt x="18953" y="2095500"/>
                  <a:pt x="0" y="2076547"/>
                  <a:pt x="0" y="2053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9" name="Shape 47"/>
          <p:cNvSpPr/>
          <p:nvPr/>
        </p:nvSpPr>
        <p:spPr>
          <a:xfrm>
            <a:off x="8510323" y="4906440"/>
            <a:ext cx="357188" cy="317500"/>
          </a:xfrm>
          <a:custGeom>
            <a:avLst/>
            <a:gdLst/>
            <a:ahLst/>
            <a:cxnLst/>
            <a:rect l="l" t="t" r="r" b="b"/>
            <a:pathLst>
              <a:path w="357188" h="317500">
                <a:moveTo>
                  <a:pt x="206809" y="124892"/>
                </a:moveTo>
                <a:cubicBezTo>
                  <a:pt x="206809" y="111187"/>
                  <a:pt x="197135" y="103622"/>
                  <a:pt x="180144" y="103622"/>
                </a:cubicBezTo>
                <a:lnTo>
                  <a:pt x="148890" y="103622"/>
                </a:lnTo>
                <a:lnTo>
                  <a:pt x="148890" y="147774"/>
                </a:lnTo>
                <a:lnTo>
                  <a:pt x="175245" y="147774"/>
                </a:lnTo>
                <a:cubicBezTo>
                  <a:pt x="195585" y="147712"/>
                  <a:pt x="206809" y="139526"/>
                  <a:pt x="206809" y="124892"/>
                </a:cubicBezTo>
                <a:close/>
                <a:moveTo>
                  <a:pt x="320601" y="116954"/>
                </a:moveTo>
                <a:cubicBezTo>
                  <a:pt x="314709" y="97792"/>
                  <a:pt x="313841" y="74290"/>
                  <a:pt x="314523" y="56121"/>
                </a:cubicBezTo>
                <a:cubicBezTo>
                  <a:pt x="315206" y="37207"/>
                  <a:pt x="300447" y="19844"/>
                  <a:pt x="280603" y="19844"/>
                </a:cubicBezTo>
                <a:lnTo>
                  <a:pt x="76708" y="19844"/>
                </a:lnTo>
                <a:cubicBezTo>
                  <a:pt x="56803" y="19844"/>
                  <a:pt x="42106" y="37269"/>
                  <a:pt x="42788" y="56121"/>
                </a:cubicBezTo>
                <a:cubicBezTo>
                  <a:pt x="43408" y="74290"/>
                  <a:pt x="42602" y="97792"/>
                  <a:pt x="36711" y="116954"/>
                </a:cubicBezTo>
                <a:cubicBezTo>
                  <a:pt x="30758" y="136178"/>
                  <a:pt x="20774" y="148332"/>
                  <a:pt x="4341" y="149882"/>
                </a:cubicBezTo>
                <a:lnTo>
                  <a:pt x="4341" y="167556"/>
                </a:lnTo>
                <a:cubicBezTo>
                  <a:pt x="20712" y="169106"/>
                  <a:pt x="30758" y="181260"/>
                  <a:pt x="36711" y="200484"/>
                </a:cubicBezTo>
                <a:cubicBezTo>
                  <a:pt x="42602" y="219646"/>
                  <a:pt x="43470" y="243148"/>
                  <a:pt x="42788" y="261317"/>
                </a:cubicBezTo>
                <a:cubicBezTo>
                  <a:pt x="42106" y="280231"/>
                  <a:pt x="56865" y="297594"/>
                  <a:pt x="76708" y="297594"/>
                </a:cubicBezTo>
                <a:lnTo>
                  <a:pt x="280541" y="297594"/>
                </a:lnTo>
                <a:cubicBezTo>
                  <a:pt x="300447" y="297594"/>
                  <a:pt x="315144" y="280169"/>
                  <a:pt x="314461" y="261317"/>
                </a:cubicBezTo>
                <a:cubicBezTo>
                  <a:pt x="313841" y="243148"/>
                  <a:pt x="314647" y="219646"/>
                  <a:pt x="320539" y="200484"/>
                </a:cubicBezTo>
                <a:cubicBezTo>
                  <a:pt x="326492" y="181260"/>
                  <a:pt x="336476" y="169106"/>
                  <a:pt x="352847" y="167556"/>
                </a:cubicBezTo>
                <a:lnTo>
                  <a:pt x="352847" y="149882"/>
                </a:lnTo>
                <a:cubicBezTo>
                  <a:pt x="336538" y="148332"/>
                  <a:pt x="326492" y="136178"/>
                  <a:pt x="320601" y="116954"/>
                </a:cubicBezTo>
                <a:close/>
                <a:moveTo>
                  <a:pt x="186159" y="232606"/>
                </a:moveTo>
                <a:lnTo>
                  <a:pt x="125450" y="232606"/>
                </a:lnTo>
                <a:lnTo>
                  <a:pt x="125450" y="84832"/>
                </a:lnTo>
                <a:lnTo>
                  <a:pt x="185849" y="84832"/>
                </a:lnTo>
                <a:cubicBezTo>
                  <a:pt x="212700" y="84832"/>
                  <a:pt x="230312" y="99343"/>
                  <a:pt x="230312" y="121667"/>
                </a:cubicBezTo>
                <a:cubicBezTo>
                  <a:pt x="230312" y="137356"/>
                  <a:pt x="218467" y="151371"/>
                  <a:pt x="203336" y="153789"/>
                </a:cubicBezTo>
                <a:lnTo>
                  <a:pt x="203336" y="154595"/>
                </a:lnTo>
                <a:cubicBezTo>
                  <a:pt x="223924" y="156828"/>
                  <a:pt x="237753" y="171090"/>
                  <a:pt x="237753" y="190748"/>
                </a:cubicBezTo>
                <a:cubicBezTo>
                  <a:pt x="237753" y="216855"/>
                  <a:pt x="218343" y="232606"/>
                  <a:pt x="186159" y="232606"/>
                </a:cubicBezTo>
                <a:close/>
                <a:moveTo>
                  <a:pt x="179958" y="165199"/>
                </a:moveTo>
                <a:lnTo>
                  <a:pt x="148890" y="165199"/>
                </a:lnTo>
                <a:lnTo>
                  <a:pt x="148890" y="213816"/>
                </a:lnTo>
                <a:lnTo>
                  <a:pt x="181322" y="213816"/>
                </a:lnTo>
                <a:cubicBezTo>
                  <a:pt x="202530" y="213816"/>
                  <a:pt x="213754" y="205321"/>
                  <a:pt x="213754" y="189322"/>
                </a:cubicBezTo>
                <a:cubicBezTo>
                  <a:pt x="213754" y="173385"/>
                  <a:pt x="202220" y="165199"/>
                  <a:pt x="179958" y="165199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0" name="Text 48"/>
          <p:cNvSpPr/>
          <p:nvPr/>
        </p:nvSpPr>
        <p:spPr>
          <a:xfrm>
            <a:off x="9011708" y="4917023"/>
            <a:ext cx="1185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Bootstrap 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87833" y="5350940"/>
            <a:ext cx="722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CSS-фреймворк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87833" y="5731940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14052" y="5731940"/>
            <a:ext cx="1957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Адаптивный интерфейс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87833" y="6028273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714052" y="6028273"/>
            <a:ext cx="2465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Сеточная система Grid System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87833" y="6324606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714052" y="6324606"/>
            <a:ext cx="3947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Готовые компоненты (модальные окна, таблицы)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55000" y="6959606"/>
            <a:ext cx="7577667" cy="1947333"/>
          </a:xfrm>
          <a:custGeom>
            <a:avLst/>
            <a:gdLst/>
            <a:ahLst/>
            <a:cxnLst/>
            <a:rect l="l" t="t" r="r" b="b"/>
            <a:pathLst>
              <a:path w="7577667" h="1947333">
                <a:moveTo>
                  <a:pt x="42333" y="0"/>
                </a:moveTo>
                <a:lnTo>
                  <a:pt x="7492997" y="0"/>
                </a:lnTo>
                <a:cubicBezTo>
                  <a:pt x="7539759" y="0"/>
                  <a:pt x="7577667" y="37908"/>
                  <a:pt x="7577667" y="84670"/>
                </a:cubicBezTo>
                <a:lnTo>
                  <a:pt x="7577667" y="1862663"/>
                </a:lnTo>
                <a:cubicBezTo>
                  <a:pt x="7577667" y="1909425"/>
                  <a:pt x="7539759" y="1947333"/>
                  <a:pt x="7492997" y="1947333"/>
                </a:cubicBezTo>
                <a:lnTo>
                  <a:pt x="42333" y="1947333"/>
                </a:lnTo>
                <a:cubicBezTo>
                  <a:pt x="18953" y="1947333"/>
                  <a:pt x="0" y="1928380"/>
                  <a:pt x="0" y="190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55000" y="6959606"/>
            <a:ext cx="42333" cy="1947333"/>
          </a:xfrm>
          <a:custGeom>
            <a:avLst/>
            <a:gdLst/>
            <a:ahLst/>
            <a:cxnLst/>
            <a:rect l="l" t="t" r="r" b="b"/>
            <a:pathLst>
              <a:path w="42333" h="1947333">
                <a:moveTo>
                  <a:pt x="42333" y="0"/>
                </a:moveTo>
                <a:lnTo>
                  <a:pt x="42333" y="0"/>
                </a:lnTo>
                <a:lnTo>
                  <a:pt x="42333" y="1947333"/>
                </a:lnTo>
                <a:lnTo>
                  <a:pt x="42333" y="1947333"/>
                </a:lnTo>
                <a:cubicBezTo>
                  <a:pt x="18953" y="1947333"/>
                  <a:pt x="0" y="1928380"/>
                  <a:pt x="0" y="190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60" name="Shape 58"/>
          <p:cNvSpPr/>
          <p:nvPr/>
        </p:nvSpPr>
        <p:spPr>
          <a:xfrm>
            <a:off x="8461375" y="7150106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75" y="48171"/>
                </a:moveTo>
                <a:lnTo>
                  <a:pt x="111175" y="72777"/>
                </a:lnTo>
                <a:lnTo>
                  <a:pt x="111423" y="73025"/>
                </a:lnTo>
                <a:cubicBezTo>
                  <a:pt x="114647" y="32147"/>
                  <a:pt x="148828" y="0"/>
                  <a:pt x="190550" y="0"/>
                </a:cubicBezTo>
                <a:cubicBezTo>
                  <a:pt x="200521" y="0"/>
                  <a:pt x="210096" y="1836"/>
                  <a:pt x="218877" y="5209"/>
                </a:cubicBezTo>
                <a:cubicBezTo>
                  <a:pt x="223838" y="7094"/>
                  <a:pt x="224730" y="13395"/>
                  <a:pt x="221010" y="17165"/>
                </a:cubicBezTo>
                <a:lnTo>
                  <a:pt x="177006" y="61168"/>
                </a:lnTo>
                <a:cubicBezTo>
                  <a:pt x="175518" y="62657"/>
                  <a:pt x="174675" y="64691"/>
                  <a:pt x="174675" y="66774"/>
                </a:cubicBezTo>
                <a:lnTo>
                  <a:pt x="174675" y="87313"/>
                </a:lnTo>
                <a:cubicBezTo>
                  <a:pt x="174675" y="91678"/>
                  <a:pt x="178246" y="95250"/>
                  <a:pt x="182612" y="95250"/>
                </a:cubicBezTo>
                <a:lnTo>
                  <a:pt x="203150" y="95250"/>
                </a:lnTo>
                <a:cubicBezTo>
                  <a:pt x="205234" y="95250"/>
                  <a:pt x="207268" y="94407"/>
                  <a:pt x="208756" y="92918"/>
                </a:cubicBezTo>
                <a:lnTo>
                  <a:pt x="252760" y="48915"/>
                </a:lnTo>
                <a:cubicBezTo>
                  <a:pt x="256530" y="45145"/>
                  <a:pt x="262830" y="46087"/>
                  <a:pt x="264716" y="51048"/>
                </a:cubicBezTo>
                <a:cubicBezTo>
                  <a:pt x="268089" y="59829"/>
                  <a:pt x="269925" y="69404"/>
                  <a:pt x="269925" y="79375"/>
                </a:cubicBezTo>
                <a:cubicBezTo>
                  <a:pt x="269925" y="109438"/>
                  <a:pt x="253206" y="135632"/>
                  <a:pt x="228501" y="149076"/>
                </a:cubicBezTo>
                <a:lnTo>
                  <a:pt x="268932" y="189508"/>
                </a:lnTo>
                <a:cubicBezTo>
                  <a:pt x="278209" y="198785"/>
                  <a:pt x="278209" y="213866"/>
                  <a:pt x="268932" y="223193"/>
                </a:cubicBezTo>
                <a:lnTo>
                  <a:pt x="239117" y="253008"/>
                </a:lnTo>
                <a:cubicBezTo>
                  <a:pt x="229840" y="262285"/>
                  <a:pt x="214759" y="262285"/>
                  <a:pt x="205432" y="253008"/>
                </a:cubicBezTo>
                <a:lnTo>
                  <a:pt x="142925" y="190500"/>
                </a:lnTo>
                <a:cubicBezTo>
                  <a:pt x="129332" y="176907"/>
                  <a:pt x="126256" y="156815"/>
                  <a:pt x="133747" y="140246"/>
                </a:cubicBezTo>
                <a:lnTo>
                  <a:pt x="88751" y="95250"/>
                </a:lnTo>
                <a:lnTo>
                  <a:pt x="64145" y="95250"/>
                </a:lnTo>
                <a:cubicBezTo>
                  <a:pt x="58837" y="95250"/>
                  <a:pt x="53876" y="92621"/>
                  <a:pt x="50949" y="88205"/>
                </a:cubicBezTo>
                <a:lnTo>
                  <a:pt x="11609" y="29220"/>
                </a:lnTo>
                <a:cubicBezTo>
                  <a:pt x="9525" y="26095"/>
                  <a:pt x="9922" y="21878"/>
                  <a:pt x="12601" y="19199"/>
                </a:cubicBezTo>
                <a:lnTo>
                  <a:pt x="35123" y="-3324"/>
                </a:lnTo>
                <a:cubicBezTo>
                  <a:pt x="37802" y="-6003"/>
                  <a:pt x="41970" y="-6400"/>
                  <a:pt x="45145" y="-4316"/>
                </a:cubicBezTo>
                <a:lnTo>
                  <a:pt x="104130" y="34975"/>
                </a:lnTo>
                <a:cubicBezTo>
                  <a:pt x="108545" y="37902"/>
                  <a:pt x="111175" y="42863"/>
                  <a:pt x="111175" y="48171"/>
                </a:cubicBezTo>
                <a:close/>
                <a:moveTo>
                  <a:pt x="106958" y="147141"/>
                </a:moveTo>
                <a:cubicBezTo>
                  <a:pt x="103832" y="165497"/>
                  <a:pt x="108148" y="184894"/>
                  <a:pt x="120055" y="200422"/>
                </a:cubicBezTo>
                <a:lnTo>
                  <a:pt x="72926" y="247501"/>
                </a:lnTo>
                <a:cubicBezTo>
                  <a:pt x="58986" y="261441"/>
                  <a:pt x="36364" y="261441"/>
                  <a:pt x="22423" y="247501"/>
                </a:cubicBezTo>
                <a:cubicBezTo>
                  <a:pt x="8483" y="233561"/>
                  <a:pt x="8483" y="210939"/>
                  <a:pt x="22423" y="196999"/>
                </a:cubicBezTo>
                <a:lnTo>
                  <a:pt x="89595" y="129828"/>
                </a:lnTo>
                <a:lnTo>
                  <a:pt x="106958" y="147191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61" name="Text 59"/>
          <p:cNvSpPr/>
          <p:nvPr/>
        </p:nvSpPr>
        <p:spPr>
          <a:xfrm>
            <a:off x="8890000" y="7128940"/>
            <a:ext cx="973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PyCharm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45500" y="7509940"/>
            <a:ext cx="7313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45500" y="7890940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71719" y="7890940"/>
            <a:ext cx="2074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Статический анализ кода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45500" y="8187273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671719" y="8187273"/>
            <a:ext cx="180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Встроенный отладчик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445500" y="8483606"/>
            <a:ext cx="22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671719" y="8483606"/>
            <a:ext cx="2592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tool window для SQLite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44500" y="10642606"/>
            <a:ext cx="15388167" cy="846667"/>
          </a:xfrm>
          <a:custGeom>
            <a:avLst/>
            <a:gdLst/>
            <a:ahLst/>
            <a:cxnLst/>
            <a:rect l="l" t="t" r="r" b="b"/>
            <a:pathLst>
              <a:path w="15388167" h="846667">
                <a:moveTo>
                  <a:pt x="42333" y="0"/>
                </a:moveTo>
                <a:lnTo>
                  <a:pt x="15303500" y="0"/>
                </a:lnTo>
                <a:cubicBezTo>
                  <a:pt x="15350260" y="0"/>
                  <a:pt x="15388167" y="37907"/>
                  <a:pt x="15388167" y="84667"/>
                </a:cubicBezTo>
                <a:lnTo>
                  <a:pt x="15388167" y="762000"/>
                </a:lnTo>
                <a:cubicBezTo>
                  <a:pt x="15388167" y="808760"/>
                  <a:pt x="15350260" y="846667"/>
                  <a:pt x="15303500" y="846667"/>
                </a:cubicBez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44500" y="10642606"/>
            <a:ext cx="42333" cy="846667"/>
          </a:xfrm>
          <a:custGeom>
            <a:avLst/>
            <a:gdLst/>
            <a:ahLst/>
            <a:cxnLst/>
            <a:rect l="l" t="t" r="r" b="b"/>
            <a:pathLst>
              <a:path w="42333" h="846667">
                <a:moveTo>
                  <a:pt x="42333" y="0"/>
                </a:moveTo>
                <a:lnTo>
                  <a:pt x="42333" y="0"/>
                </a:lnTo>
                <a:lnTo>
                  <a:pt x="42333" y="846667"/>
                </a:ln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1" name="Text 69"/>
          <p:cNvSpPr/>
          <p:nvPr/>
        </p:nvSpPr>
        <p:spPr>
          <a:xfrm>
            <a:off x="635000" y="10811940"/>
            <a:ext cx="151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Вывод:</a:t>
            </a:r>
            <a:r>
              <a:rPr lang="en-US" sz="1333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Стек Python + Django + SQLite + Bootstrap представляет оптимальное сочетание производительности, безопасности и скорости разработки, полностью удовлетворяющее требованиям к создании системы внутреннего документооборота.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870075"/>
            <a:ext cx="2095500" cy="711200"/>
          </a:xfrm>
          <a:custGeom>
            <a:avLst/>
            <a:gdLst/>
            <a:ahLst/>
            <a:cxnLst/>
            <a:rect l="l" t="t" r="r" b="b"/>
            <a:pathLst>
              <a:path w="2095500" h="711200">
                <a:moveTo>
                  <a:pt x="50801" y="0"/>
                </a:moveTo>
                <a:lnTo>
                  <a:pt x="2044699" y="0"/>
                </a:lnTo>
                <a:cubicBezTo>
                  <a:pt x="2072756" y="0"/>
                  <a:pt x="2095500" y="22744"/>
                  <a:pt x="2095500" y="50801"/>
                </a:cubicBezTo>
                <a:lnTo>
                  <a:pt x="2095500" y="660399"/>
                </a:lnTo>
                <a:cubicBezTo>
                  <a:pt x="2095500" y="688456"/>
                  <a:pt x="2072756" y="711200"/>
                  <a:pt x="20446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1870075"/>
            <a:ext cx="2247900" cy="711200"/>
          </a:xfrm>
          <a:prstGeom prst="rect">
            <a:avLst/>
          </a:prstGeom>
          <a:noFill/>
          <a:ln/>
        </p:spPr>
        <p:txBody>
          <a:bodyPr wrap="square" lIns="406400" tIns="152400" rIns="406400" bIns="15240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ГЛАВА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885914"/>
            <a:ext cx="1021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Проектирование веб-приложения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578314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6035514"/>
            <a:ext cx="99441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Функциональные требования, модели данных и архитектура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885" y="423885"/>
            <a:ext cx="1549300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kern="0" spc="67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ВЕБ-ПРИЛОЖЕНИЯ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885" y="762993"/>
            <a:ext cx="15567186" cy="38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03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Функциональные требования и модель вариантов использования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885" y="1271656"/>
            <a:ext cx="1017325" cy="42389"/>
          </a:xfrm>
          <a:custGeom>
            <a:avLst/>
            <a:gdLst/>
            <a:ahLst/>
            <a:cxnLst/>
            <a:rect l="l" t="t" r="r" b="b"/>
            <a:pathLst>
              <a:path w="1017325" h="42389">
                <a:moveTo>
                  <a:pt x="0" y="0"/>
                </a:moveTo>
                <a:lnTo>
                  <a:pt x="1017325" y="0"/>
                </a:lnTo>
                <a:lnTo>
                  <a:pt x="1017325" y="42389"/>
                </a:lnTo>
                <a:lnTo>
                  <a:pt x="0" y="42389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45080" y="1483599"/>
            <a:ext cx="9145325" cy="7405272"/>
          </a:xfrm>
          <a:custGeom>
            <a:avLst/>
            <a:gdLst/>
            <a:ahLst/>
            <a:cxnLst/>
            <a:rect l="l" t="t" r="r" b="b"/>
            <a:pathLst>
              <a:path w="9145325" h="8753231">
                <a:moveTo>
                  <a:pt x="42389" y="0"/>
                </a:moveTo>
                <a:lnTo>
                  <a:pt x="9060506" y="0"/>
                </a:lnTo>
                <a:cubicBezTo>
                  <a:pt x="9107350" y="0"/>
                  <a:pt x="9145325" y="37975"/>
                  <a:pt x="9145325" y="84819"/>
                </a:cubicBezTo>
                <a:lnTo>
                  <a:pt x="9145325" y="8668412"/>
                </a:lnTo>
                <a:cubicBezTo>
                  <a:pt x="9145325" y="8715256"/>
                  <a:pt x="9107350" y="8753231"/>
                  <a:pt x="9060506" y="8753231"/>
                </a:cubicBezTo>
                <a:lnTo>
                  <a:pt x="42389" y="8753231"/>
                </a:lnTo>
                <a:cubicBezTo>
                  <a:pt x="18978" y="8753231"/>
                  <a:pt x="0" y="8734253"/>
                  <a:pt x="0" y="8710842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45080" y="1483599"/>
            <a:ext cx="45719" cy="7405272"/>
          </a:xfrm>
          <a:custGeom>
            <a:avLst/>
            <a:gdLst/>
            <a:ahLst/>
            <a:cxnLst/>
            <a:rect l="l" t="t" r="r" b="b"/>
            <a:pathLst>
              <a:path w="42389" h="8753231">
                <a:moveTo>
                  <a:pt x="42389" y="0"/>
                </a:moveTo>
                <a:lnTo>
                  <a:pt x="42389" y="0"/>
                </a:lnTo>
                <a:lnTo>
                  <a:pt x="42389" y="8753231"/>
                </a:lnTo>
                <a:lnTo>
                  <a:pt x="42389" y="8753231"/>
                </a:lnTo>
                <a:cubicBezTo>
                  <a:pt x="18978" y="8753231"/>
                  <a:pt x="0" y="8734253"/>
                  <a:pt x="0" y="8710842"/>
                </a:cubicBezTo>
                <a:lnTo>
                  <a:pt x="0" y="42389"/>
                </a:lnTo>
                <a:cubicBezTo>
                  <a:pt x="0" y="18994"/>
                  <a:pt x="18994" y="0"/>
                  <a:pt x="42389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678216" y="1695541"/>
            <a:ext cx="8806216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Ролевая модель системы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2455" y="2166054"/>
            <a:ext cx="8687529" cy="1873573"/>
          </a:xfrm>
          <a:custGeom>
            <a:avLst/>
            <a:gdLst/>
            <a:ahLst/>
            <a:cxnLst/>
            <a:rect l="l" t="t" r="r" b="b"/>
            <a:pathLst>
              <a:path w="8687529" h="1873573">
                <a:moveTo>
                  <a:pt x="84779" y="0"/>
                </a:moveTo>
                <a:lnTo>
                  <a:pt x="8602749" y="0"/>
                </a:lnTo>
                <a:cubicBezTo>
                  <a:pt x="8649572" y="0"/>
                  <a:pt x="8687529" y="37957"/>
                  <a:pt x="8687529" y="84779"/>
                </a:cubicBezTo>
                <a:lnTo>
                  <a:pt x="8687529" y="1788794"/>
                </a:lnTo>
                <a:cubicBezTo>
                  <a:pt x="8687529" y="1835616"/>
                  <a:pt x="8649572" y="1873573"/>
                  <a:pt x="8602749" y="1873573"/>
                </a:cubicBezTo>
                <a:lnTo>
                  <a:pt x="84779" y="1873573"/>
                </a:lnTo>
                <a:cubicBezTo>
                  <a:pt x="37957" y="1873573"/>
                  <a:pt x="0" y="1835616"/>
                  <a:pt x="0" y="1788794"/>
                </a:cubicBezTo>
                <a:lnTo>
                  <a:pt x="0" y="84779"/>
                </a:lnTo>
                <a:cubicBezTo>
                  <a:pt x="0" y="37988"/>
                  <a:pt x="37988" y="0"/>
                  <a:pt x="84779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248" y="2361039"/>
            <a:ext cx="508662" cy="508662"/>
          </a:xfrm>
          <a:custGeom>
            <a:avLst/>
            <a:gdLst/>
            <a:ahLst/>
            <a:cxnLst/>
            <a:rect l="l" t="t" r="r" b="b"/>
            <a:pathLst>
              <a:path w="508662" h="508662">
                <a:moveTo>
                  <a:pt x="254331" y="0"/>
                </a:moveTo>
                <a:lnTo>
                  <a:pt x="254331" y="0"/>
                </a:lnTo>
                <a:cubicBezTo>
                  <a:pt x="394700" y="0"/>
                  <a:pt x="508662" y="113962"/>
                  <a:pt x="508662" y="254331"/>
                </a:cubicBezTo>
                <a:lnTo>
                  <a:pt x="508662" y="254331"/>
                </a:lnTo>
                <a:cubicBezTo>
                  <a:pt x="508662" y="394700"/>
                  <a:pt x="394700" y="508662"/>
                  <a:pt x="254331" y="508662"/>
                </a:cubicBezTo>
                <a:lnTo>
                  <a:pt x="254331" y="508662"/>
                </a:lnTo>
                <a:cubicBezTo>
                  <a:pt x="113962" y="508662"/>
                  <a:pt x="0" y="394700"/>
                  <a:pt x="0" y="254331"/>
                </a:cubicBezTo>
                <a:lnTo>
                  <a:pt x="0" y="254331"/>
                </a:lnTo>
                <a:cubicBezTo>
                  <a:pt x="0" y="113962"/>
                  <a:pt x="113962" y="0"/>
                  <a:pt x="254331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0" name="Shape 8"/>
          <p:cNvSpPr/>
          <p:nvPr/>
        </p:nvSpPr>
        <p:spPr>
          <a:xfrm>
            <a:off x="1017855" y="2509399"/>
            <a:ext cx="185450" cy="211943"/>
          </a:xfrm>
          <a:custGeom>
            <a:avLst/>
            <a:gdLst/>
            <a:ahLst/>
            <a:cxnLst/>
            <a:rect l="l" t="t" r="r" b="b"/>
            <a:pathLst>
              <a:path w="185450" h="211943">
                <a:moveTo>
                  <a:pt x="92725" y="102660"/>
                </a:moveTo>
                <a:cubicBezTo>
                  <a:pt x="120141" y="102660"/>
                  <a:pt x="142399" y="80402"/>
                  <a:pt x="142399" y="52986"/>
                </a:cubicBezTo>
                <a:cubicBezTo>
                  <a:pt x="142399" y="25570"/>
                  <a:pt x="120141" y="3312"/>
                  <a:pt x="92725" y="3312"/>
                </a:cubicBezTo>
                <a:cubicBezTo>
                  <a:pt x="65309" y="3312"/>
                  <a:pt x="43051" y="25570"/>
                  <a:pt x="43051" y="52986"/>
                </a:cubicBezTo>
                <a:cubicBezTo>
                  <a:pt x="43051" y="80402"/>
                  <a:pt x="65309" y="102660"/>
                  <a:pt x="92725" y="102660"/>
                </a:cubicBezTo>
                <a:close/>
                <a:moveTo>
                  <a:pt x="80431" y="125841"/>
                </a:moveTo>
                <a:cubicBezTo>
                  <a:pt x="39656" y="125841"/>
                  <a:pt x="6623" y="158874"/>
                  <a:pt x="6623" y="199648"/>
                </a:cubicBezTo>
                <a:cubicBezTo>
                  <a:pt x="6623" y="206437"/>
                  <a:pt x="12129" y="211943"/>
                  <a:pt x="18918" y="211943"/>
                </a:cubicBezTo>
                <a:lnTo>
                  <a:pt x="166532" y="211943"/>
                </a:lnTo>
                <a:cubicBezTo>
                  <a:pt x="173321" y="211943"/>
                  <a:pt x="178827" y="206437"/>
                  <a:pt x="178827" y="199648"/>
                </a:cubicBezTo>
                <a:cubicBezTo>
                  <a:pt x="178827" y="158874"/>
                  <a:pt x="145793" y="125841"/>
                  <a:pt x="105019" y="125841"/>
                </a:cubicBezTo>
                <a:lnTo>
                  <a:pt x="80431" y="125841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1492076" y="2339845"/>
            <a:ext cx="1049116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Сотрудник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2076" y="2636564"/>
            <a:ext cx="1038519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Инициатор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443" y="3060450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84777" y="169554"/>
                </a:moveTo>
                <a:cubicBezTo>
                  <a:pt x="131567" y="169554"/>
                  <a:pt x="169554" y="131567"/>
                  <a:pt x="169554" y="84777"/>
                </a:cubicBezTo>
                <a:cubicBezTo>
                  <a:pt x="169554" y="37987"/>
                  <a:pt x="131567" y="0"/>
                  <a:pt x="84777" y="0"/>
                </a:cubicBezTo>
                <a:cubicBezTo>
                  <a:pt x="37987" y="0"/>
                  <a:pt x="0" y="37987"/>
                  <a:pt x="0" y="84777"/>
                </a:cubicBezTo>
                <a:cubicBezTo>
                  <a:pt x="0" y="131567"/>
                  <a:pt x="37987" y="169554"/>
                  <a:pt x="84777" y="169554"/>
                </a:cubicBezTo>
                <a:close/>
                <a:moveTo>
                  <a:pt x="76829" y="113919"/>
                </a:moveTo>
                <a:lnTo>
                  <a:pt x="76829" y="92725"/>
                </a:lnTo>
                <a:lnTo>
                  <a:pt x="55635" y="92725"/>
                </a:lnTo>
                <a:cubicBezTo>
                  <a:pt x="51231" y="92725"/>
                  <a:pt x="47687" y="89181"/>
                  <a:pt x="47687" y="84777"/>
                </a:cubicBezTo>
                <a:cubicBezTo>
                  <a:pt x="47687" y="80373"/>
                  <a:pt x="51231" y="76829"/>
                  <a:pt x="55635" y="76829"/>
                </a:cubicBezTo>
                <a:lnTo>
                  <a:pt x="76829" y="76829"/>
                </a:lnTo>
                <a:lnTo>
                  <a:pt x="76829" y="55635"/>
                </a:lnTo>
                <a:cubicBezTo>
                  <a:pt x="76829" y="51231"/>
                  <a:pt x="80373" y="47687"/>
                  <a:pt x="84777" y="47687"/>
                </a:cubicBezTo>
                <a:cubicBezTo>
                  <a:pt x="89181" y="47687"/>
                  <a:pt x="92725" y="51231"/>
                  <a:pt x="92725" y="55635"/>
                </a:cubicBezTo>
                <a:lnTo>
                  <a:pt x="92725" y="76829"/>
                </a:lnTo>
                <a:lnTo>
                  <a:pt x="113919" y="76829"/>
                </a:lnTo>
                <a:cubicBezTo>
                  <a:pt x="118324" y="76829"/>
                  <a:pt x="121867" y="80373"/>
                  <a:pt x="121867" y="84777"/>
                </a:cubicBezTo>
                <a:cubicBezTo>
                  <a:pt x="121867" y="89181"/>
                  <a:pt x="118324" y="92725"/>
                  <a:pt x="113919" y="92725"/>
                </a:cubicBezTo>
                <a:lnTo>
                  <a:pt x="92725" y="92725"/>
                </a:lnTo>
                <a:lnTo>
                  <a:pt x="92725" y="113919"/>
                </a:lnTo>
                <a:cubicBezTo>
                  <a:pt x="92725" y="118324"/>
                  <a:pt x="89181" y="121867"/>
                  <a:pt x="84777" y="121867"/>
                </a:cubicBezTo>
                <a:cubicBezTo>
                  <a:pt x="80373" y="121867"/>
                  <a:pt x="76829" y="118324"/>
                  <a:pt x="76829" y="113919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968" y="3018061"/>
            <a:ext cx="2341966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 новых документов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6845" y="3357169"/>
            <a:ext cx="190748" cy="169554"/>
          </a:xfrm>
          <a:custGeom>
            <a:avLst/>
            <a:gdLst/>
            <a:ahLst/>
            <a:cxnLst/>
            <a:rect l="l" t="t" r="r" b="b"/>
            <a:pathLst>
              <a:path w="190748" h="169554">
                <a:moveTo>
                  <a:pt x="95374" y="10597"/>
                </a:moveTo>
                <a:cubicBezTo>
                  <a:pt x="68616" y="10597"/>
                  <a:pt x="47190" y="22784"/>
                  <a:pt x="31593" y="37289"/>
                </a:cubicBezTo>
                <a:cubicBezTo>
                  <a:pt x="16094" y="51694"/>
                  <a:pt x="5729" y="68881"/>
                  <a:pt x="795" y="80704"/>
                </a:cubicBezTo>
                <a:cubicBezTo>
                  <a:pt x="-298" y="83320"/>
                  <a:pt x="-298" y="86234"/>
                  <a:pt x="795" y="88850"/>
                </a:cubicBezTo>
                <a:cubicBezTo>
                  <a:pt x="5729" y="100673"/>
                  <a:pt x="16094" y="117893"/>
                  <a:pt x="31593" y="132265"/>
                </a:cubicBezTo>
                <a:cubicBezTo>
                  <a:pt x="47190" y="146737"/>
                  <a:pt x="68616" y="158957"/>
                  <a:pt x="95374" y="158957"/>
                </a:cubicBezTo>
                <a:cubicBezTo>
                  <a:pt x="122132" y="158957"/>
                  <a:pt x="143558" y="146770"/>
                  <a:pt x="159156" y="132265"/>
                </a:cubicBezTo>
                <a:cubicBezTo>
                  <a:pt x="174654" y="117860"/>
                  <a:pt x="185019" y="100673"/>
                  <a:pt x="189954" y="88850"/>
                </a:cubicBezTo>
                <a:cubicBezTo>
                  <a:pt x="191046" y="86234"/>
                  <a:pt x="191046" y="83320"/>
                  <a:pt x="189954" y="80704"/>
                </a:cubicBezTo>
                <a:cubicBezTo>
                  <a:pt x="185019" y="68881"/>
                  <a:pt x="174654" y="51661"/>
                  <a:pt x="159156" y="37289"/>
                </a:cubicBezTo>
                <a:cubicBezTo>
                  <a:pt x="143558" y="22817"/>
                  <a:pt x="122132" y="10597"/>
                  <a:pt x="95374" y="10597"/>
                </a:cubicBezTo>
                <a:close/>
                <a:moveTo>
                  <a:pt x="47687" y="84777"/>
                </a:moveTo>
                <a:cubicBezTo>
                  <a:pt x="47687" y="58458"/>
                  <a:pt x="69055" y="37090"/>
                  <a:pt x="95374" y="37090"/>
                </a:cubicBezTo>
                <a:cubicBezTo>
                  <a:pt x="121693" y="37090"/>
                  <a:pt x="143061" y="58458"/>
                  <a:pt x="143061" y="84777"/>
                </a:cubicBezTo>
                <a:cubicBezTo>
                  <a:pt x="143061" y="111096"/>
                  <a:pt x="121693" y="132464"/>
                  <a:pt x="95374" y="132464"/>
                </a:cubicBezTo>
                <a:cubicBezTo>
                  <a:pt x="69055" y="132464"/>
                  <a:pt x="47687" y="111096"/>
                  <a:pt x="47687" y="84777"/>
                </a:cubicBezTo>
                <a:close/>
                <a:moveTo>
                  <a:pt x="95374" y="63583"/>
                </a:moveTo>
                <a:cubicBezTo>
                  <a:pt x="95374" y="75273"/>
                  <a:pt x="85870" y="84777"/>
                  <a:pt x="74180" y="84777"/>
                </a:cubicBezTo>
                <a:cubicBezTo>
                  <a:pt x="70372" y="84777"/>
                  <a:pt x="66795" y="83784"/>
                  <a:pt x="63682" y="81995"/>
                </a:cubicBezTo>
                <a:cubicBezTo>
                  <a:pt x="63351" y="85605"/>
                  <a:pt x="63649" y="89314"/>
                  <a:pt x="64643" y="92990"/>
                </a:cubicBezTo>
                <a:cubicBezTo>
                  <a:pt x="69179" y="109945"/>
                  <a:pt x="86632" y="120013"/>
                  <a:pt x="103587" y="115476"/>
                </a:cubicBezTo>
                <a:cubicBezTo>
                  <a:pt x="120542" y="110939"/>
                  <a:pt x="130610" y="93487"/>
                  <a:pt x="126073" y="76531"/>
                </a:cubicBezTo>
                <a:cubicBezTo>
                  <a:pt x="122033" y="61397"/>
                  <a:pt x="107693" y="51760"/>
                  <a:pt x="92592" y="53085"/>
                </a:cubicBezTo>
                <a:cubicBezTo>
                  <a:pt x="94348" y="56165"/>
                  <a:pt x="95374" y="59741"/>
                  <a:pt x="95374" y="63583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968" y="3314781"/>
            <a:ext cx="24479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Отслеживание статуса заявок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7443" y="3653889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137763" y="68881"/>
                </a:moveTo>
                <a:cubicBezTo>
                  <a:pt x="137763" y="84082"/>
                  <a:pt x="132828" y="98123"/>
                  <a:pt x="124516" y="109515"/>
                </a:cubicBezTo>
                <a:lnTo>
                  <a:pt x="166441" y="151473"/>
                </a:lnTo>
                <a:cubicBezTo>
                  <a:pt x="170581" y="155612"/>
                  <a:pt x="170581" y="162335"/>
                  <a:pt x="166441" y="166474"/>
                </a:cubicBezTo>
                <a:cubicBezTo>
                  <a:pt x="162302" y="170614"/>
                  <a:pt x="155579" y="170614"/>
                  <a:pt x="151440" y="166474"/>
                </a:cubicBezTo>
                <a:lnTo>
                  <a:pt x="109515" y="124516"/>
                </a:lnTo>
                <a:cubicBezTo>
                  <a:pt x="98123" y="132828"/>
                  <a:pt x="84082" y="137763"/>
                  <a:pt x="68881" y="137763"/>
                </a:cubicBezTo>
                <a:cubicBezTo>
                  <a:pt x="30831" y="137763"/>
                  <a:pt x="0" y="106932"/>
                  <a:pt x="0" y="68881"/>
                </a:cubicBezTo>
                <a:cubicBezTo>
                  <a:pt x="0" y="30831"/>
                  <a:pt x="30831" y="0"/>
                  <a:pt x="68881" y="0"/>
                </a:cubicBezTo>
                <a:cubicBezTo>
                  <a:pt x="106932" y="0"/>
                  <a:pt x="137763" y="30831"/>
                  <a:pt x="137763" y="68881"/>
                </a:cubicBezTo>
                <a:close/>
                <a:moveTo>
                  <a:pt x="68881" y="116568"/>
                </a:moveTo>
                <a:cubicBezTo>
                  <a:pt x="95201" y="116568"/>
                  <a:pt x="116568" y="95201"/>
                  <a:pt x="116568" y="68881"/>
                </a:cubicBezTo>
                <a:cubicBezTo>
                  <a:pt x="116568" y="42562"/>
                  <a:pt x="95201" y="21194"/>
                  <a:pt x="68881" y="21194"/>
                </a:cubicBezTo>
                <a:cubicBezTo>
                  <a:pt x="42562" y="21194"/>
                  <a:pt x="21194" y="42562"/>
                  <a:pt x="21194" y="68881"/>
                </a:cubicBezTo>
                <a:cubicBezTo>
                  <a:pt x="21194" y="95201"/>
                  <a:pt x="42562" y="116568"/>
                  <a:pt x="68881" y="116568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8" name="Text 16"/>
          <p:cNvSpPr/>
          <p:nvPr/>
        </p:nvSpPr>
        <p:spPr>
          <a:xfrm>
            <a:off x="1152968" y="3611500"/>
            <a:ext cx="2659880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Поиск и фильтрация документов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8216" y="4171027"/>
            <a:ext cx="8700245" cy="1865095"/>
          </a:xfrm>
          <a:custGeom>
            <a:avLst/>
            <a:gdLst/>
            <a:ahLst/>
            <a:cxnLst/>
            <a:rect l="l" t="t" r="r" b="b"/>
            <a:pathLst>
              <a:path w="8700245" h="1865095">
                <a:moveTo>
                  <a:pt x="42394" y="0"/>
                </a:moveTo>
                <a:lnTo>
                  <a:pt x="8657851" y="0"/>
                </a:lnTo>
                <a:cubicBezTo>
                  <a:pt x="8681265" y="0"/>
                  <a:pt x="8700245" y="18980"/>
                  <a:pt x="8700245" y="42394"/>
                </a:cubicBezTo>
                <a:lnTo>
                  <a:pt x="8700245" y="1822702"/>
                </a:lnTo>
                <a:cubicBezTo>
                  <a:pt x="8700245" y="1846115"/>
                  <a:pt x="8681265" y="1865095"/>
                  <a:pt x="8657851" y="1865095"/>
                </a:cubicBezTo>
                <a:lnTo>
                  <a:pt x="42394" y="1865095"/>
                </a:lnTo>
                <a:cubicBezTo>
                  <a:pt x="18980" y="1865095"/>
                  <a:pt x="0" y="1846115"/>
                  <a:pt x="0" y="1822702"/>
                </a:cubicBezTo>
                <a:lnTo>
                  <a:pt x="0" y="42394"/>
                </a:lnTo>
                <a:cubicBezTo>
                  <a:pt x="0" y="18980"/>
                  <a:pt x="18980" y="0"/>
                  <a:pt x="4239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7771" y="4361775"/>
            <a:ext cx="508662" cy="508662"/>
          </a:xfrm>
          <a:custGeom>
            <a:avLst/>
            <a:gdLst/>
            <a:ahLst/>
            <a:cxnLst/>
            <a:rect l="l" t="t" r="r" b="b"/>
            <a:pathLst>
              <a:path w="508662" h="508662">
                <a:moveTo>
                  <a:pt x="254331" y="0"/>
                </a:moveTo>
                <a:lnTo>
                  <a:pt x="254331" y="0"/>
                </a:lnTo>
                <a:cubicBezTo>
                  <a:pt x="394700" y="0"/>
                  <a:pt x="508662" y="113962"/>
                  <a:pt x="508662" y="254331"/>
                </a:cubicBezTo>
                <a:lnTo>
                  <a:pt x="508662" y="254331"/>
                </a:lnTo>
                <a:cubicBezTo>
                  <a:pt x="508662" y="394700"/>
                  <a:pt x="394700" y="508662"/>
                  <a:pt x="254331" y="508662"/>
                </a:cubicBezTo>
                <a:lnTo>
                  <a:pt x="254331" y="508662"/>
                </a:lnTo>
                <a:cubicBezTo>
                  <a:pt x="113962" y="508662"/>
                  <a:pt x="0" y="394700"/>
                  <a:pt x="0" y="254331"/>
                </a:cubicBezTo>
                <a:lnTo>
                  <a:pt x="0" y="254331"/>
                </a:lnTo>
                <a:cubicBezTo>
                  <a:pt x="0" y="113962"/>
                  <a:pt x="113962" y="0"/>
                  <a:pt x="254331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9377" y="4510135"/>
            <a:ext cx="185450" cy="211943"/>
          </a:xfrm>
          <a:custGeom>
            <a:avLst/>
            <a:gdLst/>
            <a:ahLst/>
            <a:cxnLst/>
            <a:rect l="l" t="t" r="r" b="b"/>
            <a:pathLst>
              <a:path w="185450" h="211943">
                <a:moveTo>
                  <a:pt x="92725" y="102660"/>
                </a:moveTo>
                <a:cubicBezTo>
                  <a:pt x="65309" y="102660"/>
                  <a:pt x="43051" y="80402"/>
                  <a:pt x="43051" y="52986"/>
                </a:cubicBezTo>
                <a:cubicBezTo>
                  <a:pt x="43051" y="25570"/>
                  <a:pt x="65309" y="3312"/>
                  <a:pt x="92725" y="3312"/>
                </a:cubicBezTo>
                <a:cubicBezTo>
                  <a:pt x="120141" y="3312"/>
                  <a:pt x="142399" y="25570"/>
                  <a:pt x="142399" y="52986"/>
                </a:cubicBezTo>
                <a:cubicBezTo>
                  <a:pt x="142399" y="80402"/>
                  <a:pt x="120141" y="102660"/>
                  <a:pt x="92725" y="102660"/>
                </a:cubicBezTo>
                <a:close/>
                <a:moveTo>
                  <a:pt x="80099" y="125841"/>
                </a:moveTo>
                <a:lnTo>
                  <a:pt x="105350" y="125841"/>
                </a:lnTo>
                <a:cubicBezTo>
                  <a:pt x="109366" y="125841"/>
                  <a:pt x="112595" y="129070"/>
                  <a:pt x="112595" y="133085"/>
                </a:cubicBezTo>
                <a:cubicBezTo>
                  <a:pt x="112595" y="134824"/>
                  <a:pt x="111974" y="136479"/>
                  <a:pt x="110856" y="137804"/>
                </a:cubicBezTo>
                <a:lnTo>
                  <a:pt x="99514" y="151051"/>
                </a:lnTo>
                <a:lnTo>
                  <a:pt x="112346" y="198696"/>
                </a:lnTo>
                <a:lnTo>
                  <a:pt x="112595" y="198696"/>
                </a:lnTo>
                <a:lnTo>
                  <a:pt x="126917" y="141364"/>
                </a:lnTo>
                <a:cubicBezTo>
                  <a:pt x="127828" y="137763"/>
                  <a:pt x="131512" y="135569"/>
                  <a:pt x="134989" y="136893"/>
                </a:cubicBezTo>
                <a:cubicBezTo>
                  <a:pt x="160613" y="146663"/>
                  <a:pt x="178827" y="171500"/>
                  <a:pt x="178827" y="200559"/>
                </a:cubicBezTo>
                <a:cubicBezTo>
                  <a:pt x="178827" y="206810"/>
                  <a:pt x="173735" y="211901"/>
                  <a:pt x="167484" y="211901"/>
                </a:cubicBezTo>
                <a:lnTo>
                  <a:pt x="17965" y="211943"/>
                </a:lnTo>
                <a:cubicBezTo>
                  <a:pt x="11715" y="211943"/>
                  <a:pt x="6623" y="206851"/>
                  <a:pt x="6623" y="200600"/>
                </a:cubicBezTo>
                <a:cubicBezTo>
                  <a:pt x="6623" y="171541"/>
                  <a:pt x="24837" y="146704"/>
                  <a:pt x="50461" y="136935"/>
                </a:cubicBezTo>
                <a:cubicBezTo>
                  <a:pt x="53938" y="135610"/>
                  <a:pt x="57622" y="137804"/>
                  <a:pt x="58533" y="141405"/>
                </a:cubicBezTo>
                <a:lnTo>
                  <a:pt x="72855" y="198738"/>
                </a:lnTo>
                <a:lnTo>
                  <a:pt x="73104" y="198738"/>
                </a:lnTo>
                <a:lnTo>
                  <a:pt x="85936" y="151092"/>
                </a:lnTo>
                <a:lnTo>
                  <a:pt x="74594" y="137846"/>
                </a:lnTo>
                <a:cubicBezTo>
                  <a:pt x="73476" y="136521"/>
                  <a:pt x="72855" y="134865"/>
                  <a:pt x="72855" y="133126"/>
                </a:cubicBezTo>
                <a:cubicBezTo>
                  <a:pt x="72855" y="129111"/>
                  <a:pt x="76084" y="125882"/>
                  <a:pt x="80099" y="125882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2" name="Text 20"/>
          <p:cNvSpPr/>
          <p:nvPr/>
        </p:nvSpPr>
        <p:spPr>
          <a:xfrm>
            <a:off x="1483598" y="4340581"/>
            <a:ext cx="1324641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Руководитель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83598" y="4637301"/>
            <a:ext cx="1314044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Согласующий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8965" y="5061186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13246" y="15896"/>
                </a:moveTo>
                <a:cubicBezTo>
                  <a:pt x="8842" y="15896"/>
                  <a:pt x="5299" y="19439"/>
                  <a:pt x="5299" y="23844"/>
                </a:cubicBezTo>
                <a:lnTo>
                  <a:pt x="5299" y="39739"/>
                </a:lnTo>
                <a:cubicBezTo>
                  <a:pt x="5299" y="44144"/>
                  <a:pt x="8842" y="47687"/>
                  <a:pt x="13246" y="47687"/>
                </a:cubicBezTo>
                <a:lnTo>
                  <a:pt x="29142" y="47687"/>
                </a:lnTo>
                <a:cubicBezTo>
                  <a:pt x="33547" y="47687"/>
                  <a:pt x="37090" y="44144"/>
                  <a:pt x="37090" y="39739"/>
                </a:cubicBezTo>
                <a:lnTo>
                  <a:pt x="37090" y="23844"/>
                </a:lnTo>
                <a:cubicBezTo>
                  <a:pt x="37090" y="19439"/>
                  <a:pt x="33547" y="15896"/>
                  <a:pt x="29142" y="15896"/>
                </a:cubicBezTo>
                <a:lnTo>
                  <a:pt x="13246" y="15896"/>
                </a:lnTo>
                <a:close/>
                <a:moveTo>
                  <a:pt x="63583" y="21194"/>
                </a:moveTo>
                <a:cubicBezTo>
                  <a:pt x="57721" y="21194"/>
                  <a:pt x="52986" y="25930"/>
                  <a:pt x="52986" y="31791"/>
                </a:cubicBezTo>
                <a:cubicBezTo>
                  <a:pt x="52986" y="37653"/>
                  <a:pt x="57721" y="42389"/>
                  <a:pt x="63583" y="42389"/>
                </a:cubicBezTo>
                <a:lnTo>
                  <a:pt x="158957" y="42389"/>
                </a:lnTo>
                <a:cubicBezTo>
                  <a:pt x="164819" y="42389"/>
                  <a:pt x="169554" y="37653"/>
                  <a:pt x="169554" y="31791"/>
                </a:cubicBezTo>
                <a:cubicBezTo>
                  <a:pt x="169554" y="25930"/>
                  <a:pt x="164819" y="21194"/>
                  <a:pt x="158957" y="21194"/>
                </a:cubicBezTo>
                <a:lnTo>
                  <a:pt x="63583" y="21194"/>
                </a:lnTo>
                <a:close/>
                <a:moveTo>
                  <a:pt x="63583" y="74180"/>
                </a:moveTo>
                <a:cubicBezTo>
                  <a:pt x="57721" y="74180"/>
                  <a:pt x="52986" y="78916"/>
                  <a:pt x="52986" y="84777"/>
                </a:cubicBezTo>
                <a:cubicBezTo>
                  <a:pt x="52986" y="90639"/>
                  <a:pt x="57721" y="95374"/>
                  <a:pt x="63583" y="95374"/>
                </a:cubicBezTo>
                <a:lnTo>
                  <a:pt x="158957" y="95374"/>
                </a:lnTo>
                <a:cubicBezTo>
                  <a:pt x="164819" y="95374"/>
                  <a:pt x="169554" y="90639"/>
                  <a:pt x="169554" y="84777"/>
                </a:cubicBezTo>
                <a:cubicBezTo>
                  <a:pt x="169554" y="78916"/>
                  <a:pt x="164819" y="74180"/>
                  <a:pt x="158957" y="74180"/>
                </a:cubicBezTo>
                <a:lnTo>
                  <a:pt x="63583" y="74180"/>
                </a:lnTo>
                <a:close/>
                <a:moveTo>
                  <a:pt x="63583" y="127166"/>
                </a:moveTo>
                <a:cubicBezTo>
                  <a:pt x="57721" y="127166"/>
                  <a:pt x="52986" y="131901"/>
                  <a:pt x="52986" y="137763"/>
                </a:cubicBezTo>
                <a:cubicBezTo>
                  <a:pt x="52986" y="143624"/>
                  <a:pt x="57721" y="148360"/>
                  <a:pt x="63583" y="148360"/>
                </a:cubicBezTo>
                <a:lnTo>
                  <a:pt x="158957" y="148360"/>
                </a:lnTo>
                <a:cubicBezTo>
                  <a:pt x="164819" y="148360"/>
                  <a:pt x="169554" y="143624"/>
                  <a:pt x="169554" y="137763"/>
                </a:cubicBezTo>
                <a:cubicBezTo>
                  <a:pt x="169554" y="131901"/>
                  <a:pt x="164819" y="127166"/>
                  <a:pt x="158957" y="127166"/>
                </a:cubicBezTo>
                <a:lnTo>
                  <a:pt x="63583" y="127166"/>
                </a:lnTo>
                <a:close/>
                <a:moveTo>
                  <a:pt x="5299" y="76829"/>
                </a:moveTo>
                <a:lnTo>
                  <a:pt x="5299" y="92725"/>
                </a:lnTo>
                <a:cubicBezTo>
                  <a:pt x="5299" y="97129"/>
                  <a:pt x="8842" y="100673"/>
                  <a:pt x="13246" y="100673"/>
                </a:cubicBezTo>
                <a:lnTo>
                  <a:pt x="29142" y="100673"/>
                </a:lnTo>
                <a:cubicBezTo>
                  <a:pt x="33547" y="100673"/>
                  <a:pt x="37090" y="97129"/>
                  <a:pt x="37090" y="92725"/>
                </a:cubicBezTo>
                <a:lnTo>
                  <a:pt x="37090" y="76829"/>
                </a:lnTo>
                <a:cubicBezTo>
                  <a:pt x="37090" y="72425"/>
                  <a:pt x="33547" y="68881"/>
                  <a:pt x="29142" y="68881"/>
                </a:cubicBezTo>
                <a:lnTo>
                  <a:pt x="13246" y="68881"/>
                </a:lnTo>
                <a:cubicBezTo>
                  <a:pt x="8842" y="68881"/>
                  <a:pt x="5299" y="72425"/>
                  <a:pt x="5299" y="76829"/>
                </a:cubicBezTo>
                <a:close/>
                <a:moveTo>
                  <a:pt x="13246" y="121867"/>
                </a:moveTo>
                <a:cubicBezTo>
                  <a:pt x="8842" y="121867"/>
                  <a:pt x="5299" y="125410"/>
                  <a:pt x="5299" y="129815"/>
                </a:cubicBezTo>
                <a:lnTo>
                  <a:pt x="5299" y="145711"/>
                </a:lnTo>
                <a:cubicBezTo>
                  <a:pt x="5299" y="150115"/>
                  <a:pt x="8842" y="153658"/>
                  <a:pt x="13246" y="153658"/>
                </a:cubicBezTo>
                <a:lnTo>
                  <a:pt x="29142" y="153658"/>
                </a:lnTo>
                <a:cubicBezTo>
                  <a:pt x="33547" y="153658"/>
                  <a:pt x="37090" y="150115"/>
                  <a:pt x="37090" y="145711"/>
                </a:cubicBezTo>
                <a:lnTo>
                  <a:pt x="37090" y="129815"/>
                </a:lnTo>
                <a:cubicBezTo>
                  <a:pt x="37090" y="125410"/>
                  <a:pt x="33547" y="121867"/>
                  <a:pt x="29142" y="121867"/>
                </a:cubicBezTo>
                <a:lnTo>
                  <a:pt x="13246" y="121867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1144490" y="5018797"/>
            <a:ext cx="2490326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Просмотр поступивших заявок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965" y="5357906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84777" y="169554"/>
                </a:moveTo>
                <a:cubicBezTo>
                  <a:pt x="131567" y="169554"/>
                  <a:pt x="169554" y="131567"/>
                  <a:pt x="169554" y="84777"/>
                </a:cubicBezTo>
                <a:cubicBezTo>
                  <a:pt x="169554" y="37987"/>
                  <a:pt x="131567" y="0"/>
                  <a:pt x="84777" y="0"/>
                </a:cubicBezTo>
                <a:cubicBezTo>
                  <a:pt x="37987" y="0"/>
                  <a:pt x="0" y="37987"/>
                  <a:pt x="0" y="84777"/>
                </a:cubicBezTo>
                <a:cubicBezTo>
                  <a:pt x="0" y="131567"/>
                  <a:pt x="37987" y="169554"/>
                  <a:pt x="84777" y="169554"/>
                </a:cubicBezTo>
                <a:close/>
                <a:moveTo>
                  <a:pt x="112727" y="70438"/>
                </a:moveTo>
                <a:lnTo>
                  <a:pt x="86234" y="112826"/>
                </a:lnTo>
                <a:cubicBezTo>
                  <a:pt x="84843" y="115045"/>
                  <a:pt x="82459" y="116436"/>
                  <a:pt x="79843" y="116568"/>
                </a:cubicBezTo>
                <a:cubicBezTo>
                  <a:pt x="77227" y="116701"/>
                  <a:pt x="74710" y="115509"/>
                  <a:pt x="73153" y="113389"/>
                </a:cubicBezTo>
                <a:lnTo>
                  <a:pt x="57258" y="92195"/>
                </a:lnTo>
                <a:cubicBezTo>
                  <a:pt x="54608" y="88685"/>
                  <a:pt x="55337" y="83717"/>
                  <a:pt x="58847" y="81068"/>
                </a:cubicBezTo>
                <a:cubicBezTo>
                  <a:pt x="62357" y="78419"/>
                  <a:pt x="67325" y="79147"/>
                  <a:pt x="69974" y="82658"/>
                </a:cubicBezTo>
                <a:lnTo>
                  <a:pt x="78916" y="94579"/>
                </a:lnTo>
                <a:lnTo>
                  <a:pt x="99249" y="62026"/>
                </a:lnTo>
                <a:cubicBezTo>
                  <a:pt x="101567" y="58317"/>
                  <a:pt x="106468" y="57158"/>
                  <a:pt x="110210" y="59510"/>
                </a:cubicBezTo>
                <a:cubicBezTo>
                  <a:pt x="113952" y="61861"/>
                  <a:pt x="115078" y="66729"/>
                  <a:pt x="112727" y="70471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4490" y="5315517"/>
            <a:ext cx="2161815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Согласование документов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8965" y="5654625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84777" y="169554"/>
                </a:moveTo>
                <a:cubicBezTo>
                  <a:pt x="131567" y="169554"/>
                  <a:pt x="169554" y="131567"/>
                  <a:pt x="169554" y="84777"/>
                </a:cubicBezTo>
                <a:cubicBezTo>
                  <a:pt x="169554" y="37987"/>
                  <a:pt x="131567" y="0"/>
                  <a:pt x="84777" y="0"/>
                </a:cubicBezTo>
                <a:cubicBezTo>
                  <a:pt x="37987" y="0"/>
                  <a:pt x="0" y="37987"/>
                  <a:pt x="0" y="84777"/>
                </a:cubicBezTo>
                <a:cubicBezTo>
                  <a:pt x="0" y="131567"/>
                  <a:pt x="37987" y="169554"/>
                  <a:pt x="84777" y="169554"/>
                </a:cubicBezTo>
                <a:close/>
                <a:moveTo>
                  <a:pt x="55304" y="55304"/>
                </a:moveTo>
                <a:cubicBezTo>
                  <a:pt x="58417" y="52191"/>
                  <a:pt x="63450" y="52191"/>
                  <a:pt x="66530" y="55304"/>
                </a:cubicBezTo>
                <a:lnTo>
                  <a:pt x="84744" y="73518"/>
                </a:lnTo>
                <a:lnTo>
                  <a:pt x="102958" y="55304"/>
                </a:lnTo>
                <a:cubicBezTo>
                  <a:pt x="106071" y="52191"/>
                  <a:pt x="111104" y="52191"/>
                  <a:pt x="114184" y="55304"/>
                </a:cubicBezTo>
                <a:cubicBezTo>
                  <a:pt x="117264" y="58417"/>
                  <a:pt x="117297" y="63450"/>
                  <a:pt x="114184" y="66530"/>
                </a:cubicBezTo>
                <a:lnTo>
                  <a:pt x="95970" y="84744"/>
                </a:lnTo>
                <a:lnTo>
                  <a:pt x="114184" y="102958"/>
                </a:lnTo>
                <a:cubicBezTo>
                  <a:pt x="117297" y="106071"/>
                  <a:pt x="117297" y="111104"/>
                  <a:pt x="114184" y="114184"/>
                </a:cubicBezTo>
                <a:cubicBezTo>
                  <a:pt x="111071" y="117264"/>
                  <a:pt x="106038" y="117297"/>
                  <a:pt x="102958" y="114184"/>
                </a:cubicBezTo>
                <a:lnTo>
                  <a:pt x="84744" y="95970"/>
                </a:lnTo>
                <a:lnTo>
                  <a:pt x="66530" y="114184"/>
                </a:lnTo>
                <a:cubicBezTo>
                  <a:pt x="63417" y="117297"/>
                  <a:pt x="58384" y="117297"/>
                  <a:pt x="55304" y="114184"/>
                </a:cubicBezTo>
                <a:cubicBezTo>
                  <a:pt x="52224" y="111071"/>
                  <a:pt x="52191" y="106038"/>
                  <a:pt x="55304" y="102958"/>
                </a:cubicBezTo>
                <a:lnTo>
                  <a:pt x="73518" y="84744"/>
                </a:lnTo>
                <a:lnTo>
                  <a:pt x="55304" y="66530"/>
                </a:lnTo>
                <a:cubicBezTo>
                  <a:pt x="52191" y="63417"/>
                  <a:pt x="52191" y="58384"/>
                  <a:pt x="55304" y="55304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9" name="Text 27"/>
          <p:cNvSpPr/>
          <p:nvPr/>
        </p:nvSpPr>
        <p:spPr>
          <a:xfrm>
            <a:off x="1144490" y="5612237"/>
            <a:ext cx="2363160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Отклонение с комментарием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8216" y="6163288"/>
            <a:ext cx="8700245" cy="1865095"/>
          </a:xfrm>
          <a:custGeom>
            <a:avLst/>
            <a:gdLst/>
            <a:ahLst/>
            <a:cxnLst/>
            <a:rect l="l" t="t" r="r" b="b"/>
            <a:pathLst>
              <a:path w="8700245" h="1865095">
                <a:moveTo>
                  <a:pt x="42394" y="0"/>
                </a:moveTo>
                <a:lnTo>
                  <a:pt x="8657851" y="0"/>
                </a:lnTo>
                <a:cubicBezTo>
                  <a:pt x="8681265" y="0"/>
                  <a:pt x="8700245" y="18980"/>
                  <a:pt x="8700245" y="42394"/>
                </a:cubicBezTo>
                <a:lnTo>
                  <a:pt x="8700245" y="1822702"/>
                </a:lnTo>
                <a:cubicBezTo>
                  <a:pt x="8700245" y="1846115"/>
                  <a:pt x="8681265" y="1865095"/>
                  <a:pt x="8657851" y="1865095"/>
                </a:cubicBezTo>
                <a:lnTo>
                  <a:pt x="42394" y="1865095"/>
                </a:lnTo>
                <a:cubicBezTo>
                  <a:pt x="18980" y="1865095"/>
                  <a:pt x="0" y="1846115"/>
                  <a:pt x="0" y="1822702"/>
                </a:cubicBezTo>
                <a:lnTo>
                  <a:pt x="0" y="42394"/>
                </a:lnTo>
                <a:cubicBezTo>
                  <a:pt x="0" y="18980"/>
                  <a:pt x="18980" y="0"/>
                  <a:pt x="4239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7771" y="6354036"/>
            <a:ext cx="508662" cy="508662"/>
          </a:xfrm>
          <a:custGeom>
            <a:avLst/>
            <a:gdLst/>
            <a:ahLst/>
            <a:cxnLst/>
            <a:rect l="l" t="t" r="r" b="b"/>
            <a:pathLst>
              <a:path w="508662" h="508662">
                <a:moveTo>
                  <a:pt x="254331" y="0"/>
                </a:moveTo>
                <a:lnTo>
                  <a:pt x="254331" y="0"/>
                </a:lnTo>
                <a:cubicBezTo>
                  <a:pt x="394700" y="0"/>
                  <a:pt x="508662" y="113962"/>
                  <a:pt x="508662" y="254331"/>
                </a:cubicBezTo>
                <a:lnTo>
                  <a:pt x="508662" y="254331"/>
                </a:lnTo>
                <a:cubicBezTo>
                  <a:pt x="508662" y="394700"/>
                  <a:pt x="394700" y="508662"/>
                  <a:pt x="254331" y="508662"/>
                </a:cubicBezTo>
                <a:lnTo>
                  <a:pt x="254331" y="508662"/>
                </a:lnTo>
                <a:cubicBezTo>
                  <a:pt x="113962" y="508662"/>
                  <a:pt x="0" y="394700"/>
                  <a:pt x="0" y="254331"/>
                </a:cubicBezTo>
                <a:lnTo>
                  <a:pt x="0" y="254331"/>
                </a:lnTo>
                <a:cubicBezTo>
                  <a:pt x="0" y="113962"/>
                  <a:pt x="113962" y="0"/>
                  <a:pt x="254331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82884" y="6502396"/>
            <a:ext cx="238435" cy="211943"/>
          </a:xfrm>
          <a:custGeom>
            <a:avLst/>
            <a:gdLst/>
            <a:ahLst/>
            <a:cxnLst/>
            <a:rect l="l" t="t" r="r" b="b"/>
            <a:pathLst>
              <a:path w="238435" h="211943">
                <a:moveTo>
                  <a:pt x="92725" y="102660"/>
                </a:moveTo>
                <a:cubicBezTo>
                  <a:pt x="120141" y="102660"/>
                  <a:pt x="142399" y="80402"/>
                  <a:pt x="142399" y="52986"/>
                </a:cubicBezTo>
                <a:cubicBezTo>
                  <a:pt x="142399" y="25570"/>
                  <a:pt x="120141" y="3312"/>
                  <a:pt x="92725" y="3312"/>
                </a:cubicBezTo>
                <a:cubicBezTo>
                  <a:pt x="65309" y="3312"/>
                  <a:pt x="43051" y="25570"/>
                  <a:pt x="43051" y="52986"/>
                </a:cubicBezTo>
                <a:cubicBezTo>
                  <a:pt x="43051" y="80402"/>
                  <a:pt x="65309" y="102660"/>
                  <a:pt x="92725" y="102660"/>
                </a:cubicBezTo>
                <a:close/>
                <a:moveTo>
                  <a:pt x="80431" y="125841"/>
                </a:moveTo>
                <a:cubicBezTo>
                  <a:pt x="39656" y="125841"/>
                  <a:pt x="6623" y="158874"/>
                  <a:pt x="6623" y="199648"/>
                </a:cubicBezTo>
                <a:cubicBezTo>
                  <a:pt x="6623" y="206437"/>
                  <a:pt x="12129" y="211943"/>
                  <a:pt x="18918" y="211943"/>
                </a:cubicBezTo>
                <a:lnTo>
                  <a:pt x="123026" y="211943"/>
                </a:lnTo>
                <a:cubicBezTo>
                  <a:pt x="108041" y="194308"/>
                  <a:pt x="99348" y="171582"/>
                  <a:pt x="99348" y="147532"/>
                </a:cubicBezTo>
                <a:lnTo>
                  <a:pt x="99348" y="134658"/>
                </a:lnTo>
                <a:cubicBezTo>
                  <a:pt x="99348" y="131636"/>
                  <a:pt x="99762" y="128656"/>
                  <a:pt x="100549" y="125841"/>
                </a:cubicBezTo>
                <a:lnTo>
                  <a:pt x="80431" y="125841"/>
                </a:lnTo>
                <a:close/>
                <a:moveTo>
                  <a:pt x="184332" y="202215"/>
                </a:moveTo>
                <a:lnTo>
                  <a:pt x="178827" y="204823"/>
                </a:lnTo>
                <a:lnTo>
                  <a:pt x="178827" y="126959"/>
                </a:lnTo>
                <a:lnTo>
                  <a:pt x="218566" y="140205"/>
                </a:lnTo>
                <a:lnTo>
                  <a:pt x="218566" y="148318"/>
                </a:lnTo>
                <a:cubicBezTo>
                  <a:pt x="218566" y="171417"/>
                  <a:pt x="205237" y="192404"/>
                  <a:pt x="184332" y="202256"/>
                </a:cubicBezTo>
                <a:close/>
                <a:moveTo>
                  <a:pt x="174646" y="107420"/>
                </a:moveTo>
                <a:lnTo>
                  <a:pt x="128283" y="122860"/>
                </a:lnTo>
                <a:cubicBezTo>
                  <a:pt x="122860" y="124682"/>
                  <a:pt x="119218" y="129732"/>
                  <a:pt x="119218" y="135445"/>
                </a:cubicBezTo>
                <a:lnTo>
                  <a:pt x="119218" y="148318"/>
                </a:lnTo>
                <a:cubicBezTo>
                  <a:pt x="119218" y="179116"/>
                  <a:pt x="137018" y="207141"/>
                  <a:pt x="164835" y="220222"/>
                </a:cubicBezTo>
                <a:lnTo>
                  <a:pt x="172493" y="223823"/>
                </a:lnTo>
                <a:cubicBezTo>
                  <a:pt x="174480" y="224734"/>
                  <a:pt x="176633" y="225230"/>
                  <a:pt x="178785" y="225230"/>
                </a:cubicBezTo>
                <a:cubicBezTo>
                  <a:pt x="180938" y="225230"/>
                  <a:pt x="183132" y="224734"/>
                  <a:pt x="185077" y="223823"/>
                </a:cubicBezTo>
                <a:lnTo>
                  <a:pt x="192735" y="220222"/>
                </a:lnTo>
                <a:cubicBezTo>
                  <a:pt x="220636" y="207099"/>
                  <a:pt x="238435" y="179075"/>
                  <a:pt x="238435" y="148277"/>
                </a:cubicBezTo>
                <a:lnTo>
                  <a:pt x="238435" y="135403"/>
                </a:lnTo>
                <a:cubicBezTo>
                  <a:pt x="238435" y="129691"/>
                  <a:pt x="234793" y="124640"/>
                  <a:pt x="229370" y="122819"/>
                </a:cubicBezTo>
                <a:lnTo>
                  <a:pt x="183007" y="107379"/>
                </a:lnTo>
                <a:cubicBezTo>
                  <a:pt x="180275" y="106468"/>
                  <a:pt x="177336" y="106468"/>
                  <a:pt x="174646" y="107379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3" name="Text 31"/>
          <p:cNvSpPr/>
          <p:nvPr/>
        </p:nvSpPr>
        <p:spPr>
          <a:xfrm>
            <a:off x="1483598" y="6332842"/>
            <a:ext cx="1515390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2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Администратор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83598" y="6629561"/>
            <a:ext cx="1504793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Техническая роль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7771" y="7053447"/>
            <a:ext cx="211943" cy="169554"/>
          </a:xfrm>
          <a:custGeom>
            <a:avLst/>
            <a:gdLst/>
            <a:ahLst/>
            <a:cxnLst/>
            <a:rect l="l" t="t" r="r" b="b"/>
            <a:pathLst>
              <a:path w="211943" h="169554">
                <a:moveTo>
                  <a:pt x="105971" y="74180"/>
                </a:moveTo>
                <a:cubicBezTo>
                  <a:pt x="124980" y="74180"/>
                  <a:pt x="140412" y="58748"/>
                  <a:pt x="140412" y="39739"/>
                </a:cubicBezTo>
                <a:cubicBezTo>
                  <a:pt x="140412" y="20731"/>
                  <a:pt x="124980" y="5299"/>
                  <a:pt x="105971" y="5299"/>
                </a:cubicBezTo>
                <a:cubicBezTo>
                  <a:pt x="86963" y="5299"/>
                  <a:pt x="71531" y="20731"/>
                  <a:pt x="71531" y="39739"/>
                </a:cubicBezTo>
                <a:cubicBezTo>
                  <a:pt x="71531" y="58748"/>
                  <a:pt x="86963" y="74180"/>
                  <a:pt x="105971" y="74180"/>
                </a:cubicBezTo>
                <a:close/>
                <a:moveTo>
                  <a:pt x="31791" y="76829"/>
                </a:moveTo>
                <a:cubicBezTo>
                  <a:pt x="44951" y="76829"/>
                  <a:pt x="55635" y="66145"/>
                  <a:pt x="55635" y="52986"/>
                </a:cubicBezTo>
                <a:cubicBezTo>
                  <a:pt x="55635" y="39826"/>
                  <a:pt x="44951" y="29142"/>
                  <a:pt x="31791" y="29142"/>
                </a:cubicBezTo>
                <a:cubicBezTo>
                  <a:pt x="18632" y="29142"/>
                  <a:pt x="7948" y="39826"/>
                  <a:pt x="7948" y="52986"/>
                </a:cubicBezTo>
                <a:cubicBezTo>
                  <a:pt x="7948" y="66145"/>
                  <a:pt x="18632" y="76829"/>
                  <a:pt x="31791" y="76829"/>
                </a:cubicBezTo>
                <a:close/>
                <a:moveTo>
                  <a:pt x="0" y="137763"/>
                </a:moveTo>
                <a:lnTo>
                  <a:pt x="0" y="148360"/>
                </a:lnTo>
                <a:cubicBezTo>
                  <a:pt x="0" y="154221"/>
                  <a:pt x="4736" y="158957"/>
                  <a:pt x="10597" y="158957"/>
                </a:cubicBezTo>
                <a:lnTo>
                  <a:pt x="39309" y="158957"/>
                </a:lnTo>
                <a:cubicBezTo>
                  <a:pt x="37885" y="155712"/>
                  <a:pt x="37090" y="152135"/>
                  <a:pt x="37090" y="148360"/>
                </a:cubicBezTo>
                <a:lnTo>
                  <a:pt x="37090" y="143061"/>
                </a:lnTo>
                <a:cubicBezTo>
                  <a:pt x="37090" y="125444"/>
                  <a:pt x="43713" y="109349"/>
                  <a:pt x="54608" y="97162"/>
                </a:cubicBezTo>
                <a:cubicBezTo>
                  <a:pt x="50734" y="96003"/>
                  <a:pt x="46627" y="95374"/>
                  <a:pt x="42389" y="95374"/>
                </a:cubicBezTo>
                <a:cubicBezTo>
                  <a:pt x="18975" y="95374"/>
                  <a:pt x="0" y="114350"/>
                  <a:pt x="0" y="137763"/>
                </a:cubicBezTo>
                <a:close/>
                <a:moveTo>
                  <a:pt x="203995" y="52986"/>
                </a:moveTo>
                <a:cubicBezTo>
                  <a:pt x="203995" y="39826"/>
                  <a:pt x="193311" y="29142"/>
                  <a:pt x="180151" y="29142"/>
                </a:cubicBezTo>
                <a:cubicBezTo>
                  <a:pt x="166992" y="29142"/>
                  <a:pt x="156308" y="39826"/>
                  <a:pt x="156308" y="52986"/>
                </a:cubicBezTo>
                <a:cubicBezTo>
                  <a:pt x="156308" y="66145"/>
                  <a:pt x="166992" y="76829"/>
                  <a:pt x="180151" y="76829"/>
                </a:cubicBezTo>
                <a:cubicBezTo>
                  <a:pt x="193311" y="76829"/>
                  <a:pt x="203995" y="66145"/>
                  <a:pt x="203995" y="52986"/>
                </a:cubicBezTo>
                <a:close/>
                <a:moveTo>
                  <a:pt x="52986" y="143061"/>
                </a:moveTo>
                <a:lnTo>
                  <a:pt x="52986" y="148360"/>
                </a:lnTo>
                <a:cubicBezTo>
                  <a:pt x="52986" y="154221"/>
                  <a:pt x="57721" y="158957"/>
                  <a:pt x="63583" y="158957"/>
                </a:cubicBezTo>
                <a:lnTo>
                  <a:pt x="115509" y="158957"/>
                </a:lnTo>
                <a:cubicBezTo>
                  <a:pt x="113157" y="151804"/>
                  <a:pt x="113422" y="144253"/>
                  <a:pt x="119052" y="137763"/>
                </a:cubicBezTo>
                <a:cubicBezTo>
                  <a:pt x="114416" y="132398"/>
                  <a:pt x="112263" y="124616"/>
                  <a:pt x="115277" y="116800"/>
                </a:cubicBezTo>
                <a:cubicBezTo>
                  <a:pt x="117463" y="111137"/>
                  <a:pt x="120542" y="105839"/>
                  <a:pt x="124351" y="101136"/>
                </a:cubicBezTo>
                <a:cubicBezTo>
                  <a:pt x="126139" y="98951"/>
                  <a:pt x="128192" y="97262"/>
                  <a:pt x="130411" y="96037"/>
                </a:cubicBezTo>
                <a:cubicBezTo>
                  <a:pt x="123092" y="92228"/>
                  <a:pt x="114780" y="90076"/>
                  <a:pt x="105971" y="90076"/>
                </a:cubicBezTo>
                <a:cubicBezTo>
                  <a:pt x="76697" y="90076"/>
                  <a:pt x="52986" y="113787"/>
                  <a:pt x="52986" y="143061"/>
                </a:cubicBezTo>
                <a:close/>
                <a:moveTo>
                  <a:pt x="206843" y="128457"/>
                </a:moveTo>
                <a:cubicBezTo>
                  <a:pt x="208929" y="127265"/>
                  <a:pt x="209989" y="124781"/>
                  <a:pt x="209095" y="122496"/>
                </a:cubicBezTo>
                <a:cubicBezTo>
                  <a:pt x="207505" y="118390"/>
                  <a:pt x="205286" y="114515"/>
                  <a:pt x="202505" y="111104"/>
                </a:cubicBezTo>
                <a:cubicBezTo>
                  <a:pt x="200981" y="109217"/>
                  <a:pt x="198299" y="108886"/>
                  <a:pt x="196213" y="110111"/>
                </a:cubicBezTo>
                <a:cubicBezTo>
                  <a:pt x="188993" y="114283"/>
                  <a:pt x="180118" y="109184"/>
                  <a:pt x="180118" y="100805"/>
                </a:cubicBezTo>
                <a:cubicBezTo>
                  <a:pt x="180118" y="98388"/>
                  <a:pt x="178495" y="96235"/>
                  <a:pt x="176111" y="95871"/>
                </a:cubicBezTo>
                <a:cubicBezTo>
                  <a:pt x="171839" y="95209"/>
                  <a:pt x="167236" y="95209"/>
                  <a:pt x="162964" y="95871"/>
                </a:cubicBezTo>
                <a:cubicBezTo>
                  <a:pt x="160580" y="96235"/>
                  <a:pt x="158957" y="98388"/>
                  <a:pt x="158957" y="100805"/>
                </a:cubicBezTo>
                <a:cubicBezTo>
                  <a:pt x="158957" y="109150"/>
                  <a:pt x="150082" y="114283"/>
                  <a:pt x="142863" y="110111"/>
                </a:cubicBezTo>
                <a:cubicBezTo>
                  <a:pt x="140776" y="108919"/>
                  <a:pt x="138094" y="109250"/>
                  <a:pt x="136571" y="111104"/>
                </a:cubicBezTo>
                <a:cubicBezTo>
                  <a:pt x="133789" y="114515"/>
                  <a:pt x="131570" y="118390"/>
                  <a:pt x="129980" y="122496"/>
                </a:cubicBezTo>
                <a:cubicBezTo>
                  <a:pt x="129119" y="124748"/>
                  <a:pt x="130146" y="127232"/>
                  <a:pt x="132232" y="128424"/>
                </a:cubicBezTo>
                <a:cubicBezTo>
                  <a:pt x="139485" y="132597"/>
                  <a:pt x="139485" y="142829"/>
                  <a:pt x="132232" y="147035"/>
                </a:cubicBezTo>
                <a:cubicBezTo>
                  <a:pt x="130146" y="148227"/>
                  <a:pt x="129086" y="150711"/>
                  <a:pt x="129980" y="152963"/>
                </a:cubicBezTo>
                <a:cubicBezTo>
                  <a:pt x="131570" y="157069"/>
                  <a:pt x="133789" y="160944"/>
                  <a:pt x="136571" y="164355"/>
                </a:cubicBezTo>
                <a:cubicBezTo>
                  <a:pt x="138094" y="166243"/>
                  <a:pt x="140776" y="166574"/>
                  <a:pt x="142863" y="165348"/>
                </a:cubicBezTo>
                <a:cubicBezTo>
                  <a:pt x="150082" y="161176"/>
                  <a:pt x="158957" y="166309"/>
                  <a:pt x="158957" y="174654"/>
                </a:cubicBezTo>
                <a:cubicBezTo>
                  <a:pt x="158957" y="177071"/>
                  <a:pt x="160580" y="179224"/>
                  <a:pt x="162964" y="179588"/>
                </a:cubicBezTo>
                <a:cubicBezTo>
                  <a:pt x="167236" y="180251"/>
                  <a:pt x="171839" y="180251"/>
                  <a:pt x="176111" y="179588"/>
                </a:cubicBezTo>
                <a:cubicBezTo>
                  <a:pt x="178495" y="179224"/>
                  <a:pt x="180118" y="177071"/>
                  <a:pt x="180118" y="174654"/>
                </a:cubicBezTo>
                <a:cubicBezTo>
                  <a:pt x="180118" y="166309"/>
                  <a:pt x="188993" y="161176"/>
                  <a:pt x="196213" y="165348"/>
                </a:cubicBezTo>
                <a:cubicBezTo>
                  <a:pt x="198299" y="166541"/>
                  <a:pt x="200981" y="166209"/>
                  <a:pt x="202505" y="164355"/>
                </a:cubicBezTo>
                <a:cubicBezTo>
                  <a:pt x="205286" y="160944"/>
                  <a:pt x="207505" y="157069"/>
                  <a:pt x="209095" y="152963"/>
                </a:cubicBezTo>
                <a:cubicBezTo>
                  <a:pt x="209956" y="150711"/>
                  <a:pt x="208929" y="148227"/>
                  <a:pt x="206843" y="147035"/>
                </a:cubicBezTo>
                <a:cubicBezTo>
                  <a:pt x="199590" y="142863"/>
                  <a:pt x="199590" y="132630"/>
                  <a:pt x="206843" y="128424"/>
                </a:cubicBezTo>
                <a:close/>
                <a:moveTo>
                  <a:pt x="156308" y="137763"/>
                </a:moveTo>
                <a:cubicBezTo>
                  <a:pt x="156308" y="130452"/>
                  <a:pt x="162243" y="124516"/>
                  <a:pt x="169554" y="124516"/>
                </a:cubicBezTo>
                <a:cubicBezTo>
                  <a:pt x="176865" y="124516"/>
                  <a:pt x="182801" y="130452"/>
                  <a:pt x="182801" y="137763"/>
                </a:cubicBezTo>
                <a:cubicBezTo>
                  <a:pt x="182801" y="145074"/>
                  <a:pt x="176865" y="151009"/>
                  <a:pt x="169554" y="151009"/>
                </a:cubicBezTo>
                <a:cubicBezTo>
                  <a:pt x="162243" y="151009"/>
                  <a:pt x="156308" y="145074"/>
                  <a:pt x="156308" y="137763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6" name="Text 34"/>
          <p:cNvSpPr/>
          <p:nvPr/>
        </p:nvSpPr>
        <p:spPr>
          <a:xfrm>
            <a:off x="1144490" y="7011058"/>
            <a:ext cx="2638686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учётными записями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8965" y="7350166"/>
            <a:ext cx="169554" cy="169554"/>
          </a:xfrm>
          <a:custGeom>
            <a:avLst/>
            <a:gdLst/>
            <a:ahLst/>
            <a:cxnLst/>
            <a:rect l="l" t="t" r="r" b="b"/>
            <a:pathLst>
              <a:path w="169554" h="169554">
                <a:moveTo>
                  <a:pt x="63583" y="21194"/>
                </a:moveTo>
                <a:cubicBezTo>
                  <a:pt x="63583" y="15333"/>
                  <a:pt x="68318" y="10597"/>
                  <a:pt x="74180" y="10597"/>
                </a:cubicBezTo>
                <a:lnTo>
                  <a:pt x="95374" y="10597"/>
                </a:lnTo>
                <a:cubicBezTo>
                  <a:pt x="101236" y="10597"/>
                  <a:pt x="105971" y="15333"/>
                  <a:pt x="105971" y="21194"/>
                </a:cubicBezTo>
                <a:lnTo>
                  <a:pt x="105971" y="42389"/>
                </a:lnTo>
                <a:cubicBezTo>
                  <a:pt x="105971" y="48250"/>
                  <a:pt x="101236" y="52986"/>
                  <a:pt x="95374" y="52986"/>
                </a:cubicBezTo>
                <a:lnTo>
                  <a:pt x="92725" y="52986"/>
                </a:lnTo>
                <a:lnTo>
                  <a:pt x="92725" y="74180"/>
                </a:lnTo>
                <a:lnTo>
                  <a:pt x="132464" y="74180"/>
                </a:lnTo>
                <a:cubicBezTo>
                  <a:pt x="145644" y="74180"/>
                  <a:pt x="156308" y="84843"/>
                  <a:pt x="156308" y="98023"/>
                </a:cubicBezTo>
                <a:lnTo>
                  <a:pt x="156308" y="116568"/>
                </a:lnTo>
                <a:lnTo>
                  <a:pt x="158957" y="116568"/>
                </a:lnTo>
                <a:cubicBezTo>
                  <a:pt x="164819" y="116568"/>
                  <a:pt x="169554" y="121304"/>
                  <a:pt x="169554" y="127166"/>
                </a:cubicBezTo>
                <a:lnTo>
                  <a:pt x="169554" y="148360"/>
                </a:lnTo>
                <a:cubicBezTo>
                  <a:pt x="169554" y="154221"/>
                  <a:pt x="164819" y="158957"/>
                  <a:pt x="158957" y="158957"/>
                </a:cubicBezTo>
                <a:lnTo>
                  <a:pt x="137763" y="158957"/>
                </a:lnTo>
                <a:cubicBezTo>
                  <a:pt x="131901" y="158957"/>
                  <a:pt x="127166" y="154221"/>
                  <a:pt x="127166" y="148360"/>
                </a:cubicBezTo>
                <a:lnTo>
                  <a:pt x="127166" y="127166"/>
                </a:lnTo>
                <a:cubicBezTo>
                  <a:pt x="127166" y="121304"/>
                  <a:pt x="131901" y="116568"/>
                  <a:pt x="137763" y="116568"/>
                </a:cubicBezTo>
                <a:lnTo>
                  <a:pt x="140412" y="116568"/>
                </a:lnTo>
                <a:lnTo>
                  <a:pt x="140412" y="98023"/>
                </a:lnTo>
                <a:cubicBezTo>
                  <a:pt x="140412" y="93619"/>
                  <a:pt x="136869" y="90076"/>
                  <a:pt x="132464" y="90076"/>
                </a:cubicBezTo>
                <a:lnTo>
                  <a:pt x="92725" y="90076"/>
                </a:lnTo>
                <a:lnTo>
                  <a:pt x="92725" y="116568"/>
                </a:lnTo>
                <a:lnTo>
                  <a:pt x="95374" y="116568"/>
                </a:lnTo>
                <a:cubicBezTo>
                  <a:pt x="101236" y="116568"/>
                  <a:pt x="105971" y="121304"/>
                  <a:pt x="105971" y="127166"/>
                </a:cubicBezTo>
                <a:lnTo>
                  <a:pt x="105971" y="148360"/>
                </a:lnTo>
                <a:cubicBezTo>
                  <a:pt x="105971" y="154221"/>
                  <a:pt x="101236" y="158957"/>
                  <a:pt x="95374" y="158957"/>
                </a:cubicBezTo>
                <a:lnTo>
                  <a:pt x="74180" y="158957"/>
                </a:lnTo>
                <a:cubicBezTo>
                  <a:pt x="68318" y="158957"/>
                  <a:pt x="63583" y="154221"/>
                  <a:pt x="63583" y="148360"/>
                </a:cubicBezTo>
                <a:lnTo>
                  <a:pt x="63583" y="127166"/>
                </a:lnTo>
                <a:cubicBezTo>
                  <a:pt x="63583" y="121304"/>
                  <a:pt x="68318" y="116568"/>
                  <a:pt x="74180" y="116568"/>
                </a:cubicBezTo>
                <a:lnTo>
                  <a:pt x="76829" y="116568"/>
                </a:lnTo>
                <a:lnTo>
                  <a:pt x="76829" y="90076"/>
                </a:lnTo>
                <a:lnTo>
                  <a:pt x="37090" y="90076"/>
                </a:lnTo>
                <a:cubicBezTo>
                  <a:pt x="32686" y="90076"/>
                  <a:pt x="29142" y="93619"/>
                  <a:pt x="29142" y="98023"/>
                </a:cubicBezTo>
                <a:lnTo>
                  <a:pt x="29142" y="116568"/>
                </a:lnTo>
                <a:lnTo>
                  <a:pt x="31791" y="116568"/>
                </a:lnTo>
                <a:cubicBezTo>
                  <a:pt x="37653" y="116568"/>
                  <a:pt x="42389" y="121304"/>
                  <a:pt x="42389" y="127166"/>
                </a:cubicBezTo>
                <a:lnTo>
                  <a:pt x="42389" y="148360"/>
                </a:lnTo>
                <a:cubicBezTo>
                  <a:pt x="42389" y="154221"/>
                  <a:pt x="37653" y="158957"/>
                  <a:pt x="31791" y="158957"/>
                </a:cubicBezTo>
                <a:lnTo>
                  <a:pt x="10597" y="158957"/>
                </a:lnTo>
                <a:cubicBezTo>
                  <a:pt x="4736" y="158957"/>
                  <a:pt x="0" y="154221"/>
                  <a:pt x="0" y="148360"/>
                </a:cubicBezTo>
                <a:lnTo>
                  <a:pt x="0" y="127166"/>
                </a:lnTo>
                <a:cubicBezTo>
                  <a:pt x="0" y="121304"/>
                  <a:pt x="4736" y="116568"/>
                  <a:pt x="10597" y="116568"/>
                </a:cubicBezTo>
                <a:lnTo>
                  <a:pt x="13246" y="116568"/>
                </a:lnTo>
                <a:lnTo>
                  <a:pt x="13246" y="98023"/>
                </a:lnTo>
                <a:cubicBezTo>
                  <a:pt x="13246" y="84843"/>
                  <a:pt x="23910" y="74180"/>
                  <a:pt x="37090" y="74180"/>
                </a:cubicBezTo>
                <a:lnTo>
                  <a:pt x="76829" y="74180"/>
                </a:lnTo>
                <a:lnTo>
                  <a:pt x="76829" y="52986"/>
                </a:lnTo>
                <a:lnTo>
                  <a:pt x="74180" y="52986"/>
                </a:lnTo>
                <a:cubicBezTo>
                  <a:pt x="68318" y="52986"/>
                  <a:pt x="63583" y="48250"/>
                  <a:pt x="63583" y="42389"/>
                </a:cubicBezTo>
                <a:lnTo>
                  <a:pt x="63583" y="21194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8" name="Text 36"/>
          <p:cNvSpPr/>
          <p:nvPr/>
        </p:nvSpPr>
        <p:spPr>
          <a:xfrm>
            <a:off x="1144490" y="7307778"/>
            <a:ext cx="2585700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Ведение справочников отделов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8368" y="7646886"/>
            <a:ext cx="190748" cy="169554"/>
          </a:xfrm>
          <a:custGeom>
            <a:avLst/>
            <a:gdLst/>
            <a:ahLst/>
            <a:cxnLst/>
            <a:rect l="l" t="t" r="r" b="b"/>
            <a:pathLst>
              <a:path w="190748" h="169554">
                <a:moveTo>
                  <a:pt x="168693" y="32652"/>
                </a:moveTo>
                <a:cubicBezTo>
                  <a:pt x="171210" y="30136"/>
                  <a:pt x="175416" y="30765"/>
                  <a:pt x="176674" y="34076"/>
                </a:cubicBezTo>
                <a:cubicBezTo>
                  <a:pt x="178926" y="39938"/>
                  <a:pt x="180151" y="46329"/>
                  <a:pt x="180151" y="52986"/>
                </a:cubicBezTo>
                <a:cubicBezTo>
                  <a:pt x="180151" y="82260"/>
                  <a:pt x="156440" y="105971"/>
                  <a:pt x="127166" y="105971"/>
                </a:cubicBezTo>
                <a:cubicBezTo>
                  <a:pt x="121370" y="105971"/>
                  <a:pt x="115774" y="105044"/>
                  <a:pt x="110541" y="103322"/>
                </a:cubicBezTo>
                <a:lnTo>
                  <a:pt x="48647" y="165216"/>
                </a:lnTo>
                <a:cubicBezTo>
                  <a:pt x="39342" y="174522"/>
                  <a:pt x="24241" y="174522"/>
                  <a:pt x="14935" y="165216"/>
                </a:cubicBezTo>
                <a:cubicBezTo>
                  <a:pt x="5630" y="155910"/>
                  <a:pt x="5630" y="140809"/>
                  <a:pt x="14935" y="131504"/>
                </a:cubicBezTo>
                <a:lnTo>
                  <a:pt x="76829" y="69610"/>
                </a:lnTo>
                <a:cubicBezTo>
                  <a:pt x="75107" y="64378"/>
                  <a:pt x="74180" y="58814"/>
                  <a:pt x="74180" y="52986"/>
                </a:cubicBezTo>
                <a:cubicBezTo>
                  <a:pt x="74180" y="23711"/>
                  <a:pt x="97891" y="0"/>
                  <a:pt x="127166" y="0"/>
                </a:cubicBezTo>
                <a:cubicBezTo>
                  <a:pt x="133822" y="0"/>
                  <a:pt x="140213" y="1225"/>
                  <a:pt x="146075" y="3477"/>
                </a:cubicBezTo>
                <a:cubicBezTo>
                  <a:pt x="149386" y="4736"/>
                  <a:pt x="149983" y="8941"/>
                  <a:pt x="147499" y="11458"/>
                </a:cubicBezTo>
                <a:lnTo>
                  <a:pt x="118125" y="40832"/>
                </a:lnTo>
                <a:cubicBezTo>
                  <a:pt x="117131" y="41826"/>
                  <a:pt x="116568" y="43183"/>
                  <a:pt x="116568" y="44574"/>
                </a:cubicBezTo>
                <a:lnTo>
                  <a:pt x="116568" y="58284"/>
                </a:lnTo>
                <a:cubicBezTo>
                  <a:pt x="116568" y="61198"/>
                  <a:pt x="118953" y="63583"/>
                  <a:pt x="121867" y="63583"/>
                </a:cubicBezTo>
                <a:lnTo>
                  <a:pt x="135577" y="63583"/>
                </a:lnTo>
                <a:cubicBezTo>
                  <a:pt x="136968" y="63583"/>
                  <a:pt x="138326" y="63020"/>
                  <a:pt x="139319" y="62026"/>
                </a:cubicBezTo>
                <a:lnTo>
                  <a:pt x="168693" y="32652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0" name="Text 38"/>
          <p:cNvSpPr/>
          <p:nvPr/>
        </p:nvSpPr>
        <p:spPr>
          <a:xfrm>
            <a:off x="1144490" y="7604498"/>
            <a:ext cx="2553909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Поддержка работоспособности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801552" y="1487837"/>
            <a:ext cx="6027649" cy="5010324"/>
          </a:xfrm>
          <a:custGeom>
            <a:avLst/>
            <a:gdLst/>
            <a:ahLst/>
            <a:cxnLst/>
            <a:rect l="l" t="t" r="r" b="b"/>
            <a:pathLst>
              <a:path w="6027649" h="5010324">
                <a:moveTo>
                  <a:pt x="84775" y="0"/>
                </a:moveTo>
                <a:lnTo>
                  <a:pt x="5942874" y="0"/>
                </a:lnTo>
                <a:cubicBezTo>
                  <a:pt x="5989694" y="0"/>
                  <a:pt x="6027649" y="37955"/>
                  <a:pt x="6027649" y="84775"/>
                </a:cubicBezTo>
                <a:lnTo>
                  <a:pt x="6027649" y="4925549"/>
                </a:lnTo>
                <a:cubicBezTo>
                  <a:pt x="6027649" y="4972369"/>
                  <a:pt x="5989694" y="5010324"/>
                  <a:pt x="5942874" y="5010324"/>
                </a:cubicBezTo>
                <a:lnTo>
                  <a:pt x="84775" y="5010324"/>
                </a:lnTo>
                <a:cubicBezTo>
                  <a:pt x="37955" y="5010324"/>
                  <a:pt x="0" y="4972369"/>
                  <a:pt x="0" y="4925549"/>
                </a:cubicBezTo>
                <a:lnTo>
                  <a:pt x="0" y="84775"/>
                </a:lnTo>
                <a:cubicBezTo>
                  <a:pt x="0" y="37986"/>
                  <a:pt x="37986" y="0"/>
                  <a:pt x="84775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17734" y="1704017"/>
            <a:ext cx="5701257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прецеденты использования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26211" y="2127902"/>
            <a:ext cx="5582569" cy="762993"/>
          </a:xfrm>
          <a:custGeom>
            <a:avLst/>
            <a:gdLst/>
            <a:ahLst/>
            <a:cxnLst/>
            <a:rect l="l" t="t" r="r" b="b"/>
            <a:pathLst>
              <a:path w="5582569" h="762993">
                <a:moveTo>
                  <a:pt x="16955" y="0"/>
                </a:moveTo>
                <a:lnTo>
                  <a:pt x="5540177" y="0"/>
                </a:lnTo>
                <a:cubicBezTo>
                  <a:pt x="5563589" y="0"/>
                  <a:pt x="5582569" y="18980"/>
                  <a:pt x="5582569" y="42392"/>
                </a:cubicBezTo>
                <a:lnTo>
                  <a:pt x="5582569" y="720602"/>
                </a:lnTo>
                <a:cubicBezTo>
                  <a:pt x="5582569" y="744014"/>
                  <a:pt x="5563589" y="762993"/>
                  <a:pt x="5540177" y="762993"/>
                </a:cubicBez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026211" y="2127902"/>
            <a:ext cx="16955" cy="762993"/>
          </a:xfrm>
          <a:custGeom>
            <a:avLst/>
            <a:gdLst/>
            <a:ahLst/>
            <a:cxnLst/>
            <a:rect l="l" t="t" r="r" b="b"/>
            <a:pathLst>
              <a:path w="16955" h="762993">
                <a:moveTo>
                  <a:pt x="16955" y="0"/>
                </a:moveTo>
                <a:lnTo>
                  <a:pt x="16955" y="0"/>
                </a:lnTo>
                <a:lnTo>
                  <a:pt x="16955" y="762993"/>
                </a:ln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5" name="Text 43"/>
          <p:cNvSpPr/>
          <p:nvPr/>
        </p:nvSpPr>
        <p:spPr>
          <a:xfrm>
            <a:off x="10161854" y="2255068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Авторизация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161854" y="2509399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Доступ по логину и паролю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26211" y="2975673"/>
            <a:ext cx="5582569" cy="762993"/>
          </a:xfrm>
          <a:custGeom>
            <a:avLst/>
            <a:gdLst/>
            <a:ahLst/>
            <a:cxnLst/>
            <a:rect l="l" t="t" r="r" b="b"/>
            <a:pathLst>
              <a:path w="5582569" h="762993">
                <a:moveTo>
                  <a:pt x="16955" y="0"/>
                </a:moveTo>
                <a:lnTo>
                  <a:pt x="5540177" y="0"/>
                </a:lnTo>
                <a:cubicBezTo>
                  <a:pt x="5563589" y="0"/>
                  <a:pt x="5582569" y="18980"/>
                  <a:pt x="5582569" y="42392"/>
                </a:cubicBezTo>
                <a:lnTo>
                  <a:pt x="5582569" y="720602"/>
                </a:lnTo>
                <a:cubicBezTo>
                  <a:pt x="5582569" y="744014"/>
                  <a:pt x="5563589" y="762993"/>
                  <a:pt x="5540177" y="762993"/>
                </a:cubicBez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026211" y="2975673"/>
            <a:ext cx="16955" cy="762993"/>
          </a:xfrm>
          <a:custGeom>
            <a:avLst/>
            <a:gdLst/>
            <a:ahLst/>
            <a:cxnLst/>
            <a:rect l="l" t="t" r="r" b="b"/>
            <a:pathLst>
              <a:path w="16955" h="762993">
                <a:moveTo>
                  <a:pt x="16955" y="0"/>
                </a:moveTo>
                <a:lnTo>
                  <a:pt x="16955" y="0"/>
                </a:lnTo>
                <a:lnTo>
                  <a:pt x="16955" y="762993"/>
                </a:ln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9" name="Text 47"/>
          <p:cNvSpPr/>
          <p:nvPr/>
        </p:nvSpPr>
        <p:spPr>
          <a:xfrm>
            <a:off x="10161854" y="3102838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 документа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161854" y="3357169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Заполнение формы, прикрепление файлов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026211" y="3823443"/>
            <a:ext cx="5582569" cy="762993"/>
          </a:xfrm>
          <a:custGeom>
            <a:avLst/>
            <a:gdLst/>
            <a:ahLst/>
            <a:cxnLst/>
            <a:rect l="l" t="t" r="r" b="b"/>
            <a:pathLst>
              <a:path w="5582569" h="762993">
                <a:moveTo>
                  <a:pt x="16955" y="0"/>
                </a:moveTo>
                <a:lnTo>
                  <a:pt x="5540177" y="0"/>
                </a:lnTo>
                <a:cubicBezTo>
                  <a:pt x="5563589" y="0"/>
                  <a:pt x="5582569" y="18980"/>
                  <a:pt x="5582569" y="42392"/>
                </a:cubicBezTo>
                <a:lnTo>
                  <a:pt x="5582569" y="720602"/>
                </a:lnTo>
                <a:cubicBezTo>
                  <a:pt x="5582569" y="744014"/>
                  <a:pt x="5563589" y="762993"/>
                  <a:pt x="5540177" y="762993"/>
                </a:cubicBez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026211" y="3823443"/>
            <a:ext cx="16955" cy="762993"/>
          </a:xfrm>
          <a:custGeom>
            <a:avLst/>
            <a:gdLst/>
            <a:ahLst/>
            <a:cxnLst/>
            <a:rect l="l" t="t" r="r" b="b"/>
            <a:pathLst>
              <a:path w="16955" h="762993">
                <a:moveTo>
                  <a:pt x="16955" y="0"/>
                </a:moveTo>
                <a:lnTo>
                  <a:pt x="16955" y="0"/>
                </a:lnTo>
                <a:lnTo>
                  <a:pt x="16955" y="762993"/>
                </a:ln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3" name="Text 51"/>
          <p:cNvSpPr/>
          <p:nvPr/>
        </p:nvSpPr>
        <p:spPr>
          <a:xfrm>
            <a:off x="10161854" y="3950609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Согласование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161854" y="4204940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Принятие решения, изменение статуса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026211" y="4671214"/>
            <a:ext cx="5582569" cy="762993"/>
          </a:xfrm>
          <a:custGeom>
            <a:avLst/>
            <a:gdLst/>
            <a:ahLst/>
            <a:cxnLst/>
            <a:rect l="l" t="t" r="r" b="b"/>
            <a:pathLst>
              <a:path w="5582569" h="762993">
                <a:moveTo>
                  <a:pt x="16955" y="0"/>
                </a:moveTo>
                <a:lnTo>
                  <a:pt x="5540177" y="0"/>
                </a:lnTo>
                <a:cubicBezTo>
                  <a:pt x="5563589" y="0"/>
                  <a:pt x="5582569" y="18980"/>
                  <a:pt x="5582569" y="42392"/>
                </a:cubicBezTo>
                <a:lnTo>
                  <a:pt x="5582569" y="720602"/>
                </a:lnTo>
                <a:cubicBezTo>
                  <a:pt x="5582569" y="744014"/>
                  <a:pt x="5563589" y="762993"/>
                  <a:pt x="5540177" y="762993"/>
                </a:cubicBez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026211" y="4671214"/>
            <a:ext cx="16955" cy="762993"/>
          </a:xfrm>
          <a:custGeom>
            <a:avLst/>
            <a:gdLst/>
            <a:ahLst/>
            <a:cxnLst/>
            <a:rect l="l" t="t" r="r" b="b"/>
            <a:pathLst>
              <a:path w="16955" h="762993">
                <a:moveTo>
                  <a:pt x="16955" y="0"/>
                </a:moveTo>
                <a:lnTo>
                  <a:pt x="16955" y="0"/>
                </a:lnTo>
                <a:lnTo>
                  <a:pt x="16955" y="762993"/>
                </a:ln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7" name="Text 55"/>
          <p:cNvSpPr/>
          <p:nvPr/>
        </p:nvSpPr>
        <p:spPr>
          <a:xfrm>
            <a:off x="10161854" y="4798379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Поиск и фильтрация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161854" y="5052710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 номеру, дате, ключевым словам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026211" y="5518984"/>
            <a:ext cx="5582569" cy="762993"/>
          </a:xfrm>
          <a:custGeom>
            <a:avLst/>
            <a:gdLst/>
            <a:ahLst/>
            <a:cxnLst/>
            <a:rect l="l" t="t" r="r" b="b"/>
            <a:pathLst>
              <a:path w="5582569" h="762993">
                <a:moveTo>
                  <a:pt x="16955" y="0"/>
                </a:moveTo>
                <a:lnTo>
                  <a:pt x="5540177" y="0"/>
                </a:lnTo>
                <a:cubicBezTo>
                  <a:pt x="5563589" y="0"/>
                  <a:pt x="5582569" y="18980"/>
                  <a:pt x="5582569" y="42392"/>
                </a:cubicBezTo>
                <a:lnTo>
                  <a:pt x="5582569" y="720602"/>
                </a:lnTo>
                <a:cubicBezTo>
                  <a:pt x="5582569" y="744014"/>
                  <a:pt x="5563589" y="762993"/>
                  <a:pt x="5540177" y="762993"/>
                </a:cubicBez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026211" y="5518984"/>
            <a:ext cx="16955" cy="762993"/>
          </a:xfrm>
          <a:custGeom>
            <a:avLst/>
            <a:gdLst/>
            <a:ahLst/>
            <a:cxnLst/>
            <a:rect l="l" t="t" r="r" b="b"/>
            <a:pathLst>
              <a:path w="16955" h="762993">
                <a:moveTo>
                  <a:pt x="16955" y="0"/>
                </a:moveTo>
                <a:lnTo>
                  <a:pt x="16955" y="0"/>
                </a:lnTo>
                <a:lnTo>
                  <a:pt x="16955" y="762993"/>
                </a:lnTo>
                <a:lnTo>
                  <a:pt x="16955" y="762993"/>
                </a:lnTo>
                <a:cubicBezTo>
                  <a:pt x="7591" y="762993"/>
                  <a:pt x="0" y="755402"/>
                  <a:pt x="0" y="746038"/>
                </a:cubicBezTo>
                <a:lnTo>
                  <a:pt x="0" y="16955"/>
                </a:lnTo>
                <a:cubicBezTo>
                  <a:pt x="0" y="7597"/>
                  <a:pt x="7597" y="0"/>
                  <a:pt x="16955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61" name="Text 59"/>
          <p:cNvSpPr/>
          <p:nvPr/>
        </p:nvSpPr>
        <p:spPr>
          <a:xfrm>
            <a:off x="10161854" y="5646150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пользователями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161854" y="5900481"/>
            <a:ext cx="54045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Создание, редактирование, назначение ролей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801552" y="6676189"/>
            <a:ext cx="6027649" cy="2212681"/>
          </a:xfrm>
          <a:custGeom>
            <a:avLst/>
            <a:gdLst/>
            <a:ahLst/>
            <a:cxnLst/>
            <a:rect l="l" t="t" r="r" b="b"/>
            <a:pathLst>
              <a:path w="6027649" h="2212681">
                <a:moveTo>
                  <a:pt x="84768" y="0"/>
                </a:moveTo>
                <a:lnTo>
                  <a:pt x="5942881" y="0"/>
                </a:lnTo>
                <a:cubicBezTo>
                  <a:pt x="5989697" y="0"/>
                  <a:pt x="6027649" y="37952"/>
                  <a:pt x="6027649" y="84768"/>
                </a:cubicBezTo>
                <a:lnTo>
                  <a:pt x="6027649" y="2127913"/>
                </a:lnTo>
                <a:cubicBezTo>
                  <a:pt x="6027648" y="2174729"/>
                  <a:pt x="5989697" y="2212681"/>
                  <a:pt x="5942881" y="2212681"/>
                </a:cubicBezTo>
                <a:lnTo>
                  <a:pt x="84768" y="2212681"/>
                </a:lnTo>
                <a:cubicBezTo>
                  <a:pt x="37952" y="2212681"/>
                  <a:pt x="0" y="2174729"/>
                  <a:pt x="0" y="2127913"/>
                </a:cubicBezTo>
                <a:lnTo>
                  <a:pt x="0" y="84768"/>
                </a:lnTo>
                <a:cubicBezTo>
                  <a:pt x="0" y="37952"/>
                  <a:pt x="37952" y="0"/>
                  <a:pt x="84768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75345" y="6849980"/>
            <a:ext cx="5786034" cy="29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Качественные характеристики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975345" y="7273865"/>
            <a:ext cx="2331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205170" y="7273865"/>
            <a:ext cx="5531703" cy="50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Надёжность и безопасность:</a:t>
            </a:r>
            <a:r>
              <a:rPr lang="en-US" sz="133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аутентификация, хеширование паролей, разграничение прав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975345" y="7867304"/>
            <a:ext cx="2331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205170" y="7867304"/>
            <a:ext cx="5531703" cy="50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Производительность:</a:t>
            </a:r>
            <a:r>
              <a:rPr lang="en-US" sz="133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время отклика до 2 секунд, загрузка файлов до 10 МБ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975345" y="8460744"/>
            <a:ext cx="233137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205170" y="8460744"/>
            <a:ext cx="5531703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Эргономика:</a:t>
            </a:r>
            <a:r>
              <a:rPr lang="en-US" sz="133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интуитивный интерфейс, адаптивность для мобильных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185" y="500185"/>
            <a:ext cx="1535566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kern="0" spc="79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ВЕБ-ПРИЛОЖЕНИЯ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0185" y="900332"/>
            <a:ext cx="15443200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5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Проектирование структуры базы данных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0185" y="1500554"/>
            <a:ext cx="1200443" cy="50018"/>
          </a:xfrm>
          <a:custGeom>
            <a:avLst/>
            <a:gdLst/>
            <a:ahLst/>
            <a:cxnLst/>
            <a:rect l="l" t="t" r="r" b="b"/>
            <a:pathLst>
              <a:path w="1200443" h="50018">
                <a:moveTo>
                  <a:pt x="0" y="0"/>
                </a:moveTo>
                <a:lnTo>
                  <a:pt x="1200443" y="0"/>
                </a:lnTo>
                <a:lnTo>
                  <a:pt x="1200443" y="50018"/>
                </a:lnTo>
                <a:lnTo>
                  <a:pt x="0" y="50018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525194" y="1750646"/>
            <a:ext cx="9190892" cy="7132626"/>
          </a:xfrm>
          <a:custGeom>
            <a:avLst/>
            <a:gdLst/>
            <a:ahLst/>
            <a:cxnLst/>
            <a:rect l="l" t="t" r="r" b="b"/>
            <a:pathLst>
              <a:path w="9190892" h="7390228">
                <a:moveTo>
                  <a:pt x="50018" y="0"/>
                </a:moveTo>
                <a:lnTo>
                  <a:pt x="9090829" y="0"/>
                </a:lnTo>
                <a:cubicBezTo>
                  <a:pt x="9146092" y="0"/>
                  <a:pt x="9190892" y="44800"/>
                  <a:pt x="9190892" y="100064"/>
                </a:cubicBezTo>
                <a:lnTo>
                  <a:pt x="9190892" y="7290164"/>
                </a:lnTo>
                <a:cubicBezTo>
                  <a:pt x="9190892" y="7345428"/>
                  <a:pt x="9146092" y="7390228"/>
                  <a:pt x="9090829" y="7390228"/>
                </a:cubicBezTo>
                <a:lnTo>
                  <a:pt x="50018" y="7390228"/>
                </a:lnTo>
                <a:cubicBezTo>
                  <a:pt x="22394" y="7390228"/>
                  <a:pt x="0" y="7367834"/>
                  <a:pt x="0" y="7340209"/>
                </a:cubicBezTo>
                <a:lnTo>
                  <a:pt x="0" y="50018"/>
                </a:lnTo>
                <a:cubicBezTo>
                  <a:pt x="0" y="22413"/>
                  <a:pt x="22413" y="0"/>
                  <a:pt x="50018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5194" y="1750646"/>
            <a:ext cx="45719" cy="7132626"/>
          </a:xfrm>
          <a:custGeom>
            <a:avLst/>
            <a:gdLst/>
            <a:ahLst/>
            <a:cxnLst/>
            <a:rect l="l" t="t" r="r" b="b"/>
            <a:pathLst>
              <a:path w="50018" h="7390228">
                <a:moveTo>
                  <a:pt x="50018" y="0"/>
                </a:moveTo>
                <a:lnTo>
                  <a:pt x="50018" y="0"/>
                </a:lnTo>
                <a:lnTo>
                  <a:pt x="50018" y="7390228"/>
                </a:lnTo>
                <a:lnTo>
                  <a:pt x="50018" y="7390228"/>
                </a:lnTo>
                <a:cubicBezTo>
                  <a:pt x="22394" y="7390228"/>
                  <a:pt x="0" y="7367834"/>
                  <a:pt x="0" y="7340209"/>
                </a:cubicBezTo>
                <a:lnTo>
                  <a:pt x="0" y="50018"/>
                </a:lnTo>
                <a:cubicBezTo>
                  <a:pt x="0" y="22394"/>
                  <a:pt x="22394" y="0"/>
                  <a:pt x="50018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800295" y="2000738"/>
            <a:ext cx="8790745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Основные сущности реляционной модели (3НФ)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5297" y="2555943"/>
            <a:ext cx="4224059" cy="3361241"/>
          </a:xfrm>
          <a:custGeom>
            <a:avLst/>
            <a:gdLst/>
            <a:ahLst/>
            <a:cxnLst/>
            <a:rect l="l" t="t" r="r" b="b"/>
            <a:pathLst>
              <a:path w="4224059" h="3361241">
                <a:moveTo>
                  <a:pt x="100031" y="0"/>
                </a:moveTo>
                <a:lnTo>
                  <a:pt x="4124029" y="0"/>
                </a:lnTo>
                <a:cubicBezTo>
                  <a:pt x="4179274" y="0"/>
                  <a:pt x="4224059" y="44785"/>
                  <a:pt x="4224059" y="100031"/>
                </a:cubicBezTo>
                <a:lnTo>
                  <a:pt x="4224059" y="3261210"/>
                </a:lnTo>
                <a:cubicBezTo>
                  <a:pt x="4224059" y="3316455"/>
                  <a:pt x="4179274" y="3361241"/>
                  <a:pt x="4124029" y="3361241"/>
                </a:cubicBezTo>
                <a:lnTo>
                  <a:pt x="100031" y="3361241"/>
                </a:lnTo>
                <a:cubicBezTo>
                  <a:pt x="44785" y="3361241"/>
                  <a:pt x="0" y="3316455"/>
                  <a:pt x="0" y="3261210"/>
                </a:cubicBezTo>
                <a:lnTo>
                  <a:pt x="0" y="100031"/>
                </a:lnTo>
                <a:cubicBezTo>
                  <a:pt x="0" y="44785"/>
                  <a:pt x="44785" y="0"/>
                  <a:pt x="100031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5401" y="2786026"/>
            <a:ext cx="225083" cy="300111"/>
          </a:xfrm>
          <a:custGeom>
            <a:avLst/>
            <a:gdLst/>
            <a:ahLst/>
            <a:cxnLst/>
            <a:rect l="l" t="t" r="r" b="b"/>
            <a:pathLst>
              <a:path w="225083" h="300111">
                <a:moveTo>
                  <a:pt x="0" y="37514"/>
                </a:moveTo>
                <a:cubicBezTo>
                  <a:pt x="0" y="16823"/>
                  <a:pt x="16823" y="0"/>
                  <a:pt x="37514" y="0"/>
                </a:cubicBezTo>
                <a:lnTo>
                  <a:pt x="125144" y="0"/>
                </a:lnTo>
                <a:cubicBezTo>
                  <a:pt x="135108" y="0"/>
                  <a:pt x="144663" y="3927"/>
                  <a:pt x="151697" y="10961"/>
                </a:cubicBezTo>
                <a:lnTo>
                  <a:pt x="214122" y="73445"/>
                </a:lnTo>
                <a:cubicBezTo>
                  <a:pt x="221156" y="80479"/>
                  <a:pt x="225083" y="90033"/>
                  <a:pt x="225083" y="99998"/>
                </a:cubicBezTo>
                <a:lnTo>
                  <a:pt x="225083" y="262597"/>
                </a:lnTo>
                <a:cubicBezTo>
                  <a:pt x="225083" y="283288"/>
                  <a:pt x="208260" y="300111"/>
                  <a:pt x="187569" y="300111"/>
                </a:cubicBezTo>
                <a:lnTo>
                  <a:pt x="37514" y="300111"/>
                </a:lnTo>
                <a:cubicBezTo>
                  <a:pt x="16823" y="300111"/>
                  <a:pt x="0" y="283288"/>
                  <a:pt x="0" y="262597"/>
                </a:cubicBezTo>
                <a:lnTo>
                  <a:pt x="0" y="37514"/>
                </a:lnTo>
                <a:close/>
                <a:moveTo>
                  <a:pt x="121920" y="34290"/>
                </a:moveTo>
                <a:lnTo>
                  <a:pt x="121920" y="89095"/>
                </a:lnTo>
                <a:cubicBezTo>
                  <a:pt x="121920" y="96891"/>
                  <a:pt x="128192" y="103163"/>
                  <a:pt x="135988" y="103163"/>
                </a:cubicBezTo>
                <a:lnTo>
                  <a:pt x="190793" y="103163"/>
                </a:lnTo>
                <a:lnTo>
                  <a:pt x="121920" y="34290"/>
                </a:lnTo>
                <a:close/>
                <a:moveTo>
                  <a:pt x="70338" y="150055"/>
                </a:moveTo>
                <a:cubicBezTo>
                  <a:pt x="62543" y="150055"/>
                  <a:pt x="56271" y="156327"/>
                  <a:pt x="56271" y="164123"/>
                </a:cubicBezTo>
                <a:cubicBezTo>
                  <a:pt x="56271" y="171919"/>
                  <a:pt x="62543" y="178191"/>
                  <a:pt x="70338" y="178191"/>
                </a:cubicBezTo>
                <a:lnTo>
                  <a:pt x="154745" y="178191"/>
                </a:lnTo>
                <a:cubicBezTo>
                  <a:pt x="162540" y="178191"/>
                  <a:pt x="168812" y="171919"/>
                  <a:pt x="168812" y="164123"/>
                </a:cubicBezTo>
                <a:cubicBezTo>
                  <a:pt x="168812" y="156327"/>
                  <a:pt x="162540" y="150055"/>
                  <a:pt x="154745" y="150055"/>
                </a:cubicBezTo>
                <a:lnTo>
                  <a:pt x="70338" y="150055"/>
                </a:lnTo>
                <a:close/>
                <a:moveTo>
                  <a:pt x="70338" y="206326"/>
                </a:moveTo>
                <a:cubicBezTo>
                  <a:pt x="62543" y="206326"/>
                  <a:pt x="56271" y="212598"/>
                  <a:pt x="56271" y="220394"/>
                </a:cubicBezTo>
                <a:cubicBezTo>
                  <a:pt x="56271" y="228190"/>
                  <a:pt x="62543" y="234462"/>
                  <a:pt x="70338" y="234462"/>
                </a:cubicBezTo>
                <a:lnTo>
                  <a:pt x="154745" y="234462"/>
                </a:lnTo>
                <a:cubicBezTo>
                  <a:pt x="162540" y="234462"/>
                  <a:pt x="168812" y="228190"/>
                  <a:pt x="168812" y="220394"/>
                </a:cubicBezTo>
                <a:cubicBezTo>
                  <a:pt x="168812" y="212598"/>
                  <a:pt x="162540" y="206326"/>
                  <a:pt x="154745" y="206326"/>
                </a:cubicBezTo>
                <a:lnTo>
                  <a:pt x="70338" y="206326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0" name="Text 8"/>
          <p:cNvSpPr/>
          <p:nvPr/>
        </p:nvSpPr>
        <p:spPr>
          <a:xfrm>
            <a:off x="1485548" y="2761017"/>
            <a:ext cx="1262966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2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0373" y="3261201"/>
            <a:ext cx="3913945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Центральная таблица заявок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0373" y="3661349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67931" y="3661349"/>
            <a:ext cx="25884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уникальный идентификатор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0373" y="3961460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7931" y="3961460"/>
            <a:ext cx="216329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title: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заголовок документа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0373" y="4261570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7931" y="4261570"/>
            <a:ext cx="173814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содержание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0373" y="4561681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7931" y="4561681"/>
            <a:ext cx="2150794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created_at: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дата создания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0373" y="4861792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7931" y="4861792"/>
            <a:ext cx="186318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текущий статус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0373" y="5161903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67931" y="5161903"/>
            <a:ext cx="1438031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путь к файлу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0373" y="5462014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7931" y="5462014"/>
            <a:ext cx="202574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ForeignKey к User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35214" y="2550942"/>
            <a:ext cx="4239065" cy="3376246"/>
          </a:xfrm>
          <a:custGeom>
            <a:avLst/>
            <a:gdLst/>
            <a:ahLst/>
            <a:cxnLst/>
            <a:rect l="l" t="t" r="r" b="b"/>
            <a:pathLst>
              <a:path w="4239065" h="3376246">
                <a:moveTo>
                  <a:pt x="50002" y="0"/>
                </a:moveTo>
                <a:lnTo>
                  <a:pt x="4189062" y="0"/>
                </a:lnTo>
                <a:cubicBezTo>
                  <a:pt x="4216678" y="0"/>
                  <a:pt x="4239065" y="22387"/>
                  <a:pt x="4239065" y="50002"/>
                </a:cubicBezTo>
                <a:lnTo>
                  <a:pt x="4239065" y="3326244"/>
                </a:lnTo>
                <a:cubicBezTo>
                  <a:pt x="4239065" y="3353859"/>
                  <a:pt x="4216678" y="3376246"/>
                  <a:pt x="4189062" y="3376246"/>
                </a:cubicBezTo>
                <a:lnTo>
                  <a:pt x="50002" y="3376246"/>
                </a:lnTo>
                <a:cubicBezTo>
                  <a:pt x="22387" y="3376246"/>
                  <a:pt x="0" y="3353859"/>
                  <a:pt x="0" y="3326244"/>
                </a:cubicBezTo>
                <a:lnTo>
                  <a:pt x="0" y="50002"/>
                </a:lnTo>
                <a:cubicBezTo>
                  <a:pt x="0" y="22405"/>
                  <a:pt x="22405" y="0"/>
                  <a:pt x="5000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35287" y="2776025"/>
            <a:ext cx="375138" cy="300111"/>
          </a:xfrm>
          <a:custGeom>
            <a:avLst/>
            <a:gdLst/>
            <a:ahLst/>
            <a:cxnLst/>
            <a:rect l="l" t="t" r="r" b="b"/>
            <a:pathLst>
              <a:path w="375138" h="300111">
                <a:moveTo>
                  <a:pt x="187569" y="9378"/>
                </a:moveTo>
                <a:cubicBezTo>
                  <a:pt x="221214" y="9378"/>
                  <a:pt x="248529" y="36694"/>
                  <a:pt x="248529" y="70338"/>
                </a:cubicBezTo>
                <a:cubicBezTo>
                  <a:pt x="248529" y="103983"/>
                  <a:pt x="221214" y="131298"/>
                  <a:pt x="187569" y="131298"/>
                </a:cubicBezTo>
                <a:cubicBezTo>
                  <a:pt x="153924" y="131298"/>
                  <a:pt x="126609" y="103983"/>
                  <a:pt x="126609" y="70338"/>
                </a:cubicBezTo>
                <a:cubicBezTo>
                  <a:pt x="126609" y="36694"/>
                  <a:pt x="153924" y="9378"/>
                  <a:pt x="187569" y="9378"/>
                </a:cubicBezTo>
                <a:close/>
                <a:moveTo>
                  <a:pt x="56271" y="51582"/>
                </a:moveTo>
                <a:cubicBezTo>
                  <a:pt x="79563" y="51582"/>
                  <a:pt x="98474" y="70492"/>
                  <a:pt x="98474" y="93785"/>
                </a:cubicBezTo>
                <a:cubicBezTo>
                  <a:pt x="98474" y="117077"/>
                  <a:pt x="79563" y="135988"/>
                  <a:pt x="56271" y="135988"/>
                </a:cubicBezTo>
                <a:cubicBezTo>
                  <a:pt x="32978" y="135988"/>
                  <a:pt x="14068" y="117077"/>
                  <a:pt x="14068" y="93785"/>
                </a:cubicBezTo>
                <a:cubicBezTo>
                  <a:pt x="14068" y="70492"/>
                  <a:pt x="32978" y="51582"/>
                  <a:pt x="56271" y="51582"/>
                </a:cubicBezTo>
                <a:close/>
                <a:moveTo>
                  <a:pt x="0" y="243840"/>
                </a:moveTo>
                <a:cubicBezTo>
                  <a:pt x="0" y="202399"/>
                  <a:pt x="33587" y="168812"/>
                  <a:pt x="75028" y="168812"/>
                </a:cubicBezTo>
                <a:cubicBezTo>
                  <a:pt x="82530" y="168812"/>
                  <a:pt x="89799" y="169926"/>
                  <a:pt x="96657" y="171978"/>
                </a:cubicBezTo>
                <a:cubicBezTo>
                  <a:pt x="77372" y="193548"/>
                  <a:pt x="65649" y="222035"/>
                  <a:pt x="65649" y="253218"/>
                </a:cubicBezTo>
                <a:lnTo>
                  <a:pt x="65649" y="262597"/>
                </a:lnTo>
                <a:cubicBezTo>
                  <a:pt x="65649" y="269279"/>
                  <a:pt x="67056" y="275610"/>
                  <a:pt x="69576" y="281354"/>
                </a:cubicBezTo>
                <a:lnTo>
                  <a:pt x="18757" y="281354"/>
                </a:lnTo>
                <a:cubicBezTo>
                  <a:pt x="8382" y="281354"/>
                  <a:pt x="0" y="272972"/>
                  <a:pt x="0" y="262597"/>
                </a:cubicBezTo>
                <a:lnTo>
                  <a:pt x="0" y="243840"/>
                </a:lnTo>
                <a:close/>
                <a:moveTo>
                  <a:pt x="305562" y="281354"/>
                </a:moveTo>
                <a:cubicBezTo>
                  <a:pt x="308082" y="275610"/>
                  <a:pt x="309489" y="269279"/>
                  <a:pt x="309489" y="262597"/>
                </a:cubicBezTo>
                <a:lnTo>
                  <a:pt x="309489" y="253218"/>
                </a:lnTo>
                <a:cubicBezTo>
                  <a:pt x="309489" y="222035"/>
                  <a:pt x="297766" y="193548"/>
                  <a:pt x="278482" y="171978"/>
                </a:cubicBezTo>
                <a:cubicBezTo>
                  <a:pt x="285340" y="169926"/>
                  <a:pt x="292608" y="168812"/>
                  <a:pt x="300111" y="168812"/>
                </a:cubicBezTo>
                <a:cubicBezTo>
                  <a:pt x="341552" y="168812"/>
                  <a:pt x="375138" y="202399"/>
                  <a:pt x="375138" y="243840"/>
                </a:cubicBezTo>
                <a:lnTo>
                  <a:pt x="375138" y="262597"/>
                </a:lnTo>
                <a:cubicBezTo>
                  <a:pt x="375138" y="272972"/>
                  <a:pt x="366756" y="281354"/>
                  <a:pt x="356382" y="281354"/>
                </a:cubicBezTo>
                <a:lnTo>
                  <a:pt x="305562" y="281354"/>
                </a:lnTo>
                <a:close/>
                <a:moveTo>
                  <a:pt x="276665" y="93785"/>
                </a:moveTo>
                <a:cubicBezTo>
                  <a:pt x="276665" y="70492"/>
                  <a:pt x="295575" y="51582"/>
                  <a:pt x="318868" y="51582"/>
                </a:cubicBezTo>
                <a:cubicBezTo>
                  <a:pt x="342160" y="51582"/>
                  <a:pt x="361071" y="70492"/>
                  <a:pt x="361071" y="93785"/>
                </a:cubicBezTo>
                <a:cubicBezTo>
                  <a:pt x="361071" y="117077"/>
                  <a:pt x="342160" y="135988"/>
                  <a:pt x="318868" y="135988"/>
                </a:cubicBezTo>
                <a:cubicBezTo>
                  <a:pt x="295575" y="135988"/>
                  <a:pt x="276665" y="117077"/>
                  <a:pt x="276665" y="93785"/>
                </a:cubicBezTo>
                <a:close/>
                <a:moveTo>
                  <a:pt x="93785" y="253218"/>
                </a:moveTo>
                <a:cubicBezTo>
                  <a:pt x="93785" y="201402"/>
                  <a:pt x="135753" y="159434"/>
                  <a:pt x="187569" y="159434"/>
                </a:cubicBezTo>
                <a:cubicBezTo>
                  <a:pt x="239385" y="159434"/>
                  <a:pt x="281354" y="201402"/>
                  <a:pt x="281354" y="253218"/>
                </a:cubicBezTo>
                <a:lnTo>
                  <a:pt x="281354" y="262597"/>
                </a:lnTo>
                <a:cubicBezTo>
                  <a:pt x="281354" y="272972"/>
                  <a:pt x="272972" y="281354"/>
                  <a:pt x="262597" y="281354"/>
                </a:cubicBezTo>
                <a:lnTo>
                  <a:pt x="112542" y="281354"/>
                </a:lnTo>
                <a:cubicBezTo>
                  <a:pt x="102167" y="281354"/>
                  <a:pt x="93785" y="272972"/>
                  <a:pt x="93785" y="262597"/>
                </a:cubicBezTo>
                <a:lnTo>
                  <a:pt x="93785" y="253218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5910463" y="2751015"/>
            <a:ext cx="687754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2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35287" y="3251200"/>
            <a:ext cx="3938954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Расширение модели Django User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35287" y="3651348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92846" y="3651348"/>
            <a:ext cx="157558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Наследует от User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35287" y="3951458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92846" y="3951458"/>
            <a:ext cx="131298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full_name: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ФИО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35287" y="4251569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92846" y="4251569"/>
            <a:ext cx="315116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Сотрудник/Руководитель/Админ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35287" y="4551680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92846" y="4551680"/>
            <a:ext cx="190070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ForeignKey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0295" y="6122255"/>
            <a:ext cx="4239065" cy="2475914"/>
          </a:xfrm>
          <a:custGeom>
            <a:avLst/>
            <a:gdLst/>
            <a:ahLst/>
            <a:cxnLst/>
            <a:rect l="l" t="t" r="r" b="b"/>
            <a:pathLst>
              <a:path w="4239065" h="2475914">
                <a:moveTo>
                  <a:pt x="50013" y="0"/>
                </a:moveTo>
                <a:lnTo>
                  <a:pt x="4189051" y="0"/>
                </a:lnTo>
                <a:cubicBezTo>
                  <a:pt x="4216673" y="0"/>
                  <a:pt x="4239065" y="22392"/>
                  <a:pt x="4239065" y="50013"/>
                </a:cubicBezTo>
                <a:lnTo>
                  <a:pt x="4239065" y="2425900"/>
                </a:lnTo>
                <a:cubicBezTo>
                  <a:pt x="4239065" y="2453522"/>
                  <a:pt x="4216673" y="2475914"/>
                  <a:pt x="4189051" y="2475914"/>
                </a:cubicBezTo>
                <a:lnTo>
                  <a:pt x="50013" y="2475914"/>
                </a:lnTo>
                <a:cubicBezTo>
                  <a:pt x="22392" y="2475914"/>
                  <a:pt x="0" y="2453522"/>
                  <a:pt x="0" y="2425900"/>
                </a:cubicBezTo>
                <a:lnTo>
                  <a:pt x="0" y="50013"/>
                </a:lnTo>
                <a:cubicBezTo>
                  <a:pt x="0" y="22410"/>
                  <a:pt x="22410" y="0"/>
                  <a:pt x="5001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37883" y="6347338"/>
            <a:ext cx="300111" cy="300111"/>
          </a:xfrm>
          <a:custGeom>
            <a:avLst/>
            <a:gdLst/>
            <a:ahLst/>
            <a:cxnLst/>
            <a:rect l="l" t="t" r="r" b="b"/>
            <a:pathLst>
              <a:path w="300111" h="300111">
                <a:moveTo>
                  <a:pt x="112542" y="37514"/>
                </a:moveTo>
                <a:cubicBezTo>
                  <a:pt x="112542" y="27139"/>
                  <a:pt x="120924" y="18757"/>
                  <a:pt x="131298" y="18757"/>
                </a:cubicBezTo>
                <a:lnTo>
                  <a:pt x="168812" y="18757"/>
                </a:lnTo>
                <a:cubicBezTo>
                  <a:pt x="179187" y="18757"/>
                  <a:pt x="187569" y="27139"/>
                  <a:pt x="187569" y="37514"/>
                </a:cubicBezTo>
                <a:lnTo>
                  <a:pt x="187569" y="75028"/>
                </a:lnTo>
                <a:cubicBezTo>
                  <a:pt x="187569" y="85403"/>
                  <a:pt x="179187" y="93785"/>
                  <a:pt x="168812" y="93785"/>
                </a:cubicBezTo>
                <a:lnTo>
                  <a:pt x="164123" y="93785"/>
                </a:lnTo>
                <a:lnTo>
                  <a:pt x="164123" y="131298"/>
                </a:lnTo>
                <a:lnTo>
                  <a:pt x="234462" y="131298"/>
                </a:lnTo>
                <a:cubicBezTo>
                  <a:pt x="257790" y="131298"/>
                  <a:pt x="276665" y="150173"/>
                  <a:pt x="276665" y="173502"/>
                </a:cubicBezTo>
                <a:lnTo>
                  <a:pt x="276665" y="206326"/>
                </a:lnTo>
                <a:lnTo>
                  <a:pt x="281354" y="206326"/>
                </a:lnTo>
                <a:cubicBezTo>
                  <a:pt x="291729" y="206326"/>
                  <a:pt x="300111" y="214708"/>
                  <a:pt x="300111" y="225083"/>
                </a:cubicBezTo>
                <a:lnTo>
                  <a:pt x="300111" y="262597"/>
                </a:lnTo>
                <a:cubicBezTo>
                  <a:pt x="300111" y="272972"/>
                  <a:pt x="291729" y="281354"/>
                  <a:pt x="281354" y="281354"/>
                </a:cubicBezTo>
                <a:lnTo>
                  <a:pt x="243840" y="281354"/>
                </a:lnTo>
                <a:cubicBezTo>
                  <a:pt x="233465" y="281354"/>
                  <a:pt x="225083" y="272972"/>
                  <a:pt x="225083" y="262597"/>
                </a:cubicBezTo>
                <a:lnTo>
                  <a:pt x="225083" y="225083"/>
                </a:lnTo>
                <a:cubicBezTo>
                  <a:pt x="225083" y="214708"/>
                  <a:pt x="233465" y="206326"/>
                  <a:pt x="243840" y="206326"/>
                </a:cubicBezTo>
                <a:lnTo>
                  <a:pt x="248529" y="206326"/>
                </a:lnTo>
                <a:lnTo>
                  <a:pt x="248529" y="173502"/>
                </a:lnTo>
                <a:cubicBezTo>
                  <a:pt x="248529" y="165706"/>
                  <a:pt x="242257" y="159434"/>
                  <a:pt x="234462" y="159434"/>
                </a:cubicBezTo>
                <a:lnTo>
                  <a:pt x="164123" y="159434"/>
                </a:lnTo>
                <a:lnTo>
                  <a:pt x="164123" y="206326"/>
                </a:lnTo>
                <a:lnTo>
                  <a:pt x="168812" y="206326"/>
                </a:lnTo>
                <a:cubicBezTo>
                  <a:pt x="179187" y="206326"/>
                  <a:pt x="187569" y="214708"/>
                  <a:pt x="187569" y="225083"/>
                </a:cubicBezTo>
                <a:lnTo>
                  <a:pt x="187569" y="262597"/>
                </a:lnTo>
                <a:cubicBezTo>
                  <a:pt x="187569" y="272972"/>
                  <a:pt x="179187" y="281354"/>
                  <a:pt x="168812" y="281354"/>
                </a:cubicBezTo>
                <a:lnTo>
                  <a:pt x="131298" y="281354"/>
                </a:lnTo>
                <a:cubicBezTo>
                  <a:pt x="120924" y="281354"/>
                  <a:pt x="112542" y="272972"/>
                  <a:pt x="112542" y="262597"/>
                </a:cubicBezTo>
                <a:lnTo>
                  <a:pt x="112542" y="225083"/>
                </a:lnTo>
                <a:cubicBezTo>
                  <a:pt x="112542" y="214708"/>
                  <a:pt x="120924" y="206326"/>
                  <a:pt x="131298" y="206326"/>
                </a:cubicBezTo>
                <a:lnTo>
                  <a:pt x="135988" y="206326"/>
                </a:lnTo>
                <a:lnTo>
                  <a:pt x="135988" y="159434"/>
                </a:lnTo>
                <a:lnTo>
                  <a:pt x="65649" y="159434"/>
                </a:lnTo>
                <a:cubicBezTo>
                  <a:pt x="57853" y="159434"/>
                  <a:pt x="51582" y="165706"/>
                  <a:pt x="51582" y="173502"/>
                </a:cubicBezTo>
                <a:lnTo>
                  <a:pt x="51582" y="206326"/>
                </a:lnTo>
                <a:lnTo>
                  <a:pt x="56271" y="206326"/>
                </a:lnTo>
                <a:cubicBezTo>
                  <a:pt x="66646" y="206326"/>
                  <a:pt x="75028" y="214708"/>
                  <a:pt x="75028" y="225083"/>
                </a:cubicBezTo>
                <a:lnTo>
                  <a:pt x="75028" y="262597"/>
                </a:lnTo>
                <a:cubicBezTo>
                  <a:pt x="75028" y="272972"/>
                  <a:pt x="66646" y="281354"/>
                  <a:pt x="56271" y="281354"/>
                </a:cubicBezTo>
                <a:lnTo>
                  <a:pt x="18757" y="281354"/>
                </a:lnTo>
                <a:cubicBezTo>
                  <a:pt x="8382" y="281354"/>
                  <a:pt x="0" y="272972"/>
                  <a:pt x="0" y="262597"/>
                </a:cubicBezTo>
                <a:lnTo>
                  <a:pt x="0" y="225083"/>
                </a:lnTo>
                <a:cubicBezTo>
                  <a:pt x="0" y="214708"/>
                  <a:pt x="8382" y="206326"/>
                  <a:pt x="18757" y="206326"/>
                </a:cubicBezTo>
                <a:lnTo>
                  <a:pt x="23446" y="206326"/>
                </a:lnTo>
                <a:lnTo>
                  <a:pt x="23446" y="173502"/>
                </a:lnTo>
                <a:cubicBezTo>
                  <a:pt x="23446" y="150173"/>
                  <a:pt x="42320" y="131298"/>
                  <a:pt x="65649" y="131298"/>
                </a:cubicBezTo>
                <a:lnTo>
                  <a:pt x="135988" y="131298"/>
                </a:lnTo>
                <a:lnTo>
                  <a:pt x="135988" y="93785"/>
                </a:lnTo>
                <a:lnTo>
                  <a:pt x="131298" y="93785"/>
                </a:lnTo>
                <a:cubicBezTo>
                  <a:pt x="120924" y="93785"/>
                  <a:pt x="112542" y="85403"/>
                  <a:pt x="112542" y="75028"/>
                </a:cubicBezTo>
                <a:lnTo>
                  <a:pt x="112542" y="37514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0" name="Text 38"/>
          <p:cNvSpPr/>
          <p:nvPr/>
        </p:nvSpPr>
        <p:spPr>
          <a:xfrm>
            <a:off x="1475545" y="6322329"/>
            <a:ext cx="1413022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2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0369" y="6822513"/>
            <a:ext cx="3938954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Организационная структура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0369" y="7222661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57927" y="7222661"/>
            <a:ext cx="1575582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идентификатор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00369" y="7522772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57927" y="7522772"/>
            <a:ext cx="197572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название отдела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0369" y="7822883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57927" y="7822883"/>
            <a:ext cx="1950720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manager:</a:t>
            </a:r>
            <a:r>
              <a:rPr lang="en-US" sz="1378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руководитель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40215" y="6127257"/>
            <a:ext cx="4224059" cy="2460908"/>
          </a:xfrm>
          <a:custGeom>
            <a:avLst/>
            <a:gdLst/>
            <a:ahLst/>
            <a:cxnLst/>
            <a:rect l="l" t="t" r="r" b="b"/>
            <a:pathLst>
              <a:path w="4224059" h="2460908">
                <a:moveTo>
                  <a:pt x="100036" y="0"/>
                </a:moveTo>
                <a:lnTo>
                  <a:pt x="4124023" y="0"/>
                </a:lnTo>
                <a:cubicBezTo>
                  <a:pt x="4179271" y="0"/>
                  <a:pt x="4224059" y="44788"/>
                  <a:pt x="4224059" y="100036"/>
                </a:cubicBezTo>
                <a:lnTo>
                  <a:pt x="4224059" y="2360872"/>
                </a:lnTo>
                <a:cubicBezTo>
                  <a:pt x="4224059" y="2416121"/>
                  <a:pt x="4179271" y="2460908"/>
                  <a:pt x="4124023" y="2460908"/>
                </a:cubicBezTo>
                <a:lnTo>
                  <a:pt x="100036" y="2460908"/>
                </a:lnTo>
                <a:cubicBezTo>
                  <a:pt x="44788" y="2460908"/>
                  <a:pt x="0" y="2416121"/>
                  <a:pt x="0" y="2360872"/>
                </a:cubicBezTo>
                <a:lnTo>
                  <a:pt x="0" y="100036"/>
                </a:lnTo>
                <a:cubicBezTo>
                  <a:pt x="0" y="44825"/>
                  <a:pt x="44825" y="0"/>
                  <a:pt x="100036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64048" y="6357339"/>
            <a:ext cx="337625" cy="300111"/>
          </a:xfrm>
          <a:custGeom>
            <a:avLst/>
            <a:gdLst/>
            <a:ahLst/>
            <a:cxnLst/>
            <a:rect l="l" t="t" r="r" b="b"/>
            <a:pathLst>
              <a:path w="337625" h="300111">
                <a:moveTo>
                  <a:pt x="168812" y="37514"/>
                </a:moveTo>
                <a:cubicBezTo>
                  <a:pt x="230945" y="37514"/>
                  <a:pt x="281354" y="87923"/>
                  <a:pt x="281354" y="150055"/>
                </a:cubicBezTo>
                <a:cubicBezTo>
                  <a:pt x="281354" y="212188"/>
                  <a:pt x="230945" y="262597"/>
                  <a:pt x="168812" y="262597"/>
                </a:cubicBezTo>
                <a:cubicBezTo>
                  <a:pt x="130595" y="262597"/>
                  <a:pt x="96774" y="243547"/>
                  <a:pt x="76434" y="214356"/>
                </a:cubicBezTo>
                <a:cubicBezTo>
                  <a:pt x="70514" y="205857"/>
                  <a:pt x="58791" y="203806"/>
                  <a:pt x="50292" y="209726"/>
                </a:cubicBezTo>
                <a:cubicBezTo>
                  <a:pt x="41793" y="215646"/>
                  <a:pt x="39741" y="227369"/>
                  <a:pt x="45661" y="235868"/>
                </a:cubicBezTo>
                <a:cubicBezTo>
                  <a:pt x="72742" y="274672"/>
                  <a:pt x="117817" y="300111"/>
                  <a:pt x="168812" y="300111"/>
                </a:cubicBezTo>
                <a:cubicBezTo>
                  <a:pt x="251694" y="300111"/>
                  <a:pt x="318868" y="232938"/>
                  <a:pt x="318868" y="150055"/>
                </a:cubicBezTo>
                <a:cubicBezTo>
                  <a:pt x="318868" y="67173"/>
                  <a:pt x="251694" y="0"/>
                  <a:pt x="168812" y="0"/>
                </a:cubicBezTo>
                <a:cubicBezTo>
                  <a:pt x="118579" y="0"/>
                  <a:pt x="74148" y="24677"/>
                  <a:pt x="46892" y="62543"/>
                </a:cubicBezTo>
                <a:lnTo>
                  <a:pt x="46892" y="46892"/>
                </a:lnTo>
                <a:cubicBezTo>
                  <a:pt x="46892" y="36517"/>
                  <a:pt x="38510" y="28135"/>
                  <a:pt x="28135" y="28135"/>
                </a:cubicBezTo>
                <a:cubicBezTo>
                  <a:pt x="17760" y="28135"/>
                  <a:pt x="9378" y="36517"/>
                  <a:pt x="9378" y="46892"/>
                </a:cubicBezTo>
                <a:lnTo>
                  <a:pt x="9378" y="112542"/>
                </a:lnTo>
                <a:cubicBezTo>
                  <a:pt x="9378" y="122916"/>
                  <a:pt x="17760" y="131298"/>
                  <a:pt x="28135" y="131298"/>
                </a:cubicBezTo>
                <a:lnTo>
                  <a:pt x="42555" y="131298"/>
                </a:lnTo>
                <a:cubicBezTo>
                  <a:pt x="42848" y="131298"/>
                  <a:pt x="43141" y="131298"/>
                  <a:pt x="43434" y="131298"/>
                </a:cubicBezTo>
                <a:lnTo>
                  <a:pt x="93843" y="131298"/>
                </a:lnTo>
                <a:cubicBezTo>
                  <a:pt x="104218" y="131298"/>
                  <a:pt x="112600" y="122916"/>
                  <a:pt x="112600" y="112542"/>
                </a:cubicBezTo>
                <a:cubicBezTo>
                  <a:pt x="112600" y="102167"/>
                  <a:pt x="104218" y="93785"/>
                  <a:pt x="93843" y="93785"/>
                </a:cubicBezTo>
                <a:lnTo>
                  <a:pt x="71394" y="93785"/>
                </a:lnTo>
                <a:cubicBezTo>
                  <a:pt x="90795" y="60139"/>
                  <a:pt x="127195" y="37514"/>
                  <a:pt x="168812" y="37514"/>
                </a:cubicBezTo>
                <a:close/>
                <a:moveTo>
                  <a:pt x="182880" y="89095"/>
                </a:moveTo>
                <a:cubicBezTo>
                  <a:pt x="182880" y="81300"/>
                  <a:pt x="176608" y="75028"/>
                  <a:pt x="168812" y="75028"/>
                </a:cubicBezTo>
                <a:cubicBezTo>
                  <a:pt x="161016" y="75028"/>
                  <a:pt x="154745" y="81300"/>
                  <a:pt x="154745" y="89095"/>
                </a:cubicBezTo>
                <a:lnTo>
                  <a:pt x="154745" y="150055"/>
                </a:lnTo>
                <a:cubicBezTo>
                  <a:pt x="154745" y="153807"/>
                  <a:pt x="156210" y="157382"/>
                  <a:pt x="158848" y="160020"/>
                </a:cubicBezTo>
                <a:lnTo>
                  <a:pt x="201051" y="202223"/>
                </a:lnTo>
                <a:cubicBezTo>
                  <a:pt x="206561" y="207733"/>
                  <a:pt x="215470" y="207733"/>
                  <a:pt x="220921" y="202223"/>
                </a:cubicBezTo>
                <a:cubicBezTo>
                  <a:pt x="226373" y="196713"/>
                  <a:pt x="226431" y="187804"/>
                  <a:pt x="220921" y="182352"/>
                </a:cubicBezTo>
                <a:lnTo>
                  <a:pt x="182821" y="144252"/>
                </a:lnTo>
                <a:lnTo>
                  <a:pt x="182821" y="89095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0" name="Text 48"/>
          <p:cNvSpPr/>
          <p:nvPr/>
        </p:nvSpPr>
        <p:spPr>
          <a:xfrm>
            <a:off x="5920466" y="6332330"/>
            <a:ext cx="1025378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2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AuditLog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45291" y="6832515"/>
            <a:ext cx="3913945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Журнал действий для аудита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445291" y="7232662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602849" y="7232662"/>
            <a:ext cx="161309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user:</a:t>
            </a:r>
            <a:r>
              <a:rPr lang="en-US" sz="1378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кто совершил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445291" y="7532773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602849" y="7532773"/>
            <a:ext cx="1725637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r>
              <a:rPr lang="en-US" sz="1378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тип операции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45291" y="7832884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602849" y="7832884"/>
            <a:ext cx="197572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comment:</a:t>
            </a:r>
            <a:r>
              <a:rPr lang="en-US" sz="1378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комментарий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45291" y="8132995"/>
            <a:ext cx="15005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602849" y="8132995"/>
            <a:ext cx="1475545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8" b="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timestamp:</a:t>
            </a:r>
            <a:r>
              <a:rPr lang="en-US" sz="1378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время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975244" y="1755648"/>
            <a:ext cx="5774631" cy="4211554"/>
          </a:xfrm>
          <a:custGeom>
            <a:avLst/>
            <a:gdLst/>
            <a:ahLst/>
            <a:cxnLst/>
            <a:rect l="l" t="t" r="r" b="b"/>
            <a:pathLst>
              <a:path w="5774631" h="4211554">
                <a:moveTo>
                  <a:pt x="100024" y="0"/>
                </a:moveTo>
                <a:lnTo>
                  <a:pt x="5674607" y="0"/>
                </a:lnTo>
                <a:cubicBezTo>
                  <a:pt x="5729849" y="0"/>
                  <a:pt x="5774631" y="44782"/>
                  <a:pt x="5774631" y="100024"/>
                </a:cubicBezTo>
                <a:lnTo>
                  <a:pt x="5774631" y="4111530"/>
                </a:lnTo>
                <a:cubicBezTo>
                  <a:pt x="5774631" y="4166772"/>
                  <a:pt x="5729849" y="4211554"/>
                  <a:pt x="5674607" y="4211554"/>
                </a:cubicBezTo>
                <a:lnTo>
                  <a:pt x="100024" y="4211554"/>
                </a:lnTo>
                <a:cubicBezTo>
                  <a:pt x="44782" y="4211554"/>
                  <a:pt x="0" y="4166772"/>
                  <a:pt x="0" y="4111530"/>
                </a:cubicBezTo>
                <a:lnTo>
                  <a:pt x="0" y="100024"/>
                </a:lnTo>
                <a:cubicBezTo>
                  <a:pt x="0" y="44782"/>
                  <a:pt x="44782" y="0"/>
                  <a:pt x="100024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30338" y="2010740"/>
            <a:ext cx="5389489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Связи между сущностями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240342" y="2560943"/>
            <a:ext cx="5249438" cy="950351"/>
          </a:xfrm>
          <a:custGeom>
            <a:avLst/>
            <a:gdLst/>
            <a:ahLst/>
            <a:cxnLst/>
            <a:rect l="l" t="t" r="r" b="b"/>
            <a:pathLst>
              <a:path w="5249438" h="950351">
                <a:moveTo>
                  <a:pt x="20007" y="0"/>
                </a:moveTo>
                <a:lnTo>
                  <a:pt x="5199421" y="0"/>
                </a:lnTo>
                <a:cubicBezTo>
                  <a:pt x="5227044" y="0"/>
                  <a:pt x="5249438" y="22393"/>
                  <a:pt x="5249438" y="50017"/>
                </a:cubicBezTo>
                <a:lnTo>
                  <a:pt x="5249438" y="900334"/>
                </a:lnTo>
                <a:cubicBezTo>
                  <a:pt x="5249438" y="927957"/>
                  <a:pt x="5227044" y="950351"/>
                  <a:pt x="5199421" y="950351"/>
                </a:cubicBezTo>
                <a:lnTo>
                  <a:pt x="20007" y="950351"/>
                </a:lnTo>
                <a:cubicBezTo>
                  <a:pt x="8958" y="950351"/>
                  <a:pt x="0" y="941393"/>
                  <a:pt x="0" y="930343"/>
                </a:cubicBezTo>
                <a:lnTo>
                  <a:pt x="0" y="20007"/>
                </a:lnTo>
                <a:cubicBezTo>
                  <a:pt x="0" y="8965"/>
                  <a:pt x="8965" y="0"/>
                  <a:pt x="20007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240342" y="2560943"/>
            <a:ext cx="20007" cy="950351"/>
          </a:xfrm>
          <a:custGeom>
            <a:avLst/>
            <a:gdLst/>
            <a:ahLst/>
            <a:cxnLst/>
            <a:rect l="l" t="t" r="r" b="b"/>
            <a:pathLst>
              <a:path w="20007" h="950351">
                <a:moveTo>
                  <a:pt x="20007" y="0"/>
                </a:moveTo>
                <a:lnTo>
                  <a:pt x="20007" y="0"/>
                </a:lnTo>
                <a:lnTo>
                  <a:pt x="20007" y="950351"/>
                </a:lnTo>
                <a:lnTo>
                  <a:pt x="20007" y="950351"/>
                </a:lnTo>
                <a:cubicBezTo>
                  <a:pt x="8958" y="950351"/>
                  <a:pt x="0" y="941393"/>
                  <a:pt x="0" y="930343"/>
                </a:cubicBezTo>
                <a:lnTo>
                  <a:pt x="0" y="20007"/>
                </a:lnTo>
                <a:cubicBezTo>
                  <a:pt x="0" y="8965"/>
                  <a:pt x="8965" y="0"/>
                  <a:pt x="20007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64" name="Text 62"/>
          <p:cNvSpPr/>
          <p:nvPr/>
        </p:nvSpPr>
        <p:spPr>
          <a:xfrm>
            <a:off x="10400402" y="2710998"/>
            <a:ext cx="50393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→ Departments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400402" y="3061127"/>
            <a:ext cx="50393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Многие-к-одному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240342" y="3661349"/>
            <a:ext cx="5249438" cy="950351"/>
          </a:xfrm>
          <a:custGeom>
            <a:avLst/>
            <a:gdLst/>
            <a:ahLst/>
            <a:cxnLst/>
            <a:rect l="l" t="t" r="r" b="b"/>
            <a:pathLst>
              <a:path w="5249438" h="950351">
                <a:moveTo>
                  <a:pt x="20007" y="0"/>
                </a:moveTo>
                <a:lnTo>
                  <a:pt x="5199421" y="0"/>
                </a:lnTo>
                <a:cubicBezTo>
                  <a:pt x="5227044" y="0"/>
                  <a:pt x="5249438" y="22393"/>
                  <a:pt x="5249438" y="50017"/>
                </a:cubicBezTo>
                <a:lnTo>
                  <a:pt x="5249438" y="900334"/>
                </a:lnTo>
                <a:cubicBezTo>
                  <a:pt x="5249438" y="927957"/>
                  <a:pt x="5227044" y="950351"/>
                  <a:pt x="5199421" y="950351"/>
                </a:cubicBezTo>
                <a:lnTo>
                  <a:pt x="20007" y="950351"/>
                </a:lnTo>
                <a:cubicBezTo>
                  <a:pt x="8958" y="950351"/>
                  <a:pt x="0" y="941393"/>
                  <a:pt x="0" y="930343"/>
                </a:cubicBezTo>
                <a:lnTo>
                  <a:pt x="0" y="20007"/>
                </a:lnTo>
                <a:cubicBezTo>
                  <a:pt x="0" y="8965"/>
                  <a:pt x="8965" y="0"/>
                  <a:pt x="20007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0240342" y="3661349"/>
            <a:ext cx="20007" cy="950351"/>
          </a:xfrm>
          <a:custGeom>
            <a:avLst/>
            <a:gdLst/>
            <a:ahLst/>
            <a:cxnLst/>
            <a:rect l="l" t="t" r="r" b="b"/>
            <a:pathLst>
              <a:path w="20007" h="950351">
                <a:moveTo>
                  <a:pt x="20007" y="0"/>
                </a:moveTo>
                <a:lnTo>
                  <a:pt x="20007" y="0"/>
                </a:lnTo>
                <a:lnTo>
                  <a:pt x="20007" y="950351"/>
                </a:lnTo>
                <a:lnTo>
                  <a:pt x="20007" y="950351"/>
                </a:lnTo>
                <a:cubicBezTo>
                  <a:pt x="8958" y="950351"/>
                  <a:pt x="0" y="941393"/>
                  <a:pt x="0" y="930343"/>
                </a:cubicBezTo>
                <a:lnTo>
                  <a:pt x="0" y="20007"/>
                </a:lnTo>
                <a:cubicBezTo>
                  <a:pt x="0" y="8965"/>
                  <a:pt x="8965" y="0"/>
                  <a:pt x="20007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68" name="Text 66"/>
          <p:cNvSpPr/>
          <p:nvPr/>
        </p:nvSpPr>
        <p:spPr>
          <a:xfrm>
            <a:off x="10400402" y="3811404"/>
            <a:ext cx="50393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 → Users (author)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400402" y="4161534"/>
            <a:ext cx="50393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Многие-к-одному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0240342" y="4761755"/>
            <a:ext cx="5249438" cy="950351"/>
          </a:xfrm>
          <a:custGeom>
            <a:avLst/>
            <a:gdLst/>
            <a:ahLst/>
            <a:cxnLst/>
            <a:rect l="l" t="t" r="r" b="b"/>
            <a:pathLst>
              <a:path w="5249438" h="950351">
                <a:moveTo>
                  <a:pt x="20007" y="0"/>
                </a:moveTo>
                <a:lnTo>
                  <a:pt x="5199421" y="0"/>
                </a:lnTo>
                <a:cubicBezTo>
                  <a:pt x="5227044" y="0"/>
                  <a:pt x="5249438" y="22393"/>
                  <a:pt x="5249438" y="50017"/>
                </a:cubicBezTo>
                <a:lnTo>
                  <a:pt x="5249438" y="900334"/>
                </a:lnTo>
                <a:cubicBezTo>
                  <a:pt x="5249438" y="927957"/>
                  <a:pt x="5227044" y="950351"/>
                  <a:pt x="5199421" y="950351"/>
                </a:cubicBezTo>
                <a:lnTo>
                  <a:pt x="20007" y="950351"/>
                </a:lnTo>
                <a:cubicBezTo>
                  <a:pt x="8958" y="950351"/>
                  <a:pt x="0" y="941393"/>
                  <a:pt x="0" y="930343"/>
                </a:cubicBezTo>
                <a:lnTo>
                  <a:pt x="0" y="20007"/>
                </a:lnTo>
                <a:cubicBezTo>
                  <a:pt x="0" y="8965"/>
                  <a:pt x="8965" y="0"/>
                  <a:pt x="20007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240342" y="4761755"/>
            <a:ext cx="20007" cy="950351"/>
          </a:xfrm>
          <a:custGeom>
            <a:avLst/>
            <a:gdLst/>
            <a:ahLst/>
            <a:cxnLst/>
            <a:rect l="l" t="t" r="r" b="b"/>
            <a:pathLst>
              <a:path w="20007" h="950351">
                <a:moveTo>
                  <a:pt x="20007" y="0"/>
                </a:moveTo>
                <a:lnTo>
                  <a:pt x="20007" y="0"/>
                </a:lnTo>
                <a:lnTo>
                  <a:pt x="20007" y="950351"/>
                </a:lnTo>
                <a:lnTo>
                  <a:pt x="20007" y="950351"/>
                </a:lnTo>
                <a:cubicBezTo>
                  <a:pt x="8958" y="950351"/>
                  <a:pt x="0" y="941393"/>
                  <a:pt x="0" y="930343"/>
                </a:cubicBezTo>
                <a:lnTo>
                  <a:pt x="0" y="20007"/>
                </a:lnTo>
                <a:cubicBezTo>
                  <a:pt x="0" y="8965"/>
                  <a:pt x="8965" y="0"/>
                  <a:pt x="20007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2" name="Text 70"/>
          <p:cNvSpPr/>
          <p:nvPr/>
        </p:nvSpPr>
        <p:spPr>
          <a:xfrm>
            <a:off x="10400402" y="4911810"/>
            <a:ext cx="50393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AuditLog → Users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400402" y="5261940"/>
            <a:ext cx="50393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Многие-к-одному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975244" y="6177275"/>
            <a:ext cx="5774631" cy="2705997"/>
          </a:xfrm>
          <a:custGeom>
            <a:avLst/>
            <a:gdLst/>
            <a:ahLst/>
            <a:cxnLst/>
            <a:rect l="l" t="t" r="r" b="b"/>
            <a:pathLst>
              <a:path w="5774631" h="2961093">
                <a:moveTo>
                  <a:pt x="100026" y="0"/>
                </a:moveTo>
                <a:lnTo>
                  <a:pt x="5674606" y="0"/>
                </a:lnTo>
                <a:cubicBezTo>
                  <a:pt x="5729848" y="0"/>
                  <a:pt x="5774631" y="44783"/>
                  <a:pt x="5774631" y="100026"/>
                </a:cubicBezTo>
                <a:lnTo>
                  <a:pt x="5774631" y="2861067"/>
                </a:lnTo>
                <a:cubicBezTo>
                  <a:pt x="5774631" y="2916310"/>
                  <a:pt x="5729848" y="2961093"/>
                  <a:pt x="5674606" y="2961093"/>
                </a:cubicBezTo>
                <a:lnTo>
                  <a:pt x="100026" y="2961093"/>
                </a:lnTo>
                <a:cubicBezTo>
                  <a:pt x="44783" y="2961093"/>
                  <a:pt x="0" y="2916310"/>
                  <a:pt x="0" y="2861067"/>
                </a:cubicBezTo>
                <a:lnTo>
                  <a:pt x="0" y="100026"/>
                </a:lnTo>
                <a:cubicBezTo>
                  <a:pt x="0" y="44783"/>
                  <a:pt x="44783" y="0"/>
                  <a:pt x="100026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30338" y="6432367"/>
            <a:ext cx="5389489" cy="35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Преимущества модели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0230338" y="6866960"/>
            <a:ext cx="262597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497625" y="6866960"/>
            <a:ext cx="2213317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Нормализация до 3НФ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230338" y="7267108"/>
            <a:ext cx="262597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497625" y="7267108"/>
            <a:ext cx="2500923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Отсутствие избыточности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0230338" y="7667255"/>
            <a:ext cx="262597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497625" y="7667255"/>
            <a:ext cx="2663483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Высокая скорость запросов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0230338" y="8067403"/>
            <a:ext cx="262597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497625" y="8067403"/>
            <a:ext cx="2038252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Целостность данных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0230338" y="8467551"/>
            <a:ext cx="262597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0497625" y="8467551"/>
            <a:ext cx="243840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5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Восстановление истории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473" y="468473"/>
            <a:ext cx="15412749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6" b="1" kern="0" spc="74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ВЕБ-ПРИЛОЖЕНИЯ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8473" y="843251"/>
            <a:ext cx="15494732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Словарь данных сущности Documents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8473" y="1405418"/>
            <a:ext cx="1124334" cy="46847"/>
          </a:xfrm>
          <a:custGeom>
            <a:avLst/>
            <a:gdLst/>
            <a:ahLst/>
            <a:cxnLst/>
            <a:rect l="l" t="t" r="r" b="b"/>
            <a:pathLst>
              <a:path w="1124334" h="46847">
                <a:moveTo>
                  <a:pt x="0" y="0"/>
                </a:moveTo>
                <a:lnTo>
                  <a:pt x="1124334" y="0"/>
                </a:lnTo>
                <a:lnTo>
                  <a:pt x="1124334" y="46847"/>
                </a:lnTo>
                <a:lnTo>
                  <a:pt x="0" y="46847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73157" y="1644339"/>
            <a:ext cx="15316712" cy="7024747"/>
          </a:xfrm>
          <a:custGeom>
            <a:avLst/>
            <a:gdLst/>
            <a:ahLst/>
            <a:cxnLst/>
            <a:rect l="l" t="t" r="r" b="b"/>
            <a:pathLst>
              <a:path w="15316712" h="7024747">
                <a:moveTo>
                  <a:pt x="93710" y="0"/>
                </a:moveTo>
                <a:lnTo>
                  <a:pt x="15223002" y="0"/>
                </a:lnTo>
                <a:cubicBezTo>
                  <a:pt x="15274757" y="0"/>
                  <a:pt x="15316712" y="41955"/>
                  <a:pt x="15316712" y="93710"/>
                </a:cubicBezTo>
                <a:lnTo>
                  <a:pt x="15316712" y="6931037"/>
                </a:lnTo>
                <a:cubicBezTo>
                  <a:pt x="15316712" y="6982792"/>
                  <a:pt x="15274757" y="7024747"/>
                  <a:pt x="15223002" y="7024747"/>
                </a:cubicBezTo>
                <a:lnTo>
                  <a:pt x="93710" y="7024747"/>
                </a:lnTo>
                <a:cubicBezTo>
                  <a:pt x="41955" y="7024747"/>
                  <a:pt x="0" y="6982792"/>
                  <a:pt x="0" y="6931037"/>
                </a:cubicBezTo>
                <a:lnTo>
                  <a:pt x="0" y="93710"/>
                </a:lnTo>
                <a:cubicBezTo>
                  <a:pt x="0" y="41990"/>
                  <a:pt x="41990" y="0"/>
                  <a:pt x="93710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231" y="1836410"/>
            <a:ext cx="15049683" cy="32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4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Описание атрибутов ключевой таблицы системы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5231" y="2304883"/>
          <a:ext cx="14932565" cy="4298238"/>
        </p:xfrm>
        <a:graphic>
          <a:graphicData uri="http://schemas.openxmlformats.org/drawingml/2006/table">
            <a:tbl>
              <a:tblPr/>
              <a:tblGrid>
                <a:gridCol w="1793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4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2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758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Атрибут (Поле)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Тип данных (Django)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Ограничения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Описание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8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BigAutoField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PK, Auto Increment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Уникальный идентификатор записи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8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title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CharField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max_length=200, Not Null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Заголовок документа, краткая суть заявки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8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content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TextField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Null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Полный текст документа или описание заявки неограниченного объёма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8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created_at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DateTimeField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auto_now_add=True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Дата и время создания, фиксируется автоматически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8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updated_at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DateTimeField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auto_now=True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Дата последнего изменения документа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8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CharField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choices=STATUS_CHOICES, default='new'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Текущий статус: Новый/Согласован/Отклонён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8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FileField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upload_to='docs/', Null=True, Blank=True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Путь к файлу на сервере (опционально)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82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author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ForeignKey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on_delete=CASCADE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Ссылка на пользователя-создателя документа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65231" y="6792853"/>
            <a:ext cx="7366732" cy="1311723"/>
          </a:xfrm>
          <a:custGeom>
            <a:avLst/>
            <a:gdLst/>
            <a:ahLst/>
            <a:cxnLst/>
            <a:rect l="l" t="t" r="r" b="b"/>
            <a:pathLst>
              <a:path w="7366732" h="1311723">
                <a:moveTo>
                  <a:pt x="46842" y="0"/>
                </a:moveTo>
                <a:lnTo>
                  <a:pt x="7319890" y="0"/>
                </a:lnTo>
                <a:cubicBezTo>
                  <a:pt x="7345760" y="0"/>
                  <a:pt x="7366732" y="20972"/>
                  <a:pt x="7366732" y="46842"/>
                </a:cubicBezTo>
                <a:lnTo>
                  <a:pt x="7366732" y="1264882"/>
                </a:lnTo>
                <a:cubicBezTo>
                  <a:pt x="7366732" y="1290752"/>
                  <a:pt x="7345760" y="1311723"/>
                  <a:pt x="7319890" y="1311723"/>
                </a:cubicBezTo>
                <a:lnTo>
                  <a:pt x="46842" y="1311723"/>
                </a:lnTo>
                <a:cubicBezTo>
                  <a:pt x="20972" y="1311723"/>
                  <a:pt x="0" y="1290752"/>
                  <a:pt x="0" y="1264882"/>
                </a:cubicBezTo>
                <a:lnTo>
                  <a:pt x="0" y="46842"/>
                </a:lnTo>
                <a:cubicBezTo>
                  <a:pt x="0" y="20989"/>
                  <a:pt x="20989" y="0"/>
                  <a:pt x="46842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52620" y="6980242"/>
            <a:ext cx="7085648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Механизм choices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2620" y="7355020"/>
            <a:ext cx="7085648" cy="562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6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Ограничивает возможные значения статуса строго заданным списком, гарантируя целостность данных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4184" y="6792853"/>
            <a:ext cx="7366732" cy="1311723"/>
          </a:xfrm>
          <a:custGeom>
            <a:avLst/>
            <a:gdLst/>
            <a:ahLst/>
            <a:cxnLst/>
            <a:rect l="l" t="t" r="r" b="b"/>
            <a:pathLst>
              <a:path w="7366732" h="1311723">
                <a:moveTo>
                  <a:pt x="46842" y="0"/>
                </a:moveTo>
                <a:lnTo>
                  <a:pt x="7319890" y="0"/>
                </a:lnTo>
                <a:cubicBezTo>
                  <a:pt x="7345760" y="0"/>
                  <a:pt x="7366732" y="20972"/>
                  <a:pt x="7366732" y="46842"/>
                </a:cubicBezTo>
                <a:lnTo>
                  <a:pt x="7366732" y="1264882"/>
                </a:lnTo>
                <a:cubicBezTo>
                  <a:pt x="7366732" y="1290752"/>
                  <a:pt x="7345760" y="1311723"/>
                  <a:pt x="7319890" y="1311723"/>
                </a:cubicBezTo>
                <a:lnTo>
                  <a:pt x="46842" y="1311723"/>
                </a:lnTo>
                <a:cubicBezTo>
                  <a:pt x="20972" y="1311723"/>
                  <a:pt x="0" y="1290752"/>
                  <a:pt x="0" y="1264882"/>
                </a:cubicBezTo>
                <a:lnTo>
                  <a:pt x="0" y="46842"/>
                </a:lnTo>
                <a:cubicBezTo>
                  <a:pt x="0" y="20989"/>
                  <a:pt x="20989" y="0"/>
                  <a:pt x="46842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411573" y="6980242"/>
            <a:ext cx="7085648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6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ForeignKey связь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11573" y="7355020"/>
            <a:ext cx="7085648" cy="562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6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Обеспечивает ссылочную целостность на уровне СУБД с каскадным удалением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ВЕБ-ПРИЛОЖЕНИЯ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5680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MVT и структура проекта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270000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0" y="0"/>
                </a:moveTo>
                <a:lnTo>
                  <a:pt x="1016000" y="0"/>
                </a:lnTo>
                <a:lnTo>
                  <a:pt x="1016000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44500" y="1481667"/>
            <a:ext cx="7577667" cy="7351693"/>
          </a:xfrm>
          <a:custGeom>
            <a:avLst/>
            <a:gdLst/>
            <a:ahLst/>
            <a:cxnLst/>
            <a:rect l="l" t="t" r="r" b="b"/>
            <a:pathLst>
              <a:path w="7577667" h="8043333">
                <a:moveTo>
                  <a:pt x="42333" y="0"/>
                </a:moveTo>
                <a:lnTo>
                  <a:pt x="7493024" y="0"/>
                </a:lnTo>
                <a:cubicBezTo>
                  <a:pt x="7539771" y="0"/>
                  <a:pt x="7577667" y="37896"/>
                  <a:pt x="7577667" y="84643"/>
                </a:cubicBezTo>
                <a:lnTo>
                  <a:pt x="7577667" y="7958691"/>
                </a:lnTo>
                <a:cubicBezTo>
                  <a:pt x="7577667" y="8005438"/>
                  <a:pt x="7539771" y="8043333"/>
                  <a:pt x="7493024" y="8043333"/>
                </a:cubicBezTo>
                <a:lnTo>
                  <a:pt x="42333" y="8043333"/>
                </a:lnTo>
                <a:cubicBezTo>
                  <a:pt x="18953" y="8043333"/>
                  <a:pt x="0" y="8024380"/>
                  <a:pt x="0" y="800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44500" y="1481667"/>
            <a:ext cx="45719" cy="7351693"/>
          </a:xfrm>
          <a:custGeom>
            <a:avLst/>
            <a:gdLst/>
            <a:ahLst/>
            <a:cxnLst/>
            <a:rect l="l" t="t" r="r" b="b"/>
            <a:pathLst>
              <a:path w="42333" h="8043333">
                <a:moveTo>
                  <a:pt x="42333" y="0"/>
                </a:moveTo>
                <a:lnTo>
                  <a:pt x="42333" y="0"/>
                </a:lnTo>
                <a:lnTo>
                  <a:pt x="42333" y="8043333"/>
                </a:lnTo>
                <a:lnTo>
                  <a:pt x="42333" y="8043333"/>
                </a:lnTo>
                <a:cubicBezTo>
                  <a:pt x="18953" y="8043333"/>
                  <a:pt x="0" y="8024380"/>
                  <a:pt x="0" y="800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677333" y="1693333"/>
            <a:ext cx="7239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Паттерн MVT (Model-View-Template)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7333" y="2159000"/>
            <a:ext cx="721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Вариация классического MVC, используемая в Django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1567" y="2960061"/>
            <a:ext cx="7120467" cy="1109133"/>
          </a:xfrm>
          <a:custGeom>
            <a:avLst/>
            <a:gdLst/>
            <a:ahLst/>
            <a:cxnLst/>
            <a:rect l="l" t="t" r="r" b="b"/>
            <a:pathLst>
              <a:path w="7120467" h="1109133">
                <a:moveTo>
                  <a:pt x="84671" y="0"/>
                </a:moveTo>
                <a:lnTo>
                  <a:pt x="7035795" y="0"/>
                </a:lnTo>
                <a:cubicBezTo>
                  <a:pt x="7082558" y="0"/>
                  <a:pt x="7120467" y="37909"/>
                  <a:pt x="7120467" y="84671"/>
                </a:cubicBezTo>
                <a:lnTo>
                  <a:pt x="7120467" y="1024462"/>
                </a:lnTo>
                <a:cubicBezTo>
                  <a:pt x="7120467" y="1071225"/>
                  <a:pt x="7082558" y="1109133"/>
                  <a:pt x="7035795" y="1109133"/>
                </a:cubicBezTo>
                <a:lnTo>
                  <a:pt x="84671" y="1109133"/>
                </a:lnTo>
                <a:cubicBezTo>
                  <a:pt x="37909" y="1109133"/>
                  <a:pt x="0" y="1071225"/>
                  <a:pt x="0" y="1024462"/>
                </a:cubicBezTo>
                <a:lnTo>
                  <a:pt x="0" y="84671"/>
                </a:lnTo>
                <a:cubicBezTo>
                  <a:pt x="0" y="37909"/>
                  <a:pt x="37909" y="0"/>
                  <a:pt x="84671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800" y="309129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1" name="Text 9"/>
          <p:cNvSpPr/>
          <p:nvPr/>
        </p:nvSpPr>
        <p:spPr>
          <a:xfrm>
            <a:off x="759883" y="3091292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0133" y="3091292"/>
            <a:ext cx="6275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0133" y="3429959"/>
            <a:ext cx="6265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Описывает структуру данных и правила валидации. Инкапсулирует доступ к данным и бизнес-логику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7333" y="5215464"/>
            <a:ext cx="7133167" cy="1100667"/>
          </a:xfrm>
          <a:custGeom>
            <a:avLst/>
            <a:gdLst/>
            <a:ahLst/>
            <a:cxnLst/>
            <a:rect l="l" t="t" r="r" b="b"/>
            <a:pathLst>
              <a:path w="7133167" h="1100667">
                <a:moveTo>
                  <a:pt x="42332" y="0"/>
                </a:moveTo>
                <a:lnTo>
                  <a:pt x="7090835" y="0"/>
                </a:lnTo>
                <a:cubicBezTo>
                  <a:pt x="7114214" y="0"/>
                  <a:pt x="7133167" y="18953"/>
                  <a:pt x="7133167" y="42332"/>
                </a:cubicBezTo>
                <a:lnTo>
                  <a:pt x="7133167" y="1058335"/>
                </a:lnTo>
                <a:cubicBezTo>
                  <a:pt x="7133167" y="1081714"/>
                  <a:pt x="7114214" y="1100667"/>
                  <a:pt x="7090835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4333" y="5342464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51417" y="5342464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667" y="5342464"/>
            <a:ext cx="6297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667" y="5681131"/>
            <a:ext cx="628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Содержит бизнес-логику приложения. Обрабатывает HTTP-запросы, обращается к Model, передаёт данные в Template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1567" y="7242999"/>
            <a:ext cx="7133167" cy="1100667"/>
          </a:xfrm>
          <a:custGeom>
            <a:avLst/>
            <a:gdLst/>
            <a:ahLst/>
            <a:cxnLst/>
            <a:rect l="l" t="t" r="r" b="b"/>
            <a:pathLst>
              <a:path w="7133167" h="1100667">
                <a:moveTo>
                  <a:pt x="42332" y="0"/>
                </a:moveTo>
                <a:lnTo>
                  <a:pt x="7090835" y="0"/>
                </a:lnTo>
                <a:cubicBezTo>
                  <a:pt x="7114214" y="0"/>
                  <a:pt x="7133167" y="18953"/>
                  <a:pt x="7133167" y="42332"/>
                </a:cubicBezTo>
                <a:lnTo>
                  <a:pt x="7133167" y="1058335"/>
                </a:lnTo>
                <a:cubicBezTo>
                  <a:pt x="7133167" y="1081714"/>
                  <a:pt x="7114214" y="1100667"/>
                  <a:pt x="7090835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8567" y="736999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55651" y="7369999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5901" y="7369999"/>
            <a:ext cx="6297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Template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85901" y="7708665"/>
            <a:ext cx="6286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HTML-файлы с вставками тегов Django. Формирует итоговую страницу для пользователя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38067" y="1485900"/>
            <a:ext cx="7586133" cy="5687410"/>
          </a:xfrm>
          <a:custGeom>
            <a:avLst/>
            <a:gdLst/>
            <a:ahLst/>
            <a:cxnLst/>
            <a:rect l="l" t="t" r="r" b="b"/>
            <a:pathLst>
              <a:path w="7586133" h="6443133">
                <a:moveTo>
                  <a:pt x="84663" y="0"/>
                </a:moveTo>
                <a:lnTo>
                  <a:pt x="7501471" y="0"/>
                </a:lnTo>
                <a:cubicBezTo>
                  <a:pt x="7548229" y="0"/>
                  <a:pt x="7586133" y="37905"/>
                  <a:pt x="7586133" y="84663"/>
                </a:cubicBezTo>
                <a:lnTo>
                  <a:pt x="7586133" y="6358471"/>
                </a:lnTo>
                <a:cubicBezTo>
                  <a:pt x="7586133" y="6405229"/>
                  <a:pt x="7548229" y="6443133"/>
                  <a:pt x="7501471" y="6443133"/>
                </a:cubicBezTo>
                <a:lnTo>
                  <a:pt x="84663" y="6443133"/>
                </a:lnTo>
                <a:cubicBezTo>
                  <a:pt x="37905" y="6443133"/>
                  <a:pt x="0" y="6405229"/>
                  <a:pt x="0" y="6358471"/>
                </a:cubicBezTo>
                <a:lnTo>
                  <a:pt x="0" y="84663"/>
                </a:lnTo>
                <a:cubicBezTo>
                  <a:pt x="0" y="37936"/>
                  <a:pt x="37936" y="0"/>
                  <a:pt x="84663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3967" y="1701798"/>
            <a:ext cx="7260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Модульная структура проекта DocFlowSystem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62433" y="2167465"/>
            <a:ext cx="7152217" cy="762000"/>
          </a:xfrm>
          <a:custGeom>
            <a:avLst/>
            <a:gdLst/>
            <a:ahLst/>
            <a:cxnLst/>
            <a:rect l="l" t="t" r="r" b="b"/>
            <a:pathLst>
              <a:path w="7152217" h="762000">
                <a:moveTo>
                  <a:pt x="16933" y="0"/>
                </a:moveTo>
                <a:lnTo>
                  <a:pt x="7109880" y="0"/>
                </a:lnTo>
                <a:cubicBezTo>
                  <a:pt x="7133262" y="0"/>
                  <a:pt x="7152217" y="18955"/>
                  <a:pt x="7152217" y="42337"/>
                </a:cubicBezTo>
                <a:lnTo>
                  <a:pt x="7152217" y="719663"/>
                </a:lnTo>
                <a:cubicBezTo>
                  <a:pt x="7152217" y="743045"/>
                  <a:pt x="7133262" y="762000"/>
                  <a:pt x="7109880" y="762000"/>
                </a:cubicBezTo>
                <a:lnTo>
                  <a:pt x="16933" y="762000"/>
                </a:lnTo>
                <a:cubicBezTo>
                  <a:pt x="7581" y="762000"/>
                  <a:pt x="0" y="754419"/>
                  <a:pt x="0" y="745067"/>
                </a:cubicBezTo>
                <a:lnTo>
                  <a:pt x="0" y="16933"/>
                </a:lnTo>
                <a:cubicBezTo>
                  <a:pt x="0" y="7581"/>
                  <a:pt x="7581" y="0"/>
                  <a:pt x="16933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62433" y="2167465"/>
            <a:ext cx="16933" cy="762000"/>
          </a:xfrm>
          <a:custGeom>
            <a:avLst/>
            <a:gdLst/>
            <a:ahLst/>
            <a:cxnLst/>
            <a:rect l="l" t="t" r="r" b="b"/>
            <a:pathLst>
              <a:path w="16933" h="762000">
                <a:moveTo>
                  <a:pt x="16933" y="0"/>
                </a:moveTo>
                <a:lnTo>
                  <a:pt x="16933" y="0"/>
                </a:lnTo>
                <a:lnTo>
                  <a:pt x="16933" y="762000"/>
                </a:lnTo>
                <a:lnTo>
                  <a:pt x="16933" y="762000"/>
                </a:lnTo>
                <a:cubicBezTo>
                  <a:pt x="7581" y="762000"/>
                  <a:pt x="0" y="754419"/>
                  <a:pt x="0" y="745067"/>
                </a:cubicBezTo>
                <a:lnTo>
                  <a:pt x="0" y="16933"/>
                </a:lnTo>
                <a:cubicBezTo>
                  <a:pt x="0" y="7588"/>
                  <a:pt x="7588" y="0"/>
                  <a:pt x="1693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8597900" y="2294465"/>
            <a:ext cx="697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7900" y="2548465"/>
            <a:ext cx="697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Регистрация и управление профилями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62433" y="3014131"/>
            <a:ext cx="7152217" cy="762000"/>
          </a:xfrm>
          <a:custGeom>
            <a:avLst/>
            <a:gdLst/>
            <a:ahLst/>
            <a:cxnLst/>
            <a:rect l="l" t="t" r="r" b="b"/>
            <a:pathLst>
              <a:path w="7152217" h="762000">
                <a:moveTo>
                  <a:pt x="16933" y="0"/>
                </a:moveTo>
                <a:lnTo>
                  <a:pt x="7109880" y="0"/>
                </a:lnTo>
                <a:cubicBezTo>
                  <a:pt x="7133262" y="0"/>
                  <a:pt x="7152217" y="18955"/>
                  <a:pt x="7152217" y="42337"/>
                </a:cubicBezTo>
                <a:lnTo>
                  <a:pt x="7152217" y="719663"/>
                </a:lnTo>
                <a:cubicBezTo>
                  <a:pt x="7152217" y="743045"/>
                  <a:pt x="7133262" y="762000"/>
                  <a:pt x="7109880" y="762000"/>
                </a:cubicBezTo>
                <a:lnTo>
                  <a:pt x="16933" y="762000"/>
                </a:lnTo>
                <a:cubicBezTo>
                  <a:pt x="7581" y="762000"/>
                  <a:pt x="0" y="754419"/>
                  <a:pt x="0" y="745067"/>
                </a:cubicBezTo>
                <a:lnTo>
                  <a:pt x="0" y="16933"/>
                </a:lnTo>
                <a:cubicBezTo>
                  <a:pt x="0" y="7581"/>
                  <a:pt x="7581" y="0"/>
                  <a:pt x="16933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62433" y="3014131"/>
            <a:ext cx="16933" cy="762000"/>
          </a:xfrm>
          <a:custGeom>
            <a:avLst/>
            <a:gdLst/>
            <a:ahLst/>
            <a:cxnLst/>
            <a:rect l="l" t="t" r="r" b="b"/>
            <a:pathLst>
              <a:path w="16933" h="762000">
                <a:moveTo>
                  <a:pt x="16933" y="0"/>
                </a:moveTo>
                <a:lnTo>
                  <a:pt x="16933" y="0"/>
                </a:lnTo>
                <a:lnTo>
                  <a:pt x="16933" y="762000"/>
                </a:lnTo>
                <a:lnTo>
                  <a:pt x="16933" y="762000"/>
                </a:lnTo>
                <a:cubicBezTo>
                  <a:pt x="7581" y="762000"/>
                  <a:pt x="0" y="754419"/>
                  <a:pt x="0" y="745067"/>
                </a:cubicBezTo>
                <a:lnTo>
                  <a:pt x="0" y="16933"/>
                </a:lnTo>
                <a:cubicBezTo>
                  <a:pt x="0" y="7588"/>
                  <a:pt x="7588" y="0"/>
                  <a:pt x="1693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2" name="Text 30"/>
          <p:cNvSpPr/>
          <p:nvPr/>
        </p:nvSpPr>
        <p:spPr>
          <a:xfrm>
            <a:off x="8597900" y="3141131"/>
            <a:ext cx="697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97900" y="3395131"/>
            <a:ext cx="6974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Бизнес-логика документооборота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53967" y="3860798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42337" y="0"/>
                </a:moveTo>
                <a:lnTo>
                  <a:pt x="7111997" y="0"/>
                </a:lnTo>
                <a:cubicBezTo>
                  <a:pt x="7135379" y="0"/>
                  <a:pt x="7154333" y="18955"/>
                  <a:pt x="7154333" y="42337"/>
                </a:cubicBezTo>
                <a:lnTo>
                  <a:pt x="7154333" y="719663"/>
                </a:lnTo>
                <a:cubicBezTo>
                  <a:pt x="7154333" y="743045"/>
                  <a:pt x="7135379" y="762000"/>
                  <a:pt x="7111997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580967" y="3987798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80967" y="4241798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Служебные компоненты и базовые шаблоны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53967" y="4707465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42337" y="0"/>
                </a:moveTo>
                <a:lnTo>
                  <a:pt x="7111997" y="0"/>
                </a:lnTo>
                <a:cubicBezTo>
                  <a:pt x="7135379" y="0"/>
                  <a:pt x="7154333" y="18955"/>
                  <a:pt x="7154333" y="42337"/>
                </a:cubicBezTo>
                <a:lnTo>
                  <a:pt x="7154333" y="719663"/>
                </a:lnTo>
                <a:cubicBezTo>
                  <a:pt x="7154333" y="743045"/>
                  <a:pt x="7135379" y="762000"/>
                  <a:pt x="7111997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580967" y="4834465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80967" y="5088465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HTML-шаблоны страниц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53967" y="5554131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42337" y="0"/>
                </a:moveTo>
                <a:lnTo>
                  <a:pt x="7111997" y="0"/>
                </a:lnTo>
                <a:cubicBezTo>
                  <a:pt x="7135379" y="0"/>
                  <a:pt x="7154333" y="18955"/>
                  <a:pt x="7154333" y="42337"/>
                </a:cubicBezTo>
                <a:lnTo>
                  <a:pt x="7154333" y="719663"/>
                </a:lnTo>
                <a:cubicBezTo>
                  <a:pt x="7154333" y="743045"/>
                  <a:pt x="7135379" y="762000"/>
                  <a:pt x="7111997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580967" y="5681131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80967" y="5935131"/>
            <a:ext cx="698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Стили, скрипты, изображения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38067" y="7427893"/>
            <a:ext cx="7586133" cy="1405467"/>
          </a:xfrm>
          <a:custGeom>
            <a:avLst/>
            <a:gdLst/>
            <a:ahLst/>
            <a:cxnLst/>
            <a:rect l="l" t="t" r="r" b="b"/>
            <a:pathLst>
              <a:path w="7586133" h="1405467">
                <a:moveTo>
                  <a:pt x="84665" y="0"/>
                </a:moveTo>
                <a:lnTo>
                  <a:pt x="7501468" y="0"/>
                </a:lnTo>
                <a:cubicBezTo>
                  <a:pt x="7548227" y="0"/>
                  <a:pt x="7586133" y="37906"/>
                  <a:pt x="7586133" y="84665"/>
                </a:cubicBezTo>
                <a:lnTo>
                  <a:pt x="7586133" y="1320801"/>
                </a:lnTo>
                <a:cubicBezTo>
                  <a:pt x="7586133" y="1367561"/>
                  <a:pt x="7548227" y="1405467"/>
                  <a:pt x="7501468" y="1405467"/>
                </a:cubicBezTo>
                <a:lnTo>
                  <a:pt x="84665" y="1405467"/>
                </a:lnTo>
                <a:cubicBezTo>
                  <a:pt x="37906" y="1405467"/>
                  <a:pt x="0" y="1367561"/>
                  <a:pt x="0" y="1320801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1633" y="7601457"/>
            <a:ext cx="7344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Конфигурационные файлы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11633" y="8024791"/>
            <a:ext cx="2360083" cy="635000"/>
          </a:xfrm>
          <a:custGeom>
            <a:avLst/>
            <a:gdLst/>
            <a:ahLst/>
            <a:cxnLst/>
            <a:rect l="l" t="t" r="r" b="b"/>
            <a:pathLst>
              <a:path w="2360083" h="635000">
                <a:moveTo>
                  <a:pt x="42335" y="0"/>
                </a:moveTo>
                <a:lnTo>
                  <a:pt x="2317748" y="0"/>
                </a:lnTo>
                <a:cubicBezTo>
                  <a:pt x="2341129" y="0"/>
                  <a:pt x="2360083" y="18954"/>
                  <a:pt x="2360083" y="42335"/>
                </a:cubicBezTo>
                <a:lnTo>
                  <a:pt x="2360083" y="592665"/>
                </a:lnTo>
                <a:cubicBezTo>
                  <a:pt x="2360083" y="616046"/>
                  <a:pt x="2341129" y="635000"/>
                  <a:pt x="2317748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53967" y="8109457"/>
            <a:ext cx="2275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manage.py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59258" y="8363457"/>
            <a:ext cx="2264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проектом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854266" y="8024791"/>
            <a:ext cx="2360083" cy="635000"/>
          </a:xfrm>
          <a:custGeom>
            <a:avLst/>
            <a:gdLst/>
            <a:ahLst/>
            <a:cxnLst/>
            <a:rect l="l" t="t" r="r" b="b"/>
            <a:pathLst>
              <a:path w="2360083" h="635000">
                <a:moveTo>
                  <a:pt x="42335" y="0"/>
                </a:moveTo>
                <a:lnTo>
                  <a:pt x="2317748" y="0"/>
                </a:lnTo>
                <a:cubicBezTo>
                  <a:pt x="2341129" y="0"/>
                  <a:pt x="2360083" y="18954"/>
                  <a:pt x="2360083" y="42335"/>
                </a:cubicBezTo>
                <a:lnTo>
                  <a:pt x="2360083" y="592665"/>
                </a:lnTo>
                <a:cubicBezTo>
                  <a:pt x="2360083" y="616046"/>
                  <a:pt x="2341129" y="635000"/>
                  <a:pt x="2317748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896600" y="8109457"/>
            <a:ext cx="2275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settings.py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01891" y="8363457"/>
            <a:ext cx="2264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Конфигурация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3296900" y="8024791"/>
            <a:ext cx="2360083" cy="635000"/>
          </a:xfrm>
          <a:custGeom>
            <a:avLst/>
            <a:gdLst/>
            <a:ahLst/>
            <a:cxnLst/>
            <a:rect l="l" t="t" r="r" b="b"/>
            <a:pathLst>
              <a:path w="2360083" h="635000">
                <a:moveTo>
                  <a:pt x="42335" y="0"/>
                </a:moveTo>
                <a:lnTo>
                  <a:pt x="2317748" y="0"/>
                </a:lnTo>
                <a:cubicBezTo>
                  <a:pt x="2341129" y="0"/>
                  <a:pt x="2360083" y="18954"/>
                  <a:pt x="2360083" y="42335"/>
                </a:cubicBezTo>
                <a:lnTo>
                  <a:pt x="2360083" y="592665"/>
                </a:lnTo>
                <a:cubicBezTo>
                  <a:pt x="2360083" y="616046"/>
                  <a:pt x="2341129" y="635000"/>
                  <a:pt x="2317748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3339234" y="8109457"/>
            <a:ext cx="2275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urls.py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344525" y="8363457"/>
            <a:ext cx="2264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Маршрутизация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4500" y="9690106"/>
            <a:ext cx="15388167" cy="846667"/>
          </a:xfrm>
          <a:custGeom>
            <a:avLst/>
            <a:gdLst/>
            <a:ahLst/>
            <a:cxnLst/>
            <a:rect l="l" t="t" r="r" b="b"/>
            <a:pathLst>
              <a:path w="15388167" h="846667">
                <a:moveTo>
                  <a:pt x="42333" y="0"/>
                </a:moveTo>
                <a:lnTo>
                  <a:pt x="15303500" y="0"/>
                </a:lnTo>
                <a:cubicBezTo>
                  <a:pt x="15350260" y="0"/>
                  <a:pt x="15388167" y="37907"/>
                  <a:pt x="15388167" y="84667"/>
                </a:cubicBezTo>
                <a:lnTo>
                  <a:pt x="15388167" y="762000"/>
                </a:lnTo>
                <a:cubicBezTo>
                  <a:pt x="15388167" y="808760"/>
                  <a:pt x="15350260" y="846667"/>
                  <a:pt x="15303500" y="846667"/>
                </a:cubicBez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44500" y="9690106"/>
            <a:ext cx="42333" cy="846667"/>
          </a:xfrm>
          <a:custGeom>
            <a:avLst/>
            <a:gdLst/>
            <a:ahLst/>
            <a:cxnLst/>
            <a:rect l="l" t="t" r="r" b="b"/>
            <a:pathLst>
              <a:path w="42333" h="846667">
                <a:moveTo>
                  <a:pt x="42333" y="0"/>
                </a:moveTo>
                <a:lnTo>
                  <a:pt x="42333" y="0"/>
                </a:lnTo>
                <a:lnTo>
                  <a:pt x="42333" y="846667"/>
                </a:ln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6" name="Text 54"/>
          <p:cNvSpPr/>
          <p:nvPr/>
        </p:nvSpPr>
        <p:spPr>
          <a:xfrm>
            <a:off x="635000" y="9859440"/>
            <a:ext cx="151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Преимущества архитектуры:</a:t>
            </a:r>
            <a:r>
              <a:rPr lang="en-US" sz="1333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Модульность обеспечивает низкую связность компонентов (Low Coupling), что позволяет легко масштабировать систему, добавляя новые модули (например, «Отчётность») без переписывания существующего кода. Разделение ответственности между Model, View и Template упрощает поддержку и развитие приложения.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2444202"/>
            <a:ext cx="2095500" cy="711200"/>
          </a:xfrm>
          <a:custGeom>
            <a:avLst/>
            <a:gdLst/>
            <a:ahLst/>
            <a:cxnLst/>
            <a:rect l="l" t="t" r="r" b="b"/>
            <a:pathLst>
              <a:path w="2095500" h="711200">
                <a:moveTo>
                  <a:pt x="50801" y="0"/>
                </a:moveTo>
                <a:lnTo>
                  <a:pt x="2044699" y="0"/>
                </a:lnTo>
                <a:cubicBezTo>
                  <a:pt x="2072756" y="0"/>
                  <a:pt x="2095500" y="22744"/>
                  <a:pt x="2095500" y="50801"/>
                </a:cubicBezTo>
                <a:lnTo>
                  <a:pt x="2095500" y="660399"/>
                </a:lnTo>
                <a:cubicBezTo>
                  <a:pt x="2095500" y="688456"/>
                  <a:pt x="2072756" y="711200"/>
                  <a:pt x="20446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2444202"/>
            <a:ext cx="2247900" cy="711200"/>
          </a:xfrm>
          <a:prstGeom prst="rect">
            <a:avLst/>
          </a:prstGeom>
          <a:noFill/>
          <a:ln/>
        </p:spPr>
        <p:txBody>
          <a:bodyPr wrap="square" lIns="406400" tIns="152400" rIns="406400" bIns="15240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ГЛАВА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314414"/>
            <a:ext cx="10210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7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Т</a:t>
            </a:r>
            <a:r>
              <a:rPr lang="en-US" sz="7200" b="1" dirty="0" err="1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естирование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014694"/>
            <a:ext cx="2438400" cy="45719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471894"/>
            <a:ext cx="99441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Серверная часть, пользовательский интерфейс и функциональное тестирование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282" y="474282"/>
            <a:ext cx="1540229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1494" b="1" kern="0" spc="75" dirty="0">
                <a:solidFill>
                  <a:srgbClr val="EAEAEA"/>
                </a:solidFill>
              </a:rPr>
              <a:t>ТЕСТИРОВАНИЕ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4282" y="853707"/>
            <a:ext cx="15485292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1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Функциональное тестирование системы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4282" y="1422845"/>
            <a:ext cx="1138276" cy="47428"/>
          </a:xfrm>
          <a:custGeom>
            <a:avLst/>
            <a:gdLst/>
            <a:ahLst/>
            <a:cxnLst/>
            <a:rect l="l" t="t" r="r" b="b"/>
            <a:pathLst>
              <a:path w="1138276" h="47428">
                <a:moveTo>
                  <a:pt x="0" y="0"/>
                </a:moveTo>
                <a:lnTo>
                  <a:pt x="1138276" y="0"/>
                </a:lnTo>
                <a:lnTo>
                  <a:pt x="1138276" y="47428"/>
                </a:lnTo>
                <a:lnTo>
                  <a:pt x="0" y="47428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479024" y="1664728"/>
            <a:ext cx="15293208" cy="6993281"/>
          </a:xfrm>
          <a:custGeom>
            <a:avLst/>
            <a:gdLst/>
            <a:ahLst/>
            <a:cxnLst/>
            <a:rect l="l" t="t" r="r" b="b"/>
            <a:pathLst>
              <a:path w="15293208" h="6993281">
                <a:moveTo>
                  <a:pt x="94829" y="0"/>
                </a:moveTo>
                <a:lnTo>
                  <a:pt x="15198380" y="0"/>
                </a:lnTo>
                <a:cubicBezTo>
                  <a:pt x="15250752" y="0"/>
                  <a:pt x="15293208" y="42456"/>
                  <a:pt x="15293208" y="94829"/>
                </a:cubicBezTo>
                <a:lnTo>
                  <a:pt x="15293208" y="6898453"/>
                </a:lnTo>
                <a:cubicBezTo>
                  <a:pt x="15293208" y="6950825"/>
                  <a:pt x="15250752" y="6993281"/>
                  <a:pt x="15198380" y="6993281"/>
                </a:cubicBezTo>
                <a:lnTo>
                  <a:pt x="94829" y="6993281"/>
                </a:lnTo>
                <a:cubicBezTo>
                  <a:pt x="42456" y="6993281"/>
                  <a:pt x="0" y="6950825"/>
                  <a:pt x="0" y="6898453"/>
                </a:cubicBezTo>
                <a:lnTo>
                  <a:pt x="0" y="94829"/>
                </a:lnTo>
                <a:cubicBezTo>
                  <a:pt x="0" y="42491"/>
                  <a:pt x="42491" y="0"/>
                  <a:pt x="94829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480" y="1859193"/>
            <a:ext cx="15022868" cy="331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7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Результаты ручного тестирования основных сценариев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480" y="2333474"/>
          <a:ext cx="14904297" cy="3675679"/>
        </p:xfrm>
        <a:graphic>
          <a:graphicData uri="http://schemas.openxmlformats.org/drawingml/2006/table">
            <a:tbl>
              <a:tblPr/>
              <a:tblGrid>
                <a:gridCol w="56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51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82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Сценарий проверки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Ожидаемый результат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Фактический результат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Статус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Авторизация администратора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Перенаправление на главную, отображение логина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Успешный вход, имя admin в шапке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Успех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Создание документа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Новая запись в таблице со статусом «На согласовании»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Запись создана и отображается корректно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Успех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Валидация формы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Браузер блокирует отправку пустой формы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Появилось сообщение «Заполните это поле»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Успех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Согласование документа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Статус меняется на «Согласовано», кнопки исчезают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Статус обновлён, интерфейс заблокирован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Успех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Отклонение документа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Статус меняется на «Отклонено»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Статус обновлён корректно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Успех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AEAE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Безопасность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Редирект на страницу логина при попытке прямого доступа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Сработал редирект на /login/?next=/create/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Успех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73480" y="6740661"/>
            <a:ext cx="4837672" cy="1565129"/>
          </a:xfrm>
          <a:custGeom>
            <a:avLst/>
            <a:gdLst/>
            <a:ahLst/>
            <a:cxnLst/>
            <a:rect l="l" t="t" r="r" b="b"/>
            <a:pathLst>
              <a:path w="4837672" h="1565129">
                <a:moveTo>
                  <a:pt x="47423" y="0"/>
                </a:moveTo>
                <a:lnTo>
                  <a:pt x="4790248" y="0"/>
                </a:lnTo>
                <a:cubicBezTo>
                  <a:pt x="4816440" y="0"/>
                  <a:pt x="4837672" y="21232"/>
                  <a:pt x="4837672" y="47423"/>
                </a:cubicBezTo>
                <a:lnTo>
                  <a:pt x="4837672" y="1517706"/>
                </a:lnTo>
                <a:cubicBezTo>
                  <a:pt x="4837672" y="1543897"/>
                  <a:pt x="4816440" y="1565129"/>
                  <a:pt x="4790248" y="1565129"/>
                </a:cubicBezTo>
                <a:lnTo>
                  <a:pt x="47423" y="1565129"/>
                </a:lnTo>
                <a:cubicBezTo>
                  <a:pt x="21232" y="1565129"/>
                  <a:pt x="0" y="1543897"/>
                  <a:pt x="0" y="1517706"/>
                </a:cubicBezTo>
                <a:lnTo>
                  <a:pt x="0" y="47423"/>
                </a:lnTo>
                <a:cubicBezTo>
                  <a:pt x="0" y="21250"/>
                  <a:pt x="21250" y="0"/>
                  <a:pt x="47423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15764" y="6930373"/>
            <a:ext cx="455310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94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тесты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6479" y="7309798"/>
            <a:ext cx="4671673" cy="47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61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6/6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5764" y="7831508"/>
            <a:ext cx="455310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94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Пройдены успешно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05014" y="6740661"/>
            <a:ext cx="4837672" cy="1565129"/>
          </a:xfrm>
          <a:custGeom>
            <a:avLst/>
            <a:gdLst/>
            <a:ahLst/>
            <a:cxnLst/>
            <a:rect l="l" t="t" r="r" b="b"/>
            <a:pathLst>
              <a:path w="4837672" h="1565129">
                <a:moveTo>
                  <a:pt x="47423" y="0"/>
                </a:moveTo>
                <a:lnTo>
                  <a:pt x="4790248" y="0"/>
                </a:lnTo>
                <a:cubicBezTo>
                  <a:pt x="4816440" y="0"/>
                  <a:pt x="4837672" y="21232"/>
                  <a:pt x="4837672" y="47423"/>
                </a:cubicBezTo>
                <a:lnTo>
                  <a:pt x="4837672" y="1517706"/>
                </a:lnTo>
                <a:cubicBezTo>
                  <a:pt x="4837672" y="1543897"/>
                  <a:pt x="4816440" y="1565129"/>
                  <a:pt x="4790248" y="1565129"/>
                </a:cubicBezTo>
                <a:lnTo>
                  <a:pt x="47423" y="1565129"/>
                </a:lnTo>
                <a:cubicBezTo>
                  <a:pt x="21232" y="1565129"/>
                  <a:pt x="0" y="1543897"/>
                  <a:pt x="0" y="1517706"/>
                </a:cubicBezTo>
                <a:lnTo>
                  <a:pt x="0" y="47423"/>
                </a:lnTo>
                <a:cubicBezTo>
                  <a:pt x="0" y="21250"/>
                  <a:pt x="21250" y="0"/>
                  <a:pt x="47423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847299" y="6930373"/>
            <a:ext cx="455310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94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Время отклика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88013" y="7309798"/>
            <a:ext cx="4671673" cy="47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61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47299" y="7831508"/>
            <a:ext cx="455310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94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миллисекунд (локально)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736549" y="6740661"/>
            <a:ext cx="4837672" cy="1565129"/>
          </a:xfrm>
          <a:custGeom>
            <a:avLst/>
            <a:gdLst/>
            <a:ahLst/>
            <a:cxnLst/>
            <a:rect l="l" t="t" r="r" b="b"/>
            <a:pathLst>
              <a:path w="4837672" h="1565129">
                <a:moveTo>
                  <a:pt x="47423" y="0"/>
                </a:moveTo>
                <a:lnTo>
                  <a:pt x="4790248" y="0"/>
                </a:lnTo>
                <a:cubicBezTo>
                  <a:pt x="4816440" y="0"/>
                  <a:pt x="4837672" y="21232"/>
                  <a:pt x="4837672" y="47423"/>
                </a:cubicBezTo>
                <a:lnTo>
                  <a:pt x="4837672" y="1517706"/>
                </a:lnTo>
                <a:cubicBezTo>
                  <a:pt x="4837672" y="1543897"/>
                  <a:pt x="4816440" y="1565129"/>
                  <a:pt x="4790248" y="1565129"/>
                </a:cubicBezTo>
                <a:lnTo>
                  <a:pt x="47423" y="1565129"/>
                </a:lnTo>
                <a:cubicBezTo>
                  <a:pt x="21232" y="1565129"/>
                  <a:pt x="0" y="1543897"/>
                  <a:pt x="0" y="1517706"/>
                </a:cubicBezTo>
                <a:lnTo>
                  <a:pt x="0" y="47423"/>
                </a:lnTo>
                <a:cubicBezTo>
                  <a:pt x="0" y="21250"/>
                  <a:pt x="21250" y="0"/>
                  <a:pt x="47423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878833" y="6930373"/>
            <a:ext cx="455310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94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Совместимость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819548" y="7309798"/>
            <a:ext cx="4671673" cy="47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361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878833" y="7831508"/>
            <a:ext cx="455310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94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Chrome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2441575"/>
            <a:ext cx="2095500" cy="711200"/>
          </a:xfrm>
          <a:custGeom>
            <a:avLst/>
            <a:gdLst/>
            <a:ahLst/>
            <a:cxnLst/>
            <a:rect l="l" t="t" r="r" b="b"/>
            <a:pathLst>
              <a:path w="2095500" h="711200">
                <a:moveTo>
                  <a:pt x="50801" y="0"/>
                </a:moveTo>
                <a:lnTo>
                  <a:pt x="2044699" y="0"/>
                </a:lnTo>
                <a:cubicBezTo>
                  <a:pt x="2072756" y="0"/>
                  <a:pt x="2095500" y="22744"/>
                  <a:pt x="2095500" y="50801"/>
                </a:cubicBezTo>
                <a:lnTo>
                  <a:pt x="2095500" y="660399"/>
                </a:lnTo>
                <a:cubicBezTo>
                  <a:pt x="2095500" y="688456"/>
                  <a:pt x="2072756" y="711200"/>
                  <a:pt x="20446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Text 2"/>
          <p:cNvSpPr/>
          <p:nvPr/>
        </p:nvSpPr>
        <p:spPr>
          <a:xfrm>
            <a:off x="508000" y="2441575"/>
            <a:ext cx="2247900" cy="711200"/>
          </a:xfrm>
          <a:prstGeom prst="rect">
            <a:avLst/>
          </a:prstGeom>
          <a:noFill/>
          <a:ln/>
        </p:spPr>
        <p:txBody>
          <a:bodyPr wrap="square" lIns="406400" tIns="152400" rIns="406400" bIns="15240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ГЛАВА 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457426"/>
            <a:ext cx="1021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006826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5464026"/>
            <a:ext cx="99441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Результаты, практическая значимость и перспективы развития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237" y="505237"/>
            <a:ext cx="1534657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b="1" kern="0" spc="8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5237" y="909427"/>
            <a:ext cx="15434990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8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Результаты и практическая значимость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5237" y="1515711"/>
            <a:ext cx="1212569" cy="50524"/>
          </a:xfrm>
          <a:custGeom>
            <a:avLst/>
            <a:gdLst/>
            <a:ahLst/>
            <a:cxnLst/>
            <a:rect l="l" t="t" r="r" b="b"/>
            <a:pathLst>
              <a:path w="1212569" h="50524">
                <a:moveTo>
                  <a:pt x="0" y="0"/>
                </a:moveTo>
                <a:lnTo>
                  <a:pt x="1212569" y="0"/>
                </a:lnTo>
                <a:lnTo>
                  <a:pt x="1212569" y="50524"/>
                </a:lnTo>
                <a:lnTo>
                  <a:pt x="0" y="50524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510289" y="1773382"/>
            <a:ext cx="7487612" cy="3875168"/>
          </a:xfrm>
          <a:custGeom>
            <a:avLst/>
            <a:gdLst/>
            <a:ahLst/>
            <a:cxnLst/>
            <a:rect l="l" t="t" r="r" b="b"/>
            <a:pathLst>
              <a:path w="7487612" h="3875168">
                <a:moveTo>
                  <a:pt x="101064" y="0"/>
                </a:moveTo>
                <a:lnTo>
                  <a:pt x="7386548" y="0"/>
                </a:lnTo>
                <a:cubicBezTo>
                  <a:pt x="7442364" y="0"/>
                  <a:pt x="7487612" y="45248"/>
                  <a:pt x="7487612" y="101064"/>
                </a:cubicBezTo>
                <a:lnTo>
                  <a:pt x="7487612" y="3774103"/>
                </a:lnTo>
                <a:cubicBezTo>
                  <a:pt x="7487612" y="3829920"/>
                  <a:pt x="7442364" y="3875168"/>
                  <a:pt x="7386548" y="3875168"/>
                </a:cubicBezTo>
                <a:lnTo>
                  <a:pt x="101064" y="3875168"/>
                </a:lnTo>
                <a:cubicBezTo>
                  <a:pt x="45248" y="3875168"/>
                  <a:pt x="0" y="3829920"/>
                  <a:pt x="0" y="3774103"/>
                </a:cubicBezTo>
                <a:lnTo>
                  <a:pt x="0" y="101064"/>
                </a:lnTo>
                <a:cubicBezTo>
                  <a:pt x="0" y="45248"/>
                  <a:pt x="45248" y="0"/>
                  <a:pt x="101064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 w="10160">
            <a:solidFill>
              <a:srgbClr val="EAEAE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5853" y="2056324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151571" y="303142"/>
                </a:moveTo>
                <a:cubicBezTo>
                  <a:pt x="235225" y="303142"/>
                  <a:pt x="303142" y="235225"/>
                  <a:pt x="303142" y="151571"/>
                </a:cubicBezTo>
                <a:cubicBezTo>
                  <a:pt x="303142" y="67917"/>
                  <a:pt x="235225" y="0"/>
                  <a:pt x="151571" y="0"/>
                </a:cubicBezTo>
                <a:cubicBezTo>
                  <a:pt x="67917" y="0"/>
                  <a:pt x="0" y="67917"/>
                  <a:pt x="0" y="151571"/>
                </a:cubicBezTo>
                <a:cubicBezTo>
                  <a:pt x="0" y="235225"/>
                  <a:pt x="67917" y="303142"/>
                  <a:pt x="151571" y="303142"/>
                </a:cubicBezTo>
                <a:close/>
                <a:moveTo>
                  <a:pt x="201542" y="125934"/>
                </a:moveTo>
                <a:lnTo>
                  <a:pt x="154176" y="201720"/>
                </a:lnTo>
                <a:cubicBezTo>
                  <a:pt x="151690" y="205687"/>
                  <a:pt x="147427" y="208173"/>
                  <a:pt x="142749" y="208410"/>
                </a:cubicBezTo>
                <a:cubicBezTo>
                  <a:pt x="138072" y="208647"/>
                  <a:pt x="133572" y="206516"/>
                  <a:pt x="130789" y="202726"/>
                </a:cubicBezTo>
                <a:lnTo>
                  <a:pt x="102370" y="164834"/>
                </a:lnTo>
                <a:cubicBezTo>
                  <a:pt x="97633" y="158558"/>
                  <a:pt x="98936" y="149676"/>
                  <a:pt x="105212" y="144940"/>
                </a:cubicBezTo>
                <a:cubicBezTo>
                  <a:pt x="111488" y="140203"/>
                  <a:pt x="120369" y="141506"/>
                  <a:pt x="125105" y="147782"/>
                </a:cubicBezTo>
                <a:lnTo>
                  <a:pt x="141091" y="169097"/>
                </a:lnTo>
                <a:lnTo>
                  <a:pt x="177445" y="110896"/>
                </a:lnTo>
                <a:cubicBezTo>
                  <a:pt x="181589" y="104264"/>
                  <a:pt x="190352" y="102192"/>
                  <a:pt x="197042" y="106396"/>
                </a:cubicBezTo>
                <a:cubicBezTo>
                  <a:pt x="203733" y="110600"/>
                  <a:pt x="205746" y="119303"/>
                  <a:pt x="201542" y="125993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Text 5"/>
          <p:cNvSpPr/>
          <p:nvPr/>
        </p:nvSpPr>
        <p:spPr>
          <a:xfrm>
            <a:off x="1146888" y="2031063"/>
            <a:ext cx="6719652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Достигнутая цель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7960" y="2586823"/>
            <a:ext cx="7073318" cy="2804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 ходе выполнения курсовой работы была достигнута поставленная цель — спроектировано и реализовано веб-приложение </a:t>
            </a:r>
            <a:r>
              <a:rPr lang="en-US" sz="1591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DocFlow System</a:t>
            </a:r>
            <a:r>
              <a:rPr lang="en-US" sz="159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для автоматизации внутреннего документооборота компании. Разработанная система позволяет перевести ключевые бизнес-процессы согласования заявок и служебных записок в цифровой формат.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80202" y="1768329"/>
            <a:ext cx="7477507" cy="3890325"/>
          </a:xfrm>
          <a:custGeom>
            <a:avLst/>
            <a:gdLst/>
            <a:ahLst/>
            <a:cxnLst/>
            <a:rect l="l" t="t" r="r" b="b"/>
            <a:pathLst>
              <a:path w="7477507" h="3890325">
                <a:moveTo>
                  <a:pt x="50524" y="0"/>
                </a:moveTo>
                <a:lnTo>
                  <a:pt x="7376476" y="0"/>
                </a:lnTo>
                <a:cubicBezTo>
                  <a:pt x="7432274" y="0"/>
                  <a:pt x="7477507" y="45233"/>
                  <a:pt x="7477507" y="101032"/>
                </a:cubicBezTo>
                <a:lnTo>
                  <a:pt x="7477507" y="3789293"/>
                </a:lnTo>
                <a:cubicBezTo>
                  <a:pt x="7477507" y="3845091"/>
                  <a:pt x="7432274" y="3890325"/>
                  <a:pt x="7376476" y="3890325"/>
                </a:cubicBezTo>
                <a:lnTo>
                  <a:pt x="50524" y="3890325"/>
                </a:lnTo>
                <a:cubicBezTo>
                  <a:pt x="22620" y="3890325"/>
                  <a:pt x="0" y="3867705"/>
                  <a:pt x="0" y="3839801"/>
                </a:cubicBezTo>
                <a:lnTo>
                  <a:pt x="0" y="50524"/>
                </a:lnTo>
                <a:cubicBezTo>
                  <a:pt x="0" y="22620"/>
                  <a:pt x="22620" y="0"/>
                  <a:pt x="50524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80202" y="1768329"/>
            <a:ext cx="50524" cy="3890325"/>
          </a:xfrm>
          <a:custGeom>
            <a:avLst/>
            <a:gdLst/>
            <a:ahLst/>
            <a:cxnLst/>
            <a:rect l="l" t="t" r="r" b="b"/>
            <a:pathLst>
              <a:path w="50524" h="3890325">
                <a:moveTo>
                  <a:pt x="50524" y="0"/>
                </a:moveTo>
                <a:lnTo>
                  <a:pt x="50524" y="0"/>
                </a:lnTo>
                <a:lnTo>
                  <a:pt x="50524" y="3890325"/>
                </a:lnTo>
                <a:lnTo>
                  <a:pt x="50524" y="3890325"/>
                </a:lnTo>
                <a:cubicBezTo>
                  <a:pt x="22620" y="3890325"/>
                  <a:pt x="0" y="3867705"/>
                  <a:pt x="0" y="3839801"/>
                </a:cubicBezTo>
                <a:lnTo>
                  <a:pt x="0" y="50524"/>
                </a:lnTo>
                <a:cubicBezTo>
                  <a:pt x="0" y="22620"/>
                  <a:pt x="22620" y="0"/>
                  <a:pt x="50524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976" y="2046210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79220" y="21492"/>
                </a:moveTo>
                <a:cubicBezTo>
                  <a:pt x="85673" y="25992"/>
                  <a:pt x="87213" y="34873"/>
                  <a:pt x="82713" y="41268"/>
                </a:cubicBezTo>
                <a:lnTo>
                  <a:pt x="49557" y="88634"/>
                </a:lnTo>
                <a:cubicBezTo>
                  <a:pt x="47129" y="92068"/>
                  <a:pt x="43340" y="94258"/>
                  <a:pt x="39136" y="94614"/>
                </a:cubicBezTo>
                <a:cubicBezTo>
                  <a:pt x="34932" y="94969"/>
                  <a:pt x="30788" y="93548"/>
                  <a:pt x="27828" y="90587"/>
                </a:cubicBezTo>
                <a:lnTo>
                  <a:pt x="4145" y="66904"/>
                </a:lnTo>
                <a:cubicBezTo>
                  <a:pt x="-1362" y="61339"/>
                  <a:pt x="-1362" y="52339"/>
                  <a:pt x="4145" y="46774"/>
                </a:cubicBezTo>
                <a:cubicBezTo>
                  <a:pt x="9651" y="41208"/>
                  <a:pt x="18710" y="41268"/>
                  <a:pt x="24275" y="46774"/>
                </a:cubicBezTo>
                <a:lnTo>
                  <a:pt x="35998" y="58497"/>
                </a:lnTo>
                <a:lnTo>
                  <a:pt x="59444" y="24986"/>
                </a:lnTo>
                <a:cubicBezTo>
                  <a:pt x="63944" y="18532"/>
                  <a:pt x="72825" y="16993"/>
                  <a:pt x="79220" y="21492"/>
                </a:cubicBezTo>
                <a:close/>
                <a:moveTo>
                  <a:pt x="79220" y="116224"/>
                </a:moveTo>
                <a:cubicBezTo>
                  <a:pt x="85673" y="120724"/>
                  <a:pt x="87213" y="129605"/>
                  <a:pt x="82713" y="136000"/>
                </a:cubicBezTo>
                <a:lnTo>
                  <a:pt x="49557" y="183366"/>
                </a:lnTo>
                <a:cubicBezTo>
                  <a:pt x="47129" y="186800"/>
                  <a:pt x="43340" y="188990"/>
                  <a:pt x="39136" y="189345"/>
                </a:cubicBezTo>
                <a:cubicBezTo>
                  <a:pt x="34932" y="189701"/>
                  <a:pt x="30788" y="188280"/>
                  <a:pt x="27828" y="185319"/>
                </a:cubicBezTo>
                <a:lnTo>
                  <a:pt x="4145" y="161636"/>
                </a:lnTo>
                <a:cubicBezTo>
                  <a:pt x="-1421" y="156071"/>
                  <a:pt x="-1421" y="147071"/>
                  <a:pt x="4145" y="141565"/>
                </a:cubicBezTo>
                <a:cubicBezTo>
                  <a:pt x="9710" y="136059"/>
                  <a:pt x="18710" y="136000"/>
                  <a:pt x="24216" y="141565"/>
                </a:cubicBezTo>
                <a:lnTo>
                  <a:pt x="35939" y="153288"/>
                </a:lnTo>
                <a:lnTo>
                  <a:pt x="59385" y="119777"/>
                </a:lnTo>
                <a:cubicBezTo>
                  <a:pt x="63885" y="113323"/>
                  <a:pt x="72766" y="111784"/>
                  <a:pt x="79160" y="116283"/>
                </a:cubicBezTo>
                <a:close/>
                <a:moveTo>
                  <a:pt x="132625" y="56839"/>
                </a:moveTo>
                <a:cubicBezTo>
                  <a:pt x="132625" y="46359"/>
                  <a:pt x="141091" y="37893"/>
                  <a:pt x="151571" y="37893"/>
                </a:cubicBezTo>
                <a:lnTo>
                  <a:pt x="284196" y="37893"/>
                </a:lnTo>
                <a:cubicBezTo>
                  <a:pt x="294676" y="37893"/>
                  <a:pt x="303142" y="46359"/>
                  <a:pt x="303142" y="56839"/>
                </a:cubicBezTo>
                <a:cubicBezTo>
                  <a:pt x="303142" y="67319"/>
                  <a:pt x="294676" y="75786"/>
                  <a:pt x="284196" y="75786"/>
                </a:cubicBezTo>
                <a:lnTo>
                  <a:pt x="151571" y="75786"/>
                </a:lnTo>
                <a:cubicBezTo>
                  <a:pt x="141091" y="75786"/>
                  <a:pt x="132625" y="67319"/>
                  <a:pt x="132625" y="56839"/>
                </a:cubicBezTo>
                <a:close/>
                <a:moveTo>
                  <a:pt x="132625" y="151571"/>
                </a:moveTo>
                <a:cubicBezTo>
                  <a:pt x="132625" y="141091"/>
                  <a:pt x="141091" y="132625"/>
                  <a:pt x="151571" y="132625"/>
                </a:cubicBezTo>
                <a:lnTo>
                  <a:pt x="284196" y="132625"/>
                </a:lnTo>
                <a:cubicBezTo>
                  <a:pt x="294676" y="132625"/>
                  <a:pt x="303142" y="141091"/>
                  <a:pt x="303142" y="151571"/>
                </a:cubicBezTo>
                <a:cubicBezTo>
                  <a:pt x="303142" y="162051"/>
                  <a:pt x="294676" y="170517"/>
                  <a:pt x="284196" y="170517"/>
                </a:cubicBezTo>
                <a:lnTo>
                  <a:pt x="151571" y="170517"/>
                </a:lnTo>
                <a:cubicBezTo>
                  <a:pt x="141091" y="170517"/>
                  <a:pt x="132625" y="162051"/>
                  <a:pt x="132625" y="151571"/>
                </a:cubicBezTo>
                <a:close/>
                <a:moveTo>
                  <a:pt x="94732" y="246303"/>
                </a:moveTo>
                <a:cubicBezTo>
                  <a:pt x="94732" y="235823"/>
                  <a:pt x="103199" y="227357"/>
                  <a:pt x="113678" y="227357"/>
                </a:cubicBezTo>
                <a:lnTo>
                  <a:pt x="284196" y="227357"/>
                </a:lnTo>
                <a:cubicBezTo>
                  <a:pt x="294676" y="227357"/>
                  <a:pt x="303142" y="235823"/>
                  <a:pt x="303142" y="246303"/>
                </a:cubicBezTo>
                <a:cubicBezTo>
                  <a:pt x="303142" y="256783"/>
                  <a:pt x="294676" y="265249"/>
                  <a:pt x="284196" y="265249"/>
                </a:cubicBezTo>
                <a:lnTo>
                  <a:pt x="113678" y="265249"/>
                </a:lnTo>
                <a:cubicBezTo>
                  <a:pt x="103199" y="265249"/>
                  <a:pt x="94732" y="256783"/>
                  <a:pt x="94732" y="246303"/>
                </a:cubicBezTo>
                <a:close/>
                <a:moveTo>
                  <a:pt x="37893" y="222620"/>
                </a:moveTo>
                <a:cubicBezTo>
                  <a:pt x="50964" y="222620"/>
                  <a:pt x="61576" y="233232"/>
                  <a:pt x="61576" y="246303"/>
                </a:cubicBezTo>
                <a:cubicBezTo>
                  <a:pt x="61576" y="259374"/>
                  <a:pt x="50964" y="269986"/>
                  <a:pt x="37893" y="269986"/>
                </a:cubicBezTo>
                <a:cubicBezTo>
                  <a:pt x="24822" y="269986"/>
                  <a:pt x="14210" y="259374"/>
                  <a:pt x="14210" y="246303"/>
                </a:cubicBezTo>
                <a:cubicBezTo>
                  <a:pt x="14210" y="233232"/>
                  <a:pt x="24822" y="222620"/>
                  <a:pt x="37893" y="22262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2" name="Text 10"/>
          <p:cNvSpPr/>
          <p:nvPr/>
        </p:nvSpPr>
        <p:spPr>
          <a:xfrm>
            <a:off x="8937011" y="2020948"/>
            <a:ext cx="6694390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Решённые задачи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58083" y="2576709"/>
            <a:ext cx="25261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10544" y="2576709"/>
            <a:ext cx="6795437" cy="60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Проведён глубокий анализ предметной области, выявлены недостатки модели AS-IS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58083" y="3284040"/>
            <a:ext cx="25261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10544" y="3284040"/>
            <a:ext cx="6795437" cy="60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Обоснован выбор технологий Python и Django как наиболее эффективных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58083" y="3991372"/>
            <a:ext cx="25261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10544" y="3991372"/>
            <a:ext cx="6795437" cy="60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Спроектирована архитектура системы с UML-диаграммами и БД в 3НФ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58083" y="4698704"/>
            <a:ext cx="25261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10544" y="4698704"/>
            <a:ext cx="666912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Реализован паттерн MVT с полным функционалом документооборота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58083" y="5102894"/>
            <a:ext cx="25261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10544" y="5102894"/>
            <a:ext cx="5469190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Проведено функциональное тестирование (6/6 успешно)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0499" y="5860749"/>
            <a:ext cx="15220264" cy="3078299"/>
          </a:xfrm>
          <a:custGeom>
            <a:avLst/>
            <a:gdLst/>
            <a:ahLst/>
            <a:cxnLst/>
            <a:rect l="l" t="t" r="r" b="b"/>
            <a:pathLst>
              <a:path w="15220264" h="3284040">
                <a:moveTo>
                  <a:pt x="50524" y="0"/>
                </a:moveTo>
                <a:lnTo>
                  <a:pt x="15119214" y="0"/>
                </a:lnTo>
                <a:cubicBezTo>
                  <a:pt x="15175023" y="0"/>
                  <a:pt x="15220264" y="45242"/>
                  <a:pt x="15220264" y="101050"/>
                </a:cubicBezTo>
                <a:lnTo>
                  <a:pt x="15220264" y="3182990"/>
                </a:lnTo>
                <a:cubicBezTo>
                  <a:pt x="15220264" y="3238799"/>
                  <a:pt x="15175023" y="3284040"/>
                  <a:pt x="15119214" y="3284040"/>
                </a:cubicBezTo>
                <a:lnTo>
                  <a:pt x="50524" y="3284040"/>
                </a:lnTo>
                <a:cubicBezTo>
                  <a:pt x="22620" y="3284040"/>
                  <a:pt x="0" y="3261420"/>
                  <a:pt x="0" y="3233517"/>
                </a:cubicBezTo>
                <a:lnTo>
                  <a:pt x="0" y="50524"/>
                </a:lnTo>
                <a:cubicBezTo>
                  <a:pt x="0" y="22620"/>
                  <a:pt x="22620" y="0"/>
                  <a:pt x="50524" y="0"/>
                </a:cubicBez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0499" y="5860749"/>
            <a:ext cx="50524" cy="3078299"/>
          </a:xfrm>
          <a:custGeom>
            <a:avLst/>
            <a:gdLst/>
            <a:ahLst/>
            <a:cxnLst/>
            <a:rect l="l" t="t" r="r" b="b"/>
            <a:pathLst>
              <a:path w="50524" h="3284040">
                <a:moveTo>
                  <a:pt x="50524" y="0"/>
                </a:moveTo>
                <a:lnTo>
                  <a:pt x="50524" y="0"/>
                </a:lnTo>
                <a:lnTo>
                  <a:pt x="50524" y="3284040"/>
                </a:lnTo>
                <a:lnTo>
                  <a:pt x="50524" y="3284040"/>
                </a:lnTo>
                <a:cubicBezTo>
                  <a:pt x="22620" y="3284040"/>
                  <a:pt x="0" y="3261420"/>
                  <a:pt x="0" y="3233517"/>
                </a:cubicBezTo>
                <a:lnTo>
                  <a:pt x="0" y="50524"/>
                </a:lnTo>
                <a:cubicBezTo>
                  <a:pt x="0" y="22620"/>
                  <a:pt x="22620" y="0"/>
                  <a:pt x="50524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46272" y="6138629"/>
            <a:ext cx="303142" cy="303142"/>
          </a:xfrm>
          <a:custGeom>
            <a:avLst/>
            <a:gdLst/>
            <a:ahLst/>
            <a:cxnLst/>
            <a:rect l="l" t="t" r="r" b="b"/>
            <a:pathLst>
              <a:path w="303142" h="303142">
                <a:moveTo>
                  <a:pt x="37893" y="37893"/>
                </a:moveTo>
                <a:cubicBezTo>
                  <a:pt x="37893" y="27413"/>
                  <a:pt x="29426" y="18946"/>
                  <a:pt x="18946" y="18946"/>
                </a:cubicBezTo>
                <a:cubicBezTo>
                  <a:pt x="8467" y="18946"/>
                  <a:pt x="0" y="27413"/>
                  <a:pt x="0" y="37893"/>
                </a:cubicBezTo>
                <a:lnTo>
                  <a:pt x="0" y="236830"/>
                </a:lnTo>
                <a:cubicBezTo>
                  <a:pt x="0" y="263000"/>
                  <a:pt x="21196" y="284196"/>
                  <a:pt x="47366" y="284196"/>
                </a:cubicBezTo>
                <a:lnTo>
                  <a:pt x="284196" y="284196"/>
                </a:lnTo>
                <a:cubicBezTo>
                  <a:pt x="294676" y="284196"/>
                  <a:pt x="303142" y="275729"/>
                  <a:pt x="303142" y="265249"/>
                </a:cubicBezTo>
                <a:cubicBezTo>
                  <a:pt x="303142" y="254770"/>
                  <a:pt x="294676" y="246303"/>
                  <a:pt x="284196" y="246303"/>
                </a:cubicBezTo>
                <a:lnTo>
                  <a:pt x="47366" y="246303"/>
                </a:lnTo>
                <a:cubicBezTo>
                  <a:pt x="42156" y="246303"/>
                  <a:pt x="37893" y="242040"/>
                  <a:pt x="37893" y="236830"/>
                </a:cubicBezTo>
                <a:lnTo>
                  <a:pt x="37893" y="37893"/>
                </a:lnTo>
                <a:close/>
                <a:moveTo>
                  <a:pt x="278630" y="89166"/>
                </a:moveTo>
                <a:cubicBezTo>
                  <a:pt x="286031" y="81766"/>
                  <a:pt x="286031" y="69746"/>
                  <a:pt x="278630" y="62345"/>
                </a:cubicBezTo>
                <a:cubicBezTo>
                  <a:pt x="271229" y="54945"/>
                  <a:pt x="259210" y="54945"/>
                  <a:pt x="251809" y="62345"/>
                </a:cubicBezTo>
                <a:lnTo>
                  <a:pt x="189464" y="124750"/>
                </a:lnTo>
                <a:lnTo>
                  <a:pt x="155479" y="90824"/>
                </a:lnTo>
                <a:cubicBezTo>
                  <a:pt x="148078" y="83423"/>
                  <a:pt x="136059" y="83423"/>
                  <a:pt x="128658" y="90824"/>
                </a:cubicBezTo>
                <a:lnTo>
                  <a:pt x="71819" y="147663"/>
                </a:lnTo>
                <a:cubicBezTo>
                  <a:pt x="64418" y="155064"/>
                  <a:pt x="64418" y="167083"/>
                  <a:pt x="71819" y="174484"/>
                </a:cubicBezTo>
                <a:cubicBezTo>
                  <a:pt x="79220" y="181885"/>
                  <a:pt x="91239" y="181885"/>
                  <a:pt x="98640" y="174484"/>
                </a:cubicBezTo>
                <a:lnTo>
                  <a:pt x="142098" y="131026"/>
                </a:lnTo>
                <a:lnTo>
                  <a:pt x="176083" y="165011"/>
                </a:lnTo>
                <a:cubicBezTo>
                  <a:pt x="183484" y="172412"/>
                  <a:pt x="195503" y="172412"/>
                  <a:pt x="202904" y="165011"/>
                </a:cubicBezTo>
                <a:lnTo>
                  <a:pt x="278690" y="89226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6" name="Text 24"/>
          <p:cNvSpPr/>
          <p:nvPr/>
        </p:nvSpPr>
        <p:spPr>
          <a:xfrm>
            <a:off x="1187307" y="6113368"/>
            <a:ext cx="14437147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9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Практическая значимость внедрения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8379" y="6669128"/>
            <a:ext cx="3524028" cy="2128031"/>
          </a:xfrm>
          <a:custGeom>
            <a:avLst/>
            <a:gdLst/>
            <a:ahLst/>
            <a:cxnLst/>
            <a:rect l="l" t="t" r="r" b="b"/>
            <a:pathLst>
              <a:path w="3524028" h="2223043">
                <a:moveTo>
                  <a:pt x="50530" y="0"/>
                </a:moveTo>
                <a:lnTo>
                  <a:pt x="3473498" y="0"/>
                </a:lnTo>
                <a:cubicBezTo>
                  <a:pt x="3501405" y="0"/>
                  <a:pt x="3524028" y="22623"/>
                  <a:pt x="3524028" y="50530"/>
                </a:cubicBezTo>
                <a:lnTo>
                  <a:pt x="3524028" y="2172513"/>
                </a:lnTo>
                <a:cubicBezTo>
                  <a:pt x="3524028" y="2200420"/>
                  <a:pt x="3501405" y="2223043"/>
                  <a:pt x="3473498" y="2223043"/>
                </a:cubicBezTo>
                <a:lnTo>
                  <a:pt x="50530" y="2223043"/>
                </a:lnTo>
                <a:cubicBezTo>
                  <a:pt x="22623" y="2223043"/>
                  <a:pt x="0" y="2200420"/>
                  <a:pt x="0" y="2172513"/>
                </a:cubicBezTo>
                <a:lnTo>
                  <a:pt x="0" y="50530"/>
                </a:lnTo>
                <a:cubicBezTo>
                  <a:pt x="0" y="22642"/>
                  <a:pt x="22642" y="0"/>
                  <a:pt x="5053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96796" y="6871223"/>
            <a:ext cx="3347195" cy="5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58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30-50%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9950" y="7477507"/>
            <a:ext cx="3220886" cy="1212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Сокращение времени согласования документов за счёт исключения физической логистики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31660" y="6669128"/>
            <a:ext cx="3524028" cy="2128031"/>
          </a:xfrm>
          <a:custGeom>
            <a:avLst/>
            <a:gdLst/>
            <a:ahLst/>
            <a:cxnLst/>
            <a:rect l="l" t="t" r="r" b="b"/>
            <a:pathLst>
              <a:path w="3524028" h="2223043">
                <a:moveTo>
                  <a:pt x="50530" y="0"/>
                </a:moveTo>
                <a:lnTo>
                  <a:pt x="3473498" y="0"/>
                </a:lnTo>
                <a:cubicBezTo>
                  <a:pt x="3501405" y="0"/>
                  <a:pt x="3524028" y="22623"/>
                  <a:pt x="3524028" y="50530"/>
                </a:cubicBezTo>
                <a:lnTo>
                  <a:pt x="3524028" y="2172513"/>
                </a:lnTo>
                <a:cubicBezTo>
                  <a:pt x="3524028" y="2200420"/>
                  <a:pt x="3501405" y="2223043"/>
                  <a:pt x="3473498" y="2223043"/>
                </a:cubicBezTo>
                <a:lnTo>
                  <a:pt x="50530" y="2223043"/>
                </a:lnTo>
                <a:cubicBezTo>
                  <a:pt x="22623" y="2223043"/>
                  <a:pt x="0" y="2200420"/>
                  <a:pt x="0" y="2172513"/>
                </a:cubicBezTo>
                <a:lnTo>
                  <a:pt x="0" y="50530"/>
                </a:lnTo>
                <a:cubicBezTo>
                  <a:pt x="0" y="22642"/>
                  <a:pt x="22642" y="0"/>
                  <a:pt x="5053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20076" y="6871223"/>
            <a:ext cx="3347195" cy="5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58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83231" y="7477507"/>
            <a:ext cx="3220886" cy="909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Прозрачность процессов и возможность контроля исполнительской дисциплины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54941" y="6669128"/>
            <a:ext cx="3524028" cy="2128031"/>
          </a:xfrm>
          <a:custGeom>
            <a:avLst/>
            <a:gdLst/>
            <a:ahLst/>
            <a:cxnLst/>
            <a:rect l="l" t="t" r="r" b="b"/>
            <a:pathLst>
              <a:path w="3524028" h="2223043">
                <a:moveTo>
                  <a:pt x="50530" y="0"/>
                </a:moveTo>
                <a:lnTo>
                  <a:pt x="3473498" y="0"/>
                </a:lnTo>
                <a:cubicBezTo>
                  <a:pt x="3501405" y="0"/>
                  <a:pt x="3524028" y="22623"/>
                  <a:pt x="3524028" y="50530"/>
                </a:cubicBezTo>
                <a:lnTo>
                  <a:pt x="3524028" y="2172513"/>
                </a:lnTo>
                <a:cubicBezTo>
                  <a:pt x="3524028" y="2200420"/>
                  <a:pt x="3501405" y="2223043"/>
                  <a:pt x="3473498" y="2223043"/>
                </a:cubicBezTo>
                <a:lnTo>
                  <a:pt x="50530" y="2223043"/>
                </a:lnTo>
                <a:cubicBezTo>
                  <a:pt x="22623" y="2223043"/>
                  <a:pt x="0" y="2200420"/>
                  <a:pt x="0" y="2172513"/>
                </a:cubicBezTo>
                <a:lnTo>
                  <a:pt x="0" y="50530"/>
                </a:lnTo>
                <a:cubicBezTo>
                  <a:pt x="0" y="22642"/>
                  <a:pt x="22642" y="0"/>
                  <a:pt x="5053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343357" y="6871223"/>
            <a:ext cx="3347195" cy="5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58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06512" y="7477507"/>
            <a:ext cx="3220886" cy="909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Риск потери документов и создание единого электронного архива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978222" y="6669128"/>
            <a:ext cx="3524028" cy="2128031"/>
          </a:xfrm>
          <a:custGeom>
            <a:avLst/>
            <a:gdLst/>
            <a:ahLst/>
            <a:cxnLst/>
            <a:rect l="l" t="t" r="r" b="b"/>
            <a:pathLst>
              <a:path w="3524028" h="2223043">
                <a:moveTo>
                  <a:pt x="50530" y="0"/>
                </a:moveTo>
                <a:lnTo>
                  <a:pt x="3473498" y="0"/>
                </a:lnTo>
                <a:cubicBezTo>
                  <a:pt x="3501405" y="0"/>
                  <a:pt x="3524028" y="22623"/>
                  <a:pt x="3524028" y="50530"/>
                </a:cubicBezTo>
                <a:lnTo>
                  <a:pt x="3524028" y="2172513"/>
                </a:lnTo>
                <a:cubicBezTo>
                  <a:pt x="3524028" y="2200420"/>
                  <a:pt x="3501405" y="2223043"/>
                  <a:pt x="3473498" y="2223043"/>
                </a:cubicBezTo>
                <a:lnTo>
                  <a:pt x="50530" y="2223043"/>
                </a:lnTo>
                <a:cubicBezTo>
                  <a:pt x="22623" y="2223043"/>
                  <a:pt x="0" y="2200420"/>
                  <a:pt x="0" y="2172513"/>
                </a:cubicBezTo>
                <a:lnTo>
                  <a:pt x="0" y="50530"/>
                </a:lnTo>
                <a:cubicBezTo>
                  <a:pt x="0" y="22642"/>
                  <a:pt x="22642" y="0"/>
                  <a:pt x="5053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066638" y="6871223"/>
            <a:ext cx="3347195" cy="5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58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Экономия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129793" y="7477507"/>
            <a:ext cx="3220886" cy="60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Уменьшение расходов на бумагу и расходные материалы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Перспективы развития проекта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854200"/>
            <a:ext cx="4914900" cy="3251200"/>
          </a:xfrm>
          <a:custGeom>
            <a:avLst/>
            <a:gdLst/>
            <a:ahLst/>
            <a:cxnLst/>
            <a:rect l="l" t="t" r="r" b="b"/>
            <a:pathLst>
              <a:path w="4914900" h="32512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3149600"/>
                </a:lnTo>
                <a:cubicBezTo>
                  <a:pt x="4914900" y="3205675"/>
                  <a:pt x="4869375" y="3251200"/>
                  <a:pt x="4813300" y="3251200"/>
                </a:cubicBezTo>
                <a:lnTo>
                  <a:pt x="101600" y="3251200"/>
                </a:lnTo>
                <a:cubicBezTo>
                  <a:pt x="45525" y="3251200"/>
                  <a:pt x="0" y="3205675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8000" y="18542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8" name="Shape 6"/>
          <p:cNvSpPr/>
          <p:nvPr/>
        </p:nvSpPr>
        <p:spPr>
          <a:xfrm>
            <a:off x="9652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625600" y="2311400"/>
            <a:ext cx="238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Email-уведомления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048000"/>
            <a:ext cx="4508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Автоматическая отправка писем о смене статусов документов участникам процесса согласования.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196080"/>
            <a:ext cx="4406900" cy="10160"/>
          </a:xfrm>
          <a:custGeom>
            <a:avLst/>
            <a:gdLst/>
            <a:ahLst/>
            <a:cxnLst/>
            <a:rect l="l" t="t" r="r" b="b"/>
            <a:pathLst>
              <a:path w="4406900" h="10160">
                <a:moveTo>
                  <a:pt x="0" y="0"/>
                </a:moveTo>
                <a:lnTo>
                  <a:pt x="4406900" y="0"/>
                </a:lnTo>
                <a:lnTo>
                  <a:pt x="44069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EAEAEA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353545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Приоритет: </a:t>
            </a:r>
            <a:r>
              <a:rPr lang="en-US" sz="16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Высокий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72614" y="1854200"/>
            <a:ext cx="4914900" cy="3251200"/>
          </a:xfrm>
          <a:custGeom>
            <a:avLst/>
            <a:gdLst/>
            <a:ahLst/>
            <a:cxnLst/>
            <a:rect l="l" t="t" r="r" b="b"/>
            <a:pathLst>
              <a:path w="4914900" h="32512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3149600"/>
                </a:lnTo>
                <a:cubicBezTo>
                  <a:pt x="4914900" y="3205675"/>
                  <a:pt x="4869375" y="3251200"/>
                  <a:pt x="4813300" y="3251200"/>
                </a:cubicBezTo>
                <a:lnTo>
                  <a:pt x="101600" y="3251200"/>
                </a:lnTo>
                <a:cubicBezTo>
                  <a:pt x="45525" y="3251200"/>
                  <a:pt x="0" y="3205675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72614" y="18542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6614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10764" y="2336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7" name="Text 15"/>
          <p:cNvSpPr/>
          <p:nvPr/>
        </p:nvSpPr>
        <p:spPr>
          <a:xfrm>
            <a:off x="6790214" y="2311400"/>
            <a:ext cx="367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с мессенджерами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26614" y="3048000"/>
            <a:ext cx="4508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Telegram/Slack-боты для оперативного согласования документов со смартфонов руководителей.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26614" y="4196080"/>
            <a:ext cx="4406900" cy="10160"/>
          </a:xfrm>
          <a:custGeom>
            <a:avLst/>
            <a:gdLst/>
            <a:ahLst/>
            <a:cxnLst/>
            <a:rect l="l" t="t" r="r" b="b"/>
            <a:pathLst>
              <a:path w="4406900" h="10160">
                <a:moveTo>
                  <a:pt x="0" y="0"/>
                </a:moveTo>
                <a:lnTo>
                  <a:pt x="4406900" y="0"/>
                </a:lnTo>
                <a:lnTo>
                  <a:pt x="44069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26614" y="4353545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Приоритет: </a:t>
            </a:r>
            <a:r>
              <a:rPr lang="en-US" sz="16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Средний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37228" y="1854200"/>
            <a:ext cx="4914900" cy="3251200"/>
          </a:xfrm>
          <a:custGeom>
            <a:avLst/>
            <a:gdLst/>
            <a:ahLst/>
            <a:cxnLst/>
            <a:rect l="l" t="t" r="r" b="b"/>
            <a:pathLst>
              <a:path w="4914900" h="32512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3149600"/>
                </a:lnTo>
                <a:cubicBezTo>
                  <a:pt x="4914900" y="3205675"/>
                  <a:pt x="4869375" y="3251200"/>
                  <a:pt x="4813300" y="3251200"/>
                </a:cubicBezTo>
                <a:lnTo>
                  <a:pt x="101600" y="3251200"/>
                </a:lnTo>
                <a:cubicBezTo>
                  <a:pt x="45525" y="3251200"/>
                  <a:pt x="0" y="3205675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AEAEA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837228" y="18542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91228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75378" y="2336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0"/>
                </a:moveTo>
                <a:cubicBezTo>
                  <a:pt x="36135" y="0"/>
                  <a:pt x="19050" y="17085"/>
                  <a:pt x="19050" y="38100"/>
                </a:cubicBezTo>
                <a:lnTo>
                  <a:pt x="19050" y="266700"/>
                </a:lnTo>
                <a:cubicBezTo>
                  <a:pt x="19050" y="287715"/>
                  <a:pt x="36135" y="304800"/>
                  <a:pt x="57150" y="304800"/>
                </a:cubicBezTo>
                <a:lnTo>
                  <a:pt x="104775" y="304800"/>
                </a:lnTo>
                <a:lnTo>
                  <a:pt x="104775" y="238125"/>
                </a:lnTo>
                <a:cubicBezTo>
                  <a:pt x="104775" y="217110"/>
                  <a:pt x="121860" y="200025"/>
                  <a:pt x="142875" y="200025"/>
                </a:cubicBezTo>
                <a:lnTo>
                  <a:pt x="247650" y="200025"/>
                </a:lnTo>
                <a:lnTo>
                  <a:pt x="247650" y="101501"/>
                </a:lnTo>
                <a:cubicBezTo>
                  <a:pt x="247650" y="91380"/>
                  <a:pt x="243661" y="81677"/>
                  <a:pt x="236518" y="74533"/>
                </a:cubicBezTo>
                <a:lnTo>
                  <a:pt x="173057" y="11132"/>
                </a:lnTo>
                <a:cubicBezTo>
                  <a:pt x="165914" y="3989"/>
                  <a:pt x="156270" y="0"/>
                  <a:pt x="146149" y="0"/>
                </a:cubicBezTo>
                <a:lnTo>
                  <a:pt x="57150" y="0"/>
                </a:lnTo>
                <a:close/>
                <a:moveTo>
                  <a:pt x="212824" y="104775"/>
                </a:moveTo>
                <a:lnTo>
                  <a:pt x="157163" y="104775"/>
                </a:lnTo>
                <a:cubicBezTo>
                  <a:pt x="149245" y="104775"/>
                  <a:pt x="142875" y="98405"/>
                  <a:pt x="142875" y="90488"/>
                </a:cubicBezTo>
                <a:lnTo>
                  <a:pt x="142875" y="34826"/>
                </a:lnTo>
                <a:lnTo>
                  <a:pt x="212824" y="104775"/>
                </a:lnTo>
                <a:close/>
                <a:moveTo>
                  <a:pt x="142875" y="226219"/>
                </a:moveTo>
                <a:cubicBezTo>
                  <a:pt x="136327" y="226219"/>
                  <a:pt x="130969" y="231577"/>
                  <a:pt x="130969" y="238125"/>
                </a:cubicBezTo>
                <a:lnTo>
                  <a:pt x="130969" y="314325"/>
                </a:lnTo>
                <a:cubicBezTo>
                  <a:pt x="130969" y="320873"/>
                  <a:pt x="136327" y="326231"/>
                  <a:pt x="142875" y="326231"/>
                </a:cubicBezTo>
                <a:cubicBezTo>
                  <a:pt x="149423" y="326231"/>
                  <a:pt x="154781" y="320873"/>
                  <a:pt x="154781" y="314325"/>
                </a:cubicBezTo>
                <a:lnTo>
                  <a:pt x="154781" y="297656"/>
                </a:lnTo>
                <a:lnTo>
                  <a:pt x="161925" y="297656"/>
                </a:lnTo>
                <a:cubicBezTo>
                  <a:pt x="181630" y="297656"/>
                  <a:pt x="197644" y="281642"/>
                  <a:pt x="197644" y="261937"/>
                </a:cubicBezTo>
                <a:cubicBezTo>
                  <a:pt x="197644" y="242233"/>
                  <a:pt x="181630" y="226219"/>
                  <a:pt x="161925" y="226219"/>
                </a:cubicBezTo>
                <a:lnTo>
                  <a:pt x="142875" y="226219"/>
                </a:lnTo>
                <a:close/>
                <a:moveTo>
                  <a:pt x="161925" y="273844"/>
                </a:moveTo>
                <a:lnTo>
                  <a:pt x="154781" y="273844"/>
                </a:lnTo>
                <a:lnTo>
                  <a:pt x="154781" y="250031"/>
                </a:lnTo>
                <a:lnTo>
                  <a:pt x="161925" y="250031"/>
                </a:lnTo>
                <a:cubicBezTo>
                  <a:pt x="168473" y="250031"/>
                  <a:pt x="173831" y="255389"/>
                  <a:pt x="173831" y="261937"/>
                </a:cubicBezTo>
                <a:cubicBezTo>
                  <a:pt x="173831" y="268486"/>
                  <a:pt x="168473" y="273844"/>
                  <a:pt x="161925" y="273844"/>
                </a:cubicBezTo>
                <a:close/>
                <a:moveTo>
                  <a:pt x="219075" y="226219"/>
                </a:moveTo>
                <a:cubicBezTo>
                  <a:pt x="212527" y="226219"/>
                  <a:pt x="207169" y="231577"/>
                  <a:pt x="207169" y="238125"/>
                </a:cubicBezTo>
                <a:lnTo>
                  <a:pt x="207169" y="314325"/>
                </a:lnTo>
                <a:cubicBezTo>
                  <a:pt x="207169" y="320873"/>
                  <a:pt x="212527" y="326231"/>
                  <a:pt x="219075" y="326231"/>
                </a:cubicBezTo>
                <a:lnTo>
                  <a:pt x="238125" y="326231"/>
                </a:lnTo>
                <a:cubicBezTo>
                  <a:pt x="255210" y="326231"/>
                  <a:pt x="269081" y="312360"/>
                  <a:pt x="269081" y="295275"/>
                </a:cubicBezTo>
                <a:lnTo>
                  <a:pt x="269081" y="257175"/>
                </a:lnTo>
                <a:cubicBezTo>
                  <a:pt x="269081" y="240090"/>
                  <a:pt x="255210" y="226219"/>
                  <a:pt x="238125" y="226219"/>
                </a:cubicBezTo>
                <a:lnTo>
                  <a:pt x="219075" y="226219"/>
                </a:lnTo>
                <a:close/>
                <a:moveTo>
                  <a:pt x="230981" y="302419"/>
                </a:moveTo>
                <a:lnTo>
                  <a:pt x="230981" y="250031"/>
                </a:lnTo>
                <a:lnTo>
                  <a:pt x="238125" y="250031"/>
                </a:lnTo>
                <a:cubicBezTo>
                  <a:pt x="242054" y="250031"/>
                  <a:pt x="245269" y="253246"/>
                  <a:pt x="245269" y="257175"/>
                </a:cubicBezTo>
                <a:lnTo>
                  <a:pt x="245269" y="295275"/>
                </a:lnTo>
                <a:cubicBezTo>
                  <a:pt x="245269" y="299204"/>
                  <a:pt x="242054" y="302419"/>
                  <a:pt x="238125" y="302419"/>
                </a:cubicBezTo>
                <a:lnTo>
                  <a:pt x="230981" y="302419"/>
                </a:lnTo>
                <a:close/>
                <a:moveTo>
                  <a:pt x="283369" y="238125"/>
                </a:moveTo>
                <a:lnTo>
                  <a:pt x="283369" y="314325"/>
                </a:lnTo>
                <a:cubicBezTo>
                  <a:pt x="283369" y="320873"/>
                  <a:pt x="288727" y="326231"/>
                  <a:pt x="295275" y="326231"/>
                </a:cubicBezTo>
                <a:cubicBezTo>
                  <a:pt x="301823" y="326231"/>
                  <a:pt x="307181" y="320873"/>
                  <a:pt x="307181" y="314325"/>
                </a:cubicBezTo>
                <a:lnTo>
                  <a:pt x="307181" y="288131"/>
                </a:lnTo>
                <a:lnTo>
                  <a:pt x="323850" y="288131"/>
                </a:lnTo>
                <a:cubicBezTo>
                  <a:pt x="330398" y="288131"/>
                  <a:pt x="335756" y="282773"/>
                  <a:pt x="335756" y="276225"/>
                </a:cubicBezTo>
                <a:cubicBezTo>
                  <a:pt x="335756" y="269677"/>
                  <a:pt x="330398" y="264319"/>
                  <a:pt x="323850" y="264319"/>
                </a:cubicBezTo>
                <a:lnTo>
                  <a:pt x="307181" y="264319"/>
                </a:lnTo>
                <a:lnTo>
                  <a:pt x="307181" y="250031"/>
                </a:lnTo>
                <a:lnTo>
                  <a:pt x="323850" y="250031"/>
                </a:lnTo>
                <a:cubicBezTo>
                  <a:pt x="330398" y="250031"/>
                  <a:pt x="335756" y="244673"/>
                  <a:pt x="335756" y="238125"/>
                </a:cubicBezTo>
                <a:cubicBezTo>
                  <a:pt x="335756" y="231577"/>
                  <a:pt x="330398" y="226219"/>
                  <a:pt x="323850" y="226219"/>
                </a:cubicBezTo>
                <a:lnTo>
                  <a:pt x="295275" y="226219"/>
                </a:lnTo>
                <a:cubicBezTo>
                  <a:pt x="288727" y="226219"/>
                  <a:pt x="283369" y="231577"/>
                  <a:pt x="283369" y="238125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1954828" y="2311400"/>
            <a:ext cx="189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PDF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1228" y="3048000"/>
            <a:ext cx="4508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Формирование печатных форм документов в формате PDF для официального использования.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91228" y="4196080"/>
            <a:ext cx="4406900" cy="10160"/>
          </a:xfrm>
          <a:custGeom>
            <a:avLst/>
            <a:gdLst/>
            <a:ahLst/>
            <a:cxnLst/>
            <a:rect l="l" t="t" r="r" b="b"/>
            <a:pathLst>
              <a:path w="4406900" h="10160">
                <a:moveTo>
                  <a:pt x="0" y="0"/>
                </a:moveTo>
                <a:lnTo>
                  <a:pt x="4406900" y="0"/>
                </a:lnTo>
                <a:lnTo>
                  <a:pt x="44069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EAEAEA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091228" y="4353545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Приоритет: </a:t>
            </a:r>
            <a:r>
              <a:rPr lang="en-US" sz="16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Высокий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000" y="5384800"/>
            <a:ext cx="4914900" cy="3251200"/>
          </a:xfrm>
          <a:custGeom>
            <a:avLst/>
            <a:gdLst/>
            <a:ahLst/>
            <a:cxnLst/>
            <a:rect l="l" t="t" r="r" b="b"/>
            <a:pathLst>
              <a:path w="4914900" h="32512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3149600"/>
                </a:lnTo>
                <a:cubicBezTo>
                  <a:pt x="4914900" y="3205675"/>
                  <a:pt x="4869375" y="3251200"/>
                  <a:pt x="4813300" y="3251200"/>
                </a:cubicBezTo>
                <a:lnTo>
                  <a:pt x="101600" y="3251200"/>
                </a:lnTo>
                <a:cubicBezTo>
                  <a:pt x="45525" y="3251200"/>
                  <a:pt x="0" y="3205675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08000" y="53848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5664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84250" y="5867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33" name="Text 31"/>
          <p:cNvSpPr/>
          <p:nvPr/>
        </p:nvSpPr>
        <p:spPr>
          <a:xfrm>
            <a:off x="1625600" y="58420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578600"/>
            <a:ext cx="4508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Переход на мощную СУБД при увеличении нагрузки и количества пользователей.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7396480"/>
            <a:ext cx="4406900" cy="10160"/>
          </a:xfrm>
          <a:custGeom>
            <a:avLst/>
            <a:gdLst/>
            <a:ahLst/>
            <a:cxnLst/>
            <a:rect l="l" t="t" r="r" b="b"/>
            <a:pathLst>
              <a:path w="4406900" h="10160">
                <a:moveTo>
                  <a:pt x="0" y="0"/>
                </a:moveTo>
                <a:lnTo>
                  <a:pt x="4406900" y="0"/>
                </a:lnTo>
                <a:lnTo>
                  <a:pt x="44069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7553945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Приоритет: </a:t>
            </a:r>
            <a:r>
              <a:rPr lang="en-US" sz="16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Низкий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72614" y="5384800"/>
            <a:ext cx="4914900" cy="3251200"/>
          </a:xfrm>
          <a:custGeom>
            <a:avLst/>
            <a:gdLst/>
            <a:ahLst/>
            <a:cxnLst/>
            <a:rect l="l" t="t" r="r" b="b"/>
            <a:pathLst>
              <a:path w="4914900" h="32512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3149600"/>
                </a:lnTo>
                <a:cubicBezTo>
                  <a:pt x="4914900" y="3205675"/>
                  <a:pt x="4869375" y="3251200"/>
                  <a:pt x="4813300" y="3251200"/>
                </a:cubicBezTo>
                <a:lnTo>
                  <a:pt x="101600" y="3251200"/>
                </a:lnTo>
                <a:cubicBezTo>
                  <a:pt x="45525" y="3251200"/>
                  <a:pt x="0" y="3205675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72614" y="53848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39" name="Shape 37"/>
          <p:cNvSpPr/>
          <p:nvPr/>
        </p:nvSpPr>
        <p:spPr>
          <a:xfrm>
            <a:off x="5926614" y="5664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129814" y="586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1" name="Text 39"/>
          <p:cNvSpPr/>
          <p:nvPr/>
        </p:nvSpPr>
        <p:spPr>
          <a:xfrm>
            <a:off x="6790214" y="5842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Модуль отчётности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26614" y="6578600"/>
            <a:ext cx="4508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Аналитика и визуализация данных: скорость согласования, загрузка отделов, динамика документооборота.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26614" y="7726680"/>
            <a:ext cx="4406900" cy="10160"/>
          </a:xfrm>
          <a:custGeom>
            <a:avLst/>
            <a:gdLst/>
            <a:ahLst/>
            <a:cxnLst/>
            <a:rect l="l" t="t" r="r" b="b"/>
            <a:pathLst>
              <a:path w="4406900" h="10160">
                <a:moveTo>
                  <a:pt x="0" y="0"/>
                </a:moveTo>
                <a:lnTo>
                  <a:pt x="4406900" y="0"/>
                </a:lnTo>
                <a:lnTo>
                  <a:pt x="44069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926614" y="7884145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Приоритет: </a:t>
            </a:r>
            <a:r>
              <a:rPr lang="en-US" sz="16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Средний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837228" y="5384800"/>
            <a:ext cx="4914900" cy="3251200"/>
          </a:xfrm>
          <a:custGeom>
            <a:avLst/>
            <a:gdLst/>
            <a:ahLst/>
            <a:cxnLst/>
            <a:rect l="l" t="t" r="r" b="b"/>
            <a:pathLst>
              <a:path w="4914900" h="32512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3149600"/>
                </a:lnTo>
                <a:cubicBezTo>
                  <a:pt x="4914900" y="3205675"/>
                  <a:pt x="4869375" y="3251200"/>
                  <a:pt x="4813300" y="3251200"/>
                </a:cubicBezTo>
                <a:lnTo>
                  <a:pt x="101600" y="3251200"/>
                </a:lnTo>
                <a:cubicBezTo>
                  <a:pt x="45525" y="3251200"/>
                  <a:pt x="0" y="3205675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837228" y="53848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91228" y="5664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4A4A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94428" y="586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57150"/>
                </a:moveTo>
                <a:cubicBezTo>
                  <a:pt x="304800" y="87035"/>
                  <a:pt x="269617" y="131624"/>
                  <a:pt x="254437" y="149423"/>
                </a:cubicBezTo>
                <a:cubicBezTo>
                  <a:pt x="252174" y="152043"/>
                  <a:pt x="248841" y="153055"/>
                  <a:pt x="245805" y="152400"/>
                </a:cubicBezTo>
                <a:lnTo>
                  <a:pt x="190500" y="152400"/>
                </a:lnTo>
                <a:cubicBezTo>
                  <a:pt x="179963" y="152400"/>
                  <a:pt x="171450" y="160913"/>
                  <a:pt x="171450" y="171450"/>
                </a:cubicBezTo>
                <a:cubicBezTo>
                  <a:pt x="171450" y="181987"/>
                  <a:pt x="179963" y="190500"/>
                  <a:pt x="190500" y="190500"/>
                </a:cubicBezTo>
                <a:lnTo>
                  <a:pt x="247650" y="190500"/>
                </a:lnTo>
                <a:cubicBezTo>
                  <a:pt x="279202" y="190500"/>
                  <a:pt x="304800" y="216098"/>
                  <a:pt x="304800" y="247650"/>
                </a:cubicBezTo>
                <a:cubicBezTo>
                  <a:pt x="304800" y="279202"/>
                  <a:pt x="279202" y="304800"/>
                  <a:pt x="247650" y="304800"/>
                </a:cubicBezTo>
                <a:lnTo>
                  <a:pt x="83106" y="304800"/>
                </a:lnTo>
                <a:cubicBezTo>
                  <a:pt x="88285" y="298906"/>
                  <a:pt x="94595" y="291346"/>
                  <a:pt x="100965" y="282892"/>
                </a:cubicBezTo>
                <a:cubicBezTo>
                  <a:pt x="104715" y="277892"/>
                  <a:pt x="108585" y="272415"/>
                  <a:pt x="112276" y="266700"/>
                </a:cubicBezTo>
                <a:lnTo>
                  <a:pt x="247650" y="266700"/>
                </a:lnTo>
                <a:cubicBezTo>
                  <a:pt x="258187" y="266700"/>
                  <a:pt x="266700" y="258187"/>
                  <a:pt x="266700" y="247650"/>
                </a:cubicBezTo>
                <a:cubicBezTo>
                  <a:pt x="266700" y="237113"/>
                  <a:pt x="258187" y="228600"/>
                  <a:pt x="247650" y="228600"/>
                </a:cubicBezTo>
                <a:lnTo>
                  <a:pt x="190500" y="228600"/>
                </a:lnTo>
                <a:cubicBezTo>
                  <a:pt x="158948" y="228600"/>
                  <a:pt x="133350" y="203002"/>
                  <a:pt x="133350" y="171450"/>
                </a:cubicBezTo>
                <a:cubicBezTo>
                  <a:pt x="133350" y="139898"/>
                  <a:pt x="158948" y="114300"/>
                  <a:pt x="190500" y="114300"/>
                </a:cubicBezTo>
                <a:lnTo>
                  <a:pt x="214193" y="114300"/>
                </a:lnTo>
                <a:cubicBezTo>
                  <a:pt x="201692" y="95548"/>
                  <a:pt x="190500" y="73997"/>
                  <a:pt x="190500" y="57150"/>
                </a:cubicBezTo>
                <a:cubicBezTo>
                  <a:pt x="190500" y="25598"/>
                  <a:pt x="216098" y="0"/>
                  <a:pt x="247650" y="0"/>
                </a:cubicBezTo>
                <a:cubicBezTo>
                  <a:pt x="279202" y="0"/>
                  <a:pt x="304800" y="25598"/>
                  <a:pt x="304800" y="57150"/>
                </a:cubicBezTo>
                <a:close/>
                <a:moveTo>
                  <a:pt x="69711" y="291167"/>
                </a:moveTo>
                <a:cubicBezTo>
                  <a:pt x="67449" y="293727"/>
                  <a:pt x="65425" y="295989"/>
                  <a:pt x="63698" y="297894"/>
                </a:cubicBezTo>
                <a:lnTo>
                  <a:pt x="62627" y="299085"/>
                </a:lnTo>
                <a:lnTo>
                  <a:pt x="62508" y="298966"/>
                </a:lnTo>
                <a:cubicBezTo>
                  <a:pt x="58936" y="301704"/>
                  <a:pt x="53816" y="301347"/>
                  <a:pt x="50602" y="297894"/>
                </a:cubicBezTo>
                <a:cubicBezTo>
                  <a:pt x="35600" y="281583"/>
                  <a:pt x="0" y="239613"/>
                  <a:pt x="0" y="209550"/>
                </a:cubicBezTo>
                <a:cubicBezTo>
                  <a:pt x="0" y="177998"/>
                  <a:pt x="25598" y="152400"/>
                  <a:pt x="57150" y="152400"/>
                </a:cubicBezTo>
                <a:cubicBezTo>
                  <a:pt x="88702" y="152400"/>
                  <a:pt x="114300" y="177998"/>
                  <a:pt x="114300" y="209550"/>
                </a:cubicBezTo>
                <a:cubicBezTo>
                  <a:pt x="114300" y="227409"/>
                  <a:pt x="101739" y="249436"/>
                  <a:pt x="88404" y="267831"/>
                </a:cubicBezTo>
                <a:cubicBezTo>
                  <a:pt x="82034" y="276582"/>
                  <a:pt x="75486" y="284500"/>
                  <a:pt x="70068" y="290751"/>
                </a:cubicBezTo>
                <a:lnTo>
                  <a:pt x="69711" y="291167"/>
                </a:lnTo>
                <a:close/>
                <a:moveTo>
                  <a:pt x="76200" y="209550"/>
                </a:moveTo>
                <a:cubicBezTo>
                  <a:pt x="76200" y="199036"/>
                  <a:pt x="67664" y="190500"/>
                  <a:pt x="57150" y="190500"/>
                </a:cubicBezTo>
                <a:cubicBezTo>
                  <a:pt x="46636" y="190500"/>
                  <a:pt x="38100" y="199036"/>
                  <a:pt x="38100" y="209550"/>
                </a:cubicBezTo>
                <a:cubicBezTo>
                  <a:pt x="38100" y="220064"/>
                  <a:pt x="46636" y="228600"/>
                  <a:pt x="57150" y="228600"/>
                </a:cubicBezTo>
                <a:cubicBezTo>
                  <a:pt x="67664" y="228600"/>
                  <a:pt x="76200" y="220064"/>
                  <a:pt x="76200" y="209550"/>
                </a:cubicBezTo>
                <a:close/>
                <a:moveTo>
                  <a:pt x="247650" y="76200"/>
                </a:moveTo>
                <a:cubicBezTo>
                  <a:pt x="258164" y="76200"/>
                  <a:pt x="266700" y="67664"/>
                  <a:pt x="266700" y="57150"/>
                </a:cubicBezTo>
                <a:cubicBezTo>
                  <a:pt x="266700" y="46636"/>
                  <a:pt x="258164" y="38100"/>
                  <a:pt x="247650" y="38100"/>
                </a:cubicBezTo>
                <a:cubicBezTo>
                  <a:pt x="237136" y="38100"/>
                  <a:pt x="228600" y="46636"/>
                  <a:pt x="228600" y="57150"/>
                </a:cubicBezTo>
                <a:cubicBezTo>
                  <a:pt x="228600" y="67664"/>
                  <a:pt x="237136" y="76200"/>
                  <a:pt x="247650" y="76200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49" name="Text 47"/>
          <p:cNvSpPr/>
          <p:nvPr/>
        </p:nvSpPr>
        <p:spPr>
          <a:xfrm>
            <a:off x="11954828" y="5842000"/>
            <a:ext cx="360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Расширенная маршрутизация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91228" y="6578600"/>
            <a:ext cx="4508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Настройка сложных маршрутов согласования с параллельными approve, условными переходами, делегированием.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91228" y="7726680"/>
            <a:ext cx="4406900" cy="10160"/>
          </a:xfrm>
          <a:custGeom>
            <a:avLst/>
            <a:gdLst/>
            <a:ahLst/>
            <a:cxnLst/>
            <a:rect l="l" t="t" r="r" b="b"/>
            <a:pathLst>
              <a:path w="4406900" h="10160">
                <a:moveTo>
                  <a:pt x="0" y="0"/>
                </a:moveTo>
                <a:lnTo>
                  <a:pt x="4406900" y="0"/>
                </a:lnTo>
                <a:lnTo>
                  <a:pt x="4406900" y="10160"/>
                </a:lnTo>
                <a:lnTo>
                  <a:pt x="0" y="10160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1091228" y="7884145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Приоритет: </a:t>
            </a:r>
            <a:r>
              <a:rPr lang="en-US" sz="1600" b="1" dirty="0">
                <a:solidFill>
                  <a:srgbClr val="EAEA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Средний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34091" y="448616"/>
            <a:ext cx="13187202" cy="1478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9316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Спасибо </a:t>
            </a:r>
            <a:r>
              <a:rPr lang="en-US" sz="9316" b="1" dirty="0" err="1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за</a:t>
            </a:r>
            <a:r>
              <a:rPr lang="en-US" sz="9316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</a:t>
            </a:r>
            <a:r>
              <a:rPr lang="en-US" sz="9316" b="1" dirty="0" err="1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внимание</a:t>
            </a:r>
            <a:r>
              <a:rPr lang="ru-RU" sz="9316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39695" y="2321938"/>
            <a:ext cx="1577534" cy="49298"/>
          </a:xfrm>
          <a:custGeom>
            <a:avLst/>
            <a:gdLst/>
            <a:ahLst/>
            <a:cxnLst/>
            <a:rect l="l" t="t" r="r" b="b"/>
            <a:pathLst>
              <a:path w="1577534" h="49298">
                <a:moveTo>
                  <a:pt x="0" y="0"/>
                </a:moveTo>
                <a:lnTo>
                  <a:pt x="1577534" y="0"/>
                </a:lnTo>
                <a:lnTo>
                  <a:pt x="1577534" y="49298"/>
                </a:lnTo>
                <a:lnTo>
                  <a:pt x="0" y="49298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7" name="Text 4"/>
          <p:cNvSpPr/>
          <p:nvPr/>
        </p:nvSpPr>
        <p:spPr>
          <a:xfrm>
            <a:off x="2514812" y="2989087"/>
            <a:ext cx="11227609" cy="120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911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DocFlow System — эффективный инструмент цифровизации управленческих процессов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612175" y="5333767"/>
            <a:ext cx="3411418" cy="2178970"/>
          </a:xfrm>
          <a:custGeom>
            <a:avLst/>
            <a:gdLst/>
            <a:ahLst/>
            <a:cxnLst/>
            <a:rect l="l" t="t" r="r" b="b"/>
            <a:pathLst>
              <a:path w="3411418" h="2178970">
                <a:moveTo>
                  <a:pt x="98598" y="0"/>
                </a:moveTo>
                <a:lnTo>
                  <a:pt x="3312820" y="0"/>
                </a:lnTo>
                <a:cubicBezTo>
                  <a:pt x="3367274" y="0"/>
                  <a:pt x="3411418" y="44144"/>
                  <a:pt x="3411418" y="98598"/>
                </a:cubicBezTo>
                <a:lnTo>
                  <a:pt x="3411418" y="2080371"/>
                </a:lnTo>
                <a:cubicBezTo>
                  <a:pt x="3411418" y="2134826"/>
                  <a:pt x="3367274" y="2178970"/>
                  <a:pt x="3312820" y="2178970"/>
                </a:cubicBezTo>
                <a:lnTo>
                  <a:pt x="98598" y="2178970"/>
                </a:lnTo>
                <a:cubicBezTo>
                  <a:pt x="44144" y="2178970"/>
                  <a:pt x="0" y="2134826"/>
                  <a:pt x="0" y="2080371"/>
                </a:cubicBezTo>
                <a:lnTo>
                  <a:pt x="0" y="98598"/>
                </a:lnTo>
                <a:cubicBezTo>
                  <a:pt x="0" y="44144"/>
                  <a:pt x="44144" y="0"/>
                  <a:pt x="98598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20402" y="5634470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591575"/>
                </a:moveTo>
                <a:cubicBezTo>
                  <a:pt x="459037" y="591575"/>
                  <a:pt x="591575" y="459037"/>
                  <a:pt x="591575" y="295788"/>
                </a:cubicBezTo>
                <a:cubicBezTo>
                  <a:pt x="591575" y="132538"/>
                  <a:pt x="459037" y="0"/>
                  <a:pt x="295788" y="0"/>
                </a:cubicBezTo>
                <a:cubicBezTo>
                  <a:pt x="132538" y="0"/>
                  <a:pt x="0" y="132538"/>
                  <a:pt x="0" y="295788"/>
                </a:cubicBezTo>
                <a:cubicBezTo>
                  <a:pt x="0" y="459037"/>
                  <a:pt x="132538" y="591575"/>
                  <a:pt x="295788" y="591575"/>
                </a:cubicBezTo>
                <a:close/>
                <a:moveTo>
                  <a:pt x="393305" y="245758"/>
                </a:moveTo>
                <a:lnTo>
                  <a:pt x="300872" y="393652"/>
                </a:lnTo>
                <a:cubicBezTo>
                  <a:pt x="296019" y="401393"/>
                  <a:pt x="287700" y="406246"/>
                  <a:pt x="278572" y="406708"/>
                </a:cubicBezTo>
                <a:cubicBezTo>
                  <a:pt x="269444" y="407170"/>
                  <a:pt x="260663" y="403011"/>
                  <a:pt x="255232" y="395616"/>
                </a:cubicBezTo>
                <a:lnTo>
                  <a:pt x="199772" y="321669"/>
                </a:lnTo>
                <a:cubicBezTo>
                  <a:pt x="190529" y="309422"/>
                  <a:pt x="193071" y="292090"/>
                  <a:pt x="205318" y="282847"/>
                </a:cubicBezTo>
                <a:cubicBezTo>
                  <a:pt x="217566" y="273604"/>
                  <a:pt x="234897" y="276146"/>
                  <a:pt x="244140" y="288393"/>
                </a:cubicBezTo>
                <a:lnTo>
                  <a:pt x="275337" y="329988"/>
                </a:lnTo>
                <a:lnTo>
                  <a:pt x="346280" y="216410"/>
                </a:lnTo>
                <a:cubicBezTo>
                  <a:pt x="354368" y="203470"/>
                  <a:pt x="371468" y="199426"/>
                  <a:pt x="384524" y="207629"/>
                </a:cubicBezTo>
                <a:cubicBezTo>
                  <a:pt x="397580" y="215833"/>
                  <a:pt x="401509" y="232817"/>
                  <a:pt x="393305" y="245874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0" name="Text 7"/>
          <p:cNvSpPr/>
          <p:nvPr/>
        </p:nvSpPr>
        <p:spPr>
          <a:xfrm>
            <a:off x="2838946" y="6423237"/>
            <a:ext cx="2957877" cy="788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29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цели достигнуты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24448" y="5333767"/>
            <a:ext cx="3411418" cy="2178970"/>
          </a:xfrm>
          <a:custGeom>
            <a:avLst/>
            <a:gdLst/>
            <a:ahLst/>
            <a:cxnLst/>
            <a:rect l="l" t="t" r="r" b="b"/>
            <a:pathLst>
              <a:path w="3411418" h="2178970">
                <a:moveTo>
                  <a:pt x="98598" y="0"/>
                </a:moveTo>
                <a:lnTo>
                  <a:pt x="3312820" y="0"/>
                </a:lnTo>
                <a:cubicBezTo>
                  <a:pt x="3367274" y="0"/>
                  <a:pt x="3411418" y="44144"/>
                  <a:pt x="3411418" y="98598"/>
                </a:cubicBezTo>
                <a:lnTo>
                  <a:pt x="3411418" y="2080371"/>
                </a:lnTo>
                <a:cubicBezTo>
                  <a:pt x="3411418" y="2134826"/>
                  <a:pt x="3367274" y="2178970"/>
                  <a:pt x="3312820" y="2178970"/>
                </a:cubicBezTo>
                <a:lnTo>
                  <a:pt x="98598" y="2178970"/>
                </a:lnTo>
                <a:cubicBezTo>
                  <a:pt x="44144" y="2178970"/>
                  <a:pt x="0" y="2134826"/>
                  <a:pt x="0" y="2080371"/>
                </a:cubicBezTo>
                <a:lnTo>
                  <a:pt x="0" y="98598"/>
                </a:lnTo>
                <a:cubicBezTo>
                  <a:pt x="0" y="44144"/>
                  <a:pt x="44144" y="0"/>
                  <a:pt x="98598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32675" y="5634470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147894" y="369735"/>
                </a:moveTo>
                <a:lnTo>
                  <a:pt x="28308" y="369735"/>
                </a:lnTo>
                <a:cubicBezTo>
                  <a:pt x="-462" y="369735"/>
                  <a:pt x="-18140" y="338423"/>
                  <a:pt x="-3351" y="313697"/>
                </a:cubicBezTo>
                <a:lnTo>
                  <a:pt x="57771" y="211789"/>
                </a:lnTo>
                <a:cubicBezTo>
                  <a:pt x="67823" y="195035"/>
                  <a:pt x="85848" y="184867"/>
                  <a:pt x="105374" y="184867"/>
                </a:cubicBezTo>
                <a:lnTo>
                  <a:pt x="215139" y="184867"/>
                </a:lnTo>
                <a:cubicBezTo>
                  <a:pt x="303067" y="35934"/>
                  <a:pt x="434207" y="28423"/>
                  <a:pt x="521904" y="41249"/>
                </a:cubicBezTo>
                <a:cubicBezTo>
                  <a:pt x="536693" y="43444"/>
                  <a:pt x="548247" y="54998"/>
                  <a:pt x="550327" y="69672"/>
                </a:cubicBezTo>
                <a:cubicBezTo>
                  <a:pt x="563152" y="157368"/>
                  <a:pt x="555642" y="288509"/>
                  <a:pt x="406708" y="376436"/>
                </a:cubicBezTo>
                <a:lnTo>
                  <a:pt x="406708" y="486201"/>
                </a:lnTo>
                <a:cubicBezTo>
                  <a:pt x="406708" y="505728"/>
                  <a:pt x="396540" y="523752"/>
                  <a:pt x="379787" y="533804"/>
                </a:cubicBezTo>
                <a:lnTo>
                  <a:pt x="277879" y="594926"/>
                </a:lnTo>
                <a:cubicBezTo>
                  <a:pt x="253268" y="609716"/>
                  <a:pt x="221841" y="591922"/>
                  <a:pt x="221841" y="563268"/>
                </a:cubicBezTo>
                <a:lnTo>
                  <a:pt x="221841" y="443682"/>
                </a:lnTo>
                <a:cubicBezTo>
                  <a:pt x="221841" y="402895"/>
                  <a:pt x="188680" y="369735"/>
                  <a:pt x="147894" y="369735"/>
                </a:cubicBezTo>
                <a:lnTo>
                  <a:pt x="147778" y="369735"/>
                </a:lnTo>
                <a:close/>
                <a:moveTo>
                  <a:pt x="462168" y="184867"/>
                </a:moveTo>
                <a:cubicBezTo>
                  <a:pt x="462168" y="154258"/>
                  <a:pt x="437317" y="129407"/>
                  <a:pt x="406708" y="129407"/>
                </a:cubicBezTo>
                <a:cubicBezTo>
                  <a:pt x="376099" y="129407"/>
                  <a:pt x="351248" y="154258"/>
                  <a:pt x="351248" y="184867"/>
                </a:cubicBezTo>
                <a:cubicBezTo>
                  <a:pt x="351248" y="215477"/>
                  <a:pt x="376099" y="240328"/>
                  <a:pt x="406708" y="240328"/>
                </a:cubicBezTo>
                <a:cubicBezTo>
                  <a:pt x="437317" y="240328"/>
                  <a:pt x="462168" y="215477"/>
                  <a:pt x="462168" y="184867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6651218" y="6423237"/>
            <a:ext cx="2957877" cy="788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29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Готово к внедрению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236874" y="5333767"/>
            <a:ext cx="3411418" cy="2178970"/>
          </a:xfrm>
          <a:custGeom>
            <a:avLst/>
            <a:gdLst/>
            <a:ahLst/>
            <a:cxnLst/>
            <a:rect l="l" t="t" r="r" b="b"/>
            <a:pathLst>
              <a:path w="3411418" h="2178970">
                <a:moveTo>
                  <a:pt x="98598" y="0"/>
                </a:moveTo>
                <a:lnTo>
                  <a:pt x="3312820" y="0"/>
                </a:lnTo>
                <a:cubicBezTo>
                  <a:pt x="3367274" y="0"/>
                  <a:pt x="3411418" y="44144"/>
                  <a:pt x="3411418" y="98598"/>
                </a:cubicBezTo>
                <a:lnTo>
                  <a:pt x="3411418" y="2080371"/>
                </a:lnTo>
                <a:cubicBezTo>
                  <a:pt x="3411418" y="2134826"/>
                  <a:pt x="3367274" y="2178970"/>
                  <a:pt x="3312820" y="2178970"/>
                </a:cubicBezTo>
                <a:lnTo>
                  <a:pt x="98598" y="2178970"/>
                </a:lnTo>
                <a:cubicBezTo>
                  <a:pt x="44144" y="2178970"/>
                  <a:pt x="0" y="2134826"/>
                  <a:pt x="0" y="2080371"/>
                </a:cubicBezTo>
                <a:lnTo>
                  <a:pt x="0" y="98598"/>
                </a:lnTo>
                <a:cubicBezTo>
                  <a:pt x="0" y="44144"/>
                  <a:pt x="44144" y="0"/>
                  <a:pt x="98598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 w="10160">
            <a:solidFill>
              <a:srgbClr val="EAEAEA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82074" y="5634470"/>
            <a:ext cx="517629" cy="591575"/>
          </a:xfrm>
          <a:custGeom>
            <a:avLst/>
            <a:gdLst/>
            <a:ahLst/>
            <a:cxnLst/>
            <a:rect l="l" t="t" r="r" b="b"/>
            <a:pathLst>
              <a:path w="517629" h="591575">
                <a:moveTo>
                  <a:pt x="194111" y="36973"/>
                </a:moveTo>
                <a:lnTo>
                  <a:pt x="27730" y="36973"/>
                </a:lnTo>
                <a:cubicBezTo>
                  <a:pt x="12363" y="36973"/>
                  <a:pt x="0" y="49336"/>
                  <a:pt x="0" y="64704"/>
                </a:cubicBezTo>
                <a:lnTo>
                  <a:pt x="0" y="231084"/>
                </a:lnTo>
                <a:cubicBezTo>
                  <a:pt x="0" y="242292"/>
                  <a:pt x="6701" y="252459"/>
                  <a:pt x="17100" y="256734"/>
                </a:cubicBezTo>
                <a:cubicBezTo>
                  <a:pt x="27499" y="261010"/>
                  <a:pt x="39400" y="258583"/>
                  <a:pt x="47372" y="250726"/>
                </a:cubicBezTo>
                <a:lnTo>
                  <a:pt x="93589" y="204509"/>
                </a:lnTo>
                <a:lnTo>
                  <a:pt x="184867" y="295788"/>
                </a:lnTo>
                <a:lnTo>
                  <a:pt x="93589" y="387066"/>
                </a:lnTo>
                <a:lnTo>
                  <a:pt x="47372" y="340849"/>
                </a:lnTo>
                <a:cubicBezTo>
                  <a:pt x="39400" y="332877"/>
                  <a:pt x="27499" y="330566"/>
                  <a:pt x="17100" y="334841"/>
                </a:cubicBezTo>
                <a:cubicBezTo>
                  <a:pt x="6701" y="339116"/>
                  <a:pt x="0" y="349284"/>
                  <a:pt x="0" y="360491"/>
                </a:cubicBezTo>
                <a:lnTo>
                  <a:pt x="0" y="526872"/>
                </a:lnTo>
                <a:cubicBezTo>
                  <a:pt x="0" y="542239"/>
                  <a:pt x="12363" y="554602"/>
                  <a:pt x="27730" y="554602"/>
                </a:cubicBezTo>
                <a:lnTo>
                  <a:pt x="194111" y="554602"/>
                </a:lnTo>
                <a:cubicBezTo>
                  <a:pt x="205318" y="554602"/>
                  <a:pt x="215486" y="547901"/>
                  <a:pt x="219761" y="537502"/>
                </a:cubicBezTo>
                <a:cubicBezTo>
                  <a:pt x="224036" y="527103"/>
                  <a:pt x="221725" y="515202"/>
                  <a:pt x="213753" y="507230"/>
                </a:cubicBezTo>
                <a:lnTo>
                  <a:pt x="167536" y="461013"/>
                </a:lnTo>
                <a:lnTo>
                  <a:pt x="258814" y="369735"/>
                </a:lnTo>
                <a:lnTo>
                  <a:pt x="350092" y="461013"/>
                </a:lnTo>
                <a:lnTo>
                  <a:pt x="303876" y="507230"/>
                </a:lnTo>
                <a:cubicBezTo>
                  <a:pt x="295903" y="515202"/>
                  <a:pt x="293592" y="527103"/>
                  <a:pt x="297867" y="537502"/>
                </a:cubicBezTo>
                <a:cubicBezTo>
                  <a:pt x="302143" y="547901"/>
                  <a:pt x="312310" y="554602"/>
                  <a:pt x="323518" y="554602"/>
                </a:cubicBezTo>
                <a:lnTo>
                  <a:pt x="489898" y="554602"/>
                </a:lnTo>
                <a:cubicBezTo>
                  <a:pt x="505266" y="554602"/>
                  <a:pt x="517629" y="542239"/>
                  <a:pt x="517629" y="526872"/>
                </a:cubicBezTo>
                <a:lnTo>
                  <a:pt x="517629" y="360491"/>
                </a:lnTo>
                <a:cubicBezTo>
                  <a:pt x="517629" y="349284"/>
                  <a:pt x="510927" y="339116"/>
                  <a:pt x="500528" y="334841"/>
                </a:cubicBezTo>
                <a:cubicBezTo>
                  <a:pt x="490129" y="330566"/>
                  <a:pt x="478229" y="332877"/>
                  <a:pt x="470256" y="340849"/>
                </a:cubicBezTo>
                <a:lnTo>
                  <a:pt x="424039" y="387066"/>
                </a:lnTo>
                <a:lnTo>
                  <a:pt x="332761" y="295788"/>
                </a:lnTo>
                <a:lnTo>
                  <a:pt x="424039" y="204509"/>
                </a:lnTo>
                <a:lnTo>
                  <a:pt x="470256" y="250726"/>
                </a:lnTo>
                <a:cubicBezTo>
                  <a:pt x="478229" y="258699"/>
                  <a:pt x="490129" y="261010"/>
                  <a:pt x="500528" y="256734"/>
                </a:cubicBezTo>
                <a:cubicBezTo>
                  <a:pt x="510927" y="252459"/>
                  <a:pt x="517629" y="242292"/>
                  <a:pt x="517629" y="231084"/>
                </a:cubicBezTo>
                <a:lnTo>
                  <a:pt x="517629" y="64704"/>
                </a:lnTo>
                <a:cubicBezTo>
                  <a:pt x="517629" y="49336"/>
                  <a:pt x="505266" y="36973"/>
                  <a:pt x="489898" y="36973"/>
                </a:cubicBezTo>
                <a:lnTo>
                  <a:pt x="323518" y="36973"/>
                </a:lnTo>
                <a:cubicBezTo>
                  <a:pt x="312310" y="36973"/>
                  <a:pt x="302143" y="43675"/>
                  <a:pt x="297867" y="54074"/>
                </a:cubicBezTo>
                <a:cubicBezTo>
                  <a:pt x="293592" y="64472"/>
                  <a:pt x="296019" y="76373"/>
                  <a:pt x="303876" y="84346"/>
                </a:cubicBezTo>
                <a:lnTo>
                  <a:pt x="350092" y="130563"/>
                </a:lnTo>
                <a:lnTo>
                  <a:pt x="258814" y="221841"/>
                </a:lnTo>
                <a:lnTo>
                  <a:pt x="167536" y="130563"/>
                </a:lnTo>
                <a:lnTo>
                  <a:pt x="213753" y="84346"/>
                </a:lnTo>
                <a:cubicBezTo>
                  <a:pt x="221725" y="76373"/>
                  <a:pt x="224036" y="64472"/>
                  <a:pt x="219761" y="54074"/>
                </a:cubicBezTo>
                <a:cubicBezTo>
                  <a:pt x="215486" y="43675"/>
                  <a:pt x="205318" y="36973"/>
                  <a:pt x="194111" y="36973"/>
                </a:cubicBezTo>
                <a:close/>
              </a:path>
            </a:pathLst>
          </a:custGeom>
          <a:solidFill>
            <a:srgbClr val="EAEAEA"/>
          </a:solidFill>
          <a:ln/>
        </p:spPr>
      </p:sp>
      <p:sp>
        <p:nvSpPr>
          <p:cNvPr id="16" name="Text 13"/>
          <p:cNvSpPr/>
          <p:nvPr/>
        </p:nvSpPr>
        <p:spPr>
          <a:xfrm>
            <a:off x="10463645" y="6423237"/>
            <a:ext cx="2957877" cy="394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29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Потенциал роста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2196</Words>
  <Application>Microsoft Office PowerPoint</Application>
  <PresentationFormat>Произвольный</PresentationFormat>
  <Paragraphs>630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Quattrocento Sans</vt:lpstr>
      <vt:lpstr>Arial</vt:lpstr>
      <vt:lpstr>微软雅黑</vt:lpstr>
      <vt:lpstr>Liter</vt:lpstr>
      <vt:lpstr>Hedvig Letters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DocFlow System - Презентация курсовой работы</dc:title>
  <dc:subject>DocFlow System - Презентация курсовой работы</dc:subject>
  <dc:creator>Kimi</dc:creator>
  <cp:lastModifiedBy>Skromnyajka 😜</cp:lastModifiedBy>
  <cp:revision>25</cp:revision>
  <dcterms:created xsi:type="dcterms:W3CDTF">2025-12-25T09:39:16Z</dcterms:created>
  <dcterms:modified xsi:type="dcterms:W3CDTF">2025-12-25T10:22:41Z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{"Label":"DocFlow System - Презентация курсовой работы","ContentProducer":"001191110108MACG2KBH8F10000","ProduceID":"19b507a7-dc62-87ad-8000-000032f6712d","ReservedCode1":"","ContentPropagator":"001191110108MACG2KBH8F20000","PropagateID":"19b507a7-dc62-87ad-8000-000032f6712d","ReservedCode2":""}</vt:lpwstr>
  </property>
</Properties>
</file>